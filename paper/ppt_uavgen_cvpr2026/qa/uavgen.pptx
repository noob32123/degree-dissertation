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133c06fc18472d" /><Relationship Type="http://schemas.openxmlformats.org/officeDocument/2006/relationships/extended-properties" Target="/docProps/app.xml" Id="R4464c5255fc34346" /><Relationship Type="http://schemas.openxmlformats.org/officeDocument/2006/relationships/officeDocument" Target="/ppt/presentation.xml" Id="Ra64477a1d1fc44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6e03f2cad48e3"/>
  </p:sldMasterIdLst>
  <p:notesMasterIdLst>
    <p:notesMasterId xmlns:r="http://schemas.openxmlformats.org/officeDocument/2006/relationships" r:id="Rc91d9e9f933b44fd"/>
  </p:notesMasterIdLst>
  <p:sldIdLst>
    <p:sldId xmlns:r="http://schemas.openxmlformats.org/officeDocument/2006/relationships" id="256" r:id="Ra791d0772efd41f0"/>
    <p:sldId xmlns:r="http://schemas.openxmlformats.org/officeDocument/2006/relationships" id="257" r:id="R46a4f46d1ea84500"/>
    <p:sldId xmlns:r="http://schemas.openxmlformats.org/officeDocument/2006/relationships" id="258" r:id="R6ebc36db5ffa4d1c"/>
    <p:sldId xmlns:r="http://schemas.openxmlformats.org/officeDocument/2006/relationships" id="259" r:id="Rbc692dd4730a4fa2"/>
    <p:sldId xmlns:r="http://schemas.openxmlformats.org/officeDocument/2006/relationships" id="260" r:id="Ra34c803377b146f1"/>
    <p:sldId xmlns:r="http://schemas.openxmlformats.org/officeDocument/2006/relationships" id="261" r:id="R334a2799a1014802"/>
    <p:sldId xmlns:r="http://schemas.openxmlformats.org/officeDocument/2006/relationships" id="262" r:id="Rb327164d00524d5f"/>
    <p:sldId xmlns:r="http://schemas.openxmlformats.org/officeDocument/2006/relationships" id="263" r:id="Rb41da63da29b430b"/>
    <p:sldId xmlns:r="http://schemas.openxmlformats.org/officeDocument/2006/relationships" id="264" r:id="R8903506535ea4b77"/>
    <p:sldId xmlns:r="http://schemas.openxmlformats.org/officeDocument/2006/relationships" id="265" r:id="R283ffd644c554969"/>
    <p:sldId xmlns:r="http://schemas.openxmlformats.org/officeDocument/2006/relationships" id="266" r:id="R55f5fc5c96ea4d2f"/>
    <p:sldId xmlns:r="http://schemas.openxmlformats.org/officeDocument/2006/relationships" id="267" r:id="R11dd3b24b1f8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26dd10c2334121" /><Relationship Type="http://schemas.openxmlformats.org/officeDocument/2006/relationships/slideMaster" Target="/ppt/slideMasters/slideMaster1.xml" Id="R7576e03f2cad48e3" /><Relationship Type="http://schemas.openxmlformats.org/officeDocument/2006/relationships/notesMaster" Target="/ppt/notesMasters/notesMaster1.xml" Id="Rc91d9e9f933b44fd" /><Relationship Type="http://schemas.openxmlformats.org/officeDocument/2006/relationships/presProps" Target="/ppt/presProps.xml" Id="Rc145c5350d1841bc" /><Relationship Type="http://schemas.openxmlformats.org/officeDocument/2006/relationships/viewProps" Target="/ppt/viewProps.xml" Id="Ree0ed88cd3e14660" /><Relationship Type="http://schemas.openxmlformats.org/officeDocument/2006/relationships/tableStyles" Target="/ppt/tableStyles.xml" Id="R987e57850552498d" /><Relationship Type="http://schemas.openxmlformats.org/officeDocument/2006/relationships/slide" Target="/ppt/slides/slide1.xml" Id="Ra791d0772efd41f0" /><Relationship Type="http://schemas.openxmlformats.org/officeDocument/2006/relationships/slide" Target="/ppt/slides/slide2.xml" Id="R46a4f46d1ea84500" /><Relationship Type="http://schemas.openxmlformats.org/officeDocument/2006/relationships/slide" Target="/ppt/slides/slide3.xml" Id="R6ebc36db5ffa4d1c" /><Relationship Type="http://schemas.openxmlformats.org/officeDocument/2006/relationships/slide" Target="/ppt/slides/slide4.xml" Id="Rbc692dd4730a4fa2" /><Relationship Type="http://schemas.openxmlformats.org/officeDocument/2006/relationships/slide" Target="/ppt/slides/slide5.xml" Id="Ra34c803377b146f1" /><Relationship Type="http://schemas.openxmlformats.org/officeDocument/2006/relationships/slide" Target="/ppt/slides/slide6.xml" Id="R334a2799a1014802" /><Relationship Type="http://schemas.openxmlformats.org/officeDocument/2006/relationships/slide" Target="/ppt/slides/slide7.xml" Id="Rb327164d00524d5f" /><Relationship Type="http://schemas.openxmlformats.org/officeDocument/2006/relationships/slide" Target="/ppt/slides/slide8.xml" Id="Rb41da63da29b430b" /><Relationship Type="http://schemas.openxmlformats.org/officeDocument/2006/relationships/slide" Target="/ppt/slides/slide9.xml" Id="R8903506535ea4b77" /><Relationship Type="http://schemas.openxmlformats.org/officeDocument/2006/relationships/slide" Target="/ppt/slides/slide10.xml" Id="R283ffd644c554969" /><Relationship Type="http://schemas.openxmlformats.org/officeDocument/2006/relationships/slide" Target="/ppt/slides/slide11.xml" Id="R55f5fc5c96ea4d2f" /><Relationship Type="http://schemas.openxmlformats.org/officeDocument/2006/relationships/slide" Target="/ppt/slides/slide12.xml" Id="R11dd3b24b1f8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1763630112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9d928572b4450" /><Relationship Type="http://schemas.openxmlformats.org/officeDocument/2006/relationships/notesMaster" Target="/ppt/notesMasters/notesMaster1.xml" Id="R1bc3c55e4cca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5790d69734bab" /><Relationship Type="http://schemas.openxmlformats.org/officeDocument/2006/relationships/notesMaster" Target="/ppt/notesMasters/notesMaster1.xml" Id="R1e34be29f834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1c4b438954e9b" /><Relationship Type="http://schemas.openxmlformats.org/officeDocument/2006/relationships/notesMaster" Target="/ppt/notesMasters/notesMaster1.xml" Id="R6263172bbf72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94bbbf4d443ec" /><Relationship Type="http://schemas.openxmlformats.org/officeDocument/2006/relationships/notesMaster" Target="/ppt/notesMasters/notesMaster1.xml" Id="R007e747a2c38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056a8a00b4a3d" /><Relationship Type="http://schemas.openxmlformats.org/officeDocument/2006/relationships/notesMaster" Target="/ppt/notesMasters/notesMaster1.xml" Id="R8c3c4e2a377148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1cbb186e24520" /><Relationship Type="http://schemas.openxmlformats.org/officeDocument/2006/relationships/notesMaster" Target="/ppt/notesMasters/notesMaster1.xml" Id="R514ae89048384e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ac6ac4217b4f4a" /><Relationship Type="http://schemas.openxmlformats.org/officeDocument/2006/relationships/notesMaster" Target="/ppt/notesMasters/notesMaster1.xml" Id="Reab5dc77403b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577602b4640d0" /><Relationship Type="http://schemas.openxmlformats.org/officeDocument/2006/relationships/notesMaster" Target="/ppt/notesMasters/notesMaster1.xml" Id="R08a2089b25a240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71751f5d7b453e" /><Relationship Type="http://schemas.openxmlformats.org/officeDocument/2006/relationships/notesMaster" Target="/ppt/notesMasters/notesMaster1.xml" Id="R079e07dd3bc745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af05d71601445c" /><Relationship Type="http://schemas.openxmlformats.org/officeDocument/2006/relationships/notesMaster" Target="/ppt/notesMasters/notesMaster1.xml" Id="Rac00f6c9f11145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f5ddbc59e4286" /><Relationship Type="http://schemas.openxmlformats.org/officeDocument/2006/relationships/notesMaster" Target="/ppt/notesMasters/notesMaster1.xml" Id="R8d0e266c1a3e49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334a18385c413e" /><Relationship Type="http://schemas.openxmlformats.org/officeDocument/2006/relationships/notesMaster" Target="/ppt/notesMasters/notesMaster1.xml" Id="R85efc3ff763241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论文：Visual Prototype Conditioned Focal Region Generation for UAV-Based Object Detection，CVPR 2026，3772–3782。汇报结构严格沿用原始12页组会模板。原文：https://openaccess.thecvf.com/content/CVPR2026/papers/Li_Visual_Prototype_Conditioned_Focal_Region_Generation_for_UAV-Based_Object_Detection_CVPR_2026_paper.pdf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第一部分讲无人机目标检测的标注数据不足及通用生成方法的问题；第二部分讲 VPC-DM 和 FRE-DP；第三部分讲 VisDrone、UAVDT 的结果与消融。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左图取自论文图4的两个基线方法，黄虚线表示与布局不一致或模糊的区域；右图是论文图1(a)所示常规布局到图像生成。不要将个例视作总体统计结果。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两图来自原论文图1。左为常规数据生成，右为 UAVGen。VPC-DM 提升生成条件质量，FRE-DP 侧重目标密集区域并执行标签修正。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论文图2。上半部分是 FRE-DP，下半部分是 VPC-DM。讲述顺序建议先 VPC-DM 条件构建，再讲 FRE-DP 区域生成及标签修正。图中的 trainable/frozen 由原论文给出。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VPC-DM：预训练检测器获取可靠候选；同类原型经聚合形成增强布局；全局文本、对象文本和位置编码共同注入生成网络。训练时对目标区域赋予更高损失权重。原论文图2与第3.2节。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VisDrone：6471 train/548 val/1580 test；UAVDT：24143 train/16592 test。扩散模型以 FLUX 为基础，512×512 分辨率训练与生成。图片来自论文图4第一行，依次是真实、AeroGen、UAVGen；它们只是定性样例。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此页保留模板原有通栏图片版式，仅替换成论文图4的完整对照主体。图4仅用于展示生成质量，不作为 FID 或 AP 的统计替代。左右列依次是布局、真值、GeoDiffusion、AeroGen、UAVGen。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原论文表1。FID 对比中的 AeroGen 与 UAVGen 分别为：VisDrone 48.04、34.34；UAVDT 31.99、29.73。检测 mAP 与真实数据基线对比：VisDrone 24.5 到25.9，UAVDT 14.5 到16.6。FID 仅使用 VPC-DM 评估，检测训练使用完整 UAVGen 管线，注意二者设置不同。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原论文表3、表4和图5。表3：真实数据24.5；仅生成23.8；视觉原型+布局编码25.2；完整管线25.9。表4：焦点区域分辨率1024/512/256对应mAP 25.3/25.6/25.9。右图为不同合成图像数量表现。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原论文表2：RemDet-X 在 VisDrone 上，真实数据29.8，UAVGen 30.2；对照方法 mAP 不高于29.4。图5：100张UAVGen合成图像对应mAP25.0，AeroGen 6474张对应24.9。论文结论提到真实无人机场景的视角和高度变化仍是未来研究方向，因此不能宣称已验证全面泛化。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感谢聆听。原文与代码地址见第一页讲稿备注；图表均来自原论文。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d7cf764a140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377aeb28d489f" /><Relationship Type="http://schemas.openxmlformats.org/officeDocument/2006/relationships/image" Target="/ppt/media/image.png" Id="R054c13d8cc9d4f5f" /><Relationship Type="http://schemas.openxmlformats.org/officeDocument/2006/relationships/image" Target="/ppt/media/image2.png" Id="Rb94ff8205cb54000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c13d8cc9d4f5f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ff8205cb54000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3451714de41f8" /><Relationship Type="http://schemas.openxmlformats.org/officeDocument/2006/relationships/slideLayout" Target="/ppt/slideLayouts/slideLayout1.xml" Id="Rf0ba03357e0b4483" /><Relationship Type="http://schemas.openxmlformats.org/officeDocument/2006/relationships/slideLayout" Target="/ppt/slideLayouts/slideLayout2.xml" Id="R30d7bce7db7f448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a03357e0b4483"/>
    <p:sldLayoutId xmlns:r="http://schemas.openxmlformats.org/officeDocument/2006/relationships" id="2147483650" r:id="R30d7bce7db7f448a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45569809b4adf" /><Relationship Type="http://schemas.openxmlformats.org/officeDocument/2006/relationships/image" Target="/ppt/media/image3.png" Id="R5dc7af7dd4404c6c" /><Relationship Type="http://schemas.openxmlformats.org/officeDocument/2006/relationships/image" Target="/ppt/media/image.png" Id="R3b40498567b14650" /><Relationship Type="http://schemas.openxmlformats.org/officeDocument/2006/relationships/image" Target="/ppt/media/image4.png" Id="R909517fe78e549eb" /><Relationship Type="http://schemas.openxmlformats.org/officeDocument/2006/relationships/notesSlide" Target="/ppt/notesSlides/notesSlide1.xml" Id="R5248d51f66b4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b7a93224a24696" /><Relationship Type="http://schemas.openxmlformats.org/officeDocument/2006/relationships/notesSlide" Target="/ppt/notesSlides/notesSlide2.xml" Id="R7cf1d8d722ce49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6aa3ea36504c2b" /><Relationship Type="http://schemas.openxmlformats.org/officeDocument/2006/relationships/image" Target="/ppt/media/image5.png" Id="Rd4af5917dab24b5b" /><Relationship Type="http://schemas.openxmlformats.org/officeDocument/2006/relationships/image" Target="/ppt/media/image6.png" Id="R15827a022cdd4067" /><Relationship Type="http://schemas.openxmlformats.org/officeDocument/2006/relationships/notesSlide" Target="/ppt/notesSlides/notesSlide3.xml" Id="R448f1f7bd7d2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a220e01b04450" /><Relationship Type="http://schemas.openxmlformats.org/officeDocument/2006/relationships/image" Target="/ppt/media/image7.png" Id="R54bacce1b0584b3a" /><Relationship Type="http://schemas.openxmlformats.org/officeDocument/2006/relationships/image" Target="/ppt/media/image8.png" Id="R79d60a5873354281" /><Relationship Type="http://schemas.openxmlformats.org/officeDocument/2006/relationships/notesSlide" Target="/ppt/notesSlides/notesSlide4.xml" Id="R0f1e60f17f6b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fb4bc1d614b6b" /><Relationship Type="http://schemas.openxmlformats.org/officeDocument/2006/relationships/image" Target="/ppt/media/image9.png" Id="R520a67dcb1a041c0" /><Relationship Type="http://schemas.openxmlformats.org/officeDocument/2006/relationships/notesSlide" Target="/ppt/notesSlides/notesSlide5.xml" Id="Refdb39169e57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3db639c0e4a49" /><Relationship Type="http://schemas.openxmlformats.org/officeDocument/2006/relationships/image" Target="/ppt/media/image10.png" Id="Rde2d26a8e4a348a2" /><Relationship Type="http://schemas.openxmlformats.org/officeDocument/2006/relationships/notesSlide" Target="/ppt/notesSlides/notesSlide6.xml" Id="R6c107ec59b56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044315a3f42bf" /><Relationship Type="http://schemas.openxmlformats.org/officeDocument/2006/relationships/image" Target="/ppt/media/image11.png" Id="R7e623fa736e44919" /><Relationship Type="http://schemas.openxmlformats.org/officeDocument/2006/relationships/image" Target="/ppt/media/image12.png" Id="R50d4ff17abcb4fbe" /><Relationship Type="http://schemas.openxmlformats.org/officeDocument/2006/relationships/image" Target="/ppt/media/image13.png" Id="Radd3d683437a4a4f" /><Relationship Type="http://schemas.openxmlformats.org/officeDocument/2006/relationships/notesSlide" Target="/ppt/notesSlides/notesSlide7.xml" Id="R624f3d4baebe4f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f039b4c5884fcc" /><Relationship Type="http://schemas.openxmlformats.org/officeDocument/2006/relationships/image" Target="/ppt/media/image14.png" Id="Rd6dcf7d2793b4bf4" /><Relationship Type="http://schemas.openxmlformats.org/officeDocument/2006/relationships/notesSlide" Target="/ppt/notesSlides/notesSlide8.xml" Id="R1328dd26e7ac4b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acedbf02394c68" /><Relationship Type="http://schemas.openxmlformats.org/officeDocument/2006/relationships/image" Target="/ppt/media/image15.png" Id="R62eb370d1575489b" /><Relationship Type="http://schemas.openxmlformats.org/officeDocument/2006/relationships/notesSlide" Target="/ppt/notesSlides/notesSlide9.xml" Id="Reedbd6ad3254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d8de4909d494a" /><Relationship Type="http://schemas.openxmlformats.org/officeDocument/2006/relationships/image" Target="/ppt/media/image16.png" Id="Rf9021b5c800642c2" /><Relationship Type="http://schemas.openxmlformats.org/officeDocument/2006/relationships/notesSlide" Target="/ppt/notesSlides/notesSlide10.xml" Id="Rfc235a71ad0448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67dc485b94bdc" /><Relationship Type="http://schemas.openxmlformats.org/officeDocument/2006/relationships/image" Target="/ppt/media/image17.png" Id="R236665dccbec46d3" /><Relationship Type="http://schemas.openxmlformats.org/officeDocument/2006/relationships/notesSlide" Target="/ppt/notesSlides/notesSlide11.xml" Id="R97c3764711f549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e83cb4974196" /><Relationship Type="http://schemas.openxmlformats.org/officeDocument/2006/relationships/image" Target="/ppt/media/image3.png" Id="R421a0f7cd89e45bf" /><Relationship Type="http://schemas.openxmlformats.org/officeDocument/2006/relationships/notesSlide" Target="/ppt/notesSlides/notesSlide12.xml" Id="R7ca3291c89304f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00AB80B-E20B-2618-7429-820B158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4376893"/>
            <a:ext cx="915012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latin typeface="+mj-ea"/>
                <a:ea typeface="+mj-ea"/>
                <a:cs typeface="+mj-ea"/>
              </a:rPr>
              <a:t>CVPR 2026 论文汇报：UAVGen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669D39-E82B-0B66-E943-B60AE44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7af7dd4404c6c">
            <a:alphaModFix amt="20000"/>
          </a:blip>
          <a:srcRect xmlns:a="http://schemas.openxmlformats.org/drawingml/2006/main" l="712" t="0" r="763" b="0"/>
          <a:stretch xmlns:a="http://schemas.openxmlformats.org/drawingml/2006/main"/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5082DE-1CDD-EEA4-4CA4-2D1FE07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7" y="2548929"/>
            <a:ext cx="9422837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视觉原型条件化的无人机目标检测数据生成</a:t>
            </a:r>
            <a:endParaRPr b="1" spc="20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DE8D11-5457-CDB3-0F1B-539A3D8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5360655"/>
            <a:ext cx="915012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原文作者：Wenhao Li、Zimeng Wu、Yu Wu、Zehua Fu、Jiaxin Chen</a:t>
            </a:r>
            <a:endParaRPr sz="2000" b="1">
              <a:solidFill>
                <a:srgbClr val="444444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北京航空航天大学</a:t>
            </a:r>
          </a:p>
        </p:txBody>
      </p:sp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0498567b1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1" y="645677"/>
            <a:ext cx="3509025" cy="863724"/>
          </a:xfrm>
          <a:prstGeom xmlns:a="http://schemas.openxmlformats.org/drawingml/2006/main" prst="rect">
            <a:avLst/>
          </a:prstGeom>
        </p:spPr>
      </p:pic>
      <p:pic>
        <p:nvPicPr>
          <p:cNvPr id="3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517fe78e5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7621" y="755320"/>
            <a:ext cx="935583" cy="815356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93C41F-F141-3541-EC37-CCA0743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77" y="986742"/>
            <a:ext cx="363812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Visual Prototype Conditioned Focal Region Generation</a:t>
            </a:r>
          </a:p>
        </p:txBody>
      </p:sp>
    </p:spTree>
    <p:extLst>
      <p:ext uri="{BB962C8B-B14F-4D97-AF65-F5344CB8AC3E}">
        <p14:creationId xmlns:p14="http://schemas.microsoft.com/office/powerpoint/2010/main" val="414292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58AE4-E742-12B0-9B0B-4E1CBF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175207"/>
            <a:ext cx="9143999" cy="584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目    录</a:t>
            </a:r>
          </a:p>
        </p:txBody>
      </p:sp>
      <p:sp>
        <p:nvSpPr>
          <p:cNvPr id="5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44C1845-8A53-EE57-9703-2DE28B3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2404344"/>
            <a:ext cx="4810073" cy="664865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问题背景与研究动机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39703B5-0A6F-5755-AC65-3F9DBE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2376423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4502C42-4200-8793-B8C9-F47A0C7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3247753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UAVGen 方法与数据流程</a:t>
            </a:r>
          </a:p>
        </p:txBody>
      </p:sp>
      <p:sp>
        <p:nvSpPr>
          <p:cNvPr id="10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4B16F55-9837-DE9A-8F1F-B28B292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3221577"/>
            <a:ext cx="1229155" cy="724197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38FE40-7002-E744-369F-71BF0DD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4102828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实验结果与结论</a:t>
            </a:r>
          </a:p>
        </p:txBody>
      </p:sp>
      <p:sp>
        <p:nvSpPr>
          <p:cNvPr id="12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262CF5D0-7092-E66A-7C52-5C27F9F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4074906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3573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f5917dab24b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8300" y="1656743"/>
            <a:ext cx="5456237" cy="283971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61" y="6112888"/>
            <a:ext cx="7703673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核心问题：怎样生成更可信、标签更一致的无人机训练图像？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954902"/>
            <a:ext cx="11557000" cy="581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一、问题背景与研究动机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1" y="4541274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无人机图像中的目标常小而密集，并伴随遮挡与尺度变化。标注数据有限，使检测器难以覆盖复杂场景。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9283502-1DD8-41B7-B187-905237B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" y="1059609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无人机目标检测的数据瓶颈</a:t>
            </a:r>
          </a:p>
        </p:txBody>
      </p:sp>
      <p:pic>
        <p:nvPicPr>
          <p:cNvPr id="2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27a022cdd40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7465" y="1350137"/>
            <a:ext cx="4855633" cy="2962835"/>
          </a:xfrm>
          <a:prstGeom xmlns:a="http://schemas.openxmlformats.org/drawingml/2006/main" prst="rect">
            <a:avLst/>
          </a:prstGeom>
        </p:spPr>
      </p:pic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0A0A7F-B537-43F5-9411-04CE341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4" y="4509333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通用布局到图像生成依赖类别与框位置，却常在小目标边界产生模糊或漏生成；不一致的合成标签还可能伤害检测训练。</a:t>
            </a:r>
          </a:p>
        </p:txBody>
      </p:sp>
    </p:spTree>
    <p:extLst>
      <p:ext uri="{BB962C8B-B14F-4D97-AF65-F5344CB8AC3E}">
        <p14:creationId xmlns:p14="http://schemas.microsoft.com/office/powerpoint/2010/main" val="1667110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30" y="6315986"/>
            <a:ext cx="762126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核心思路：提高小目标保真度，同时控制图像—标签不一致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3682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从整图生成转向焦点区域生成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一、问题背景与研究动机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2" y="4797455"/>
            <a:ext cx="10154378" cy="1306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UAVGen 将类别对应的高质量视觉原型融入布局条件，在目标密集区优先生成，再把局部图像拼回整图，并以检测器修正漏生成、多生成和框偏移。</a:t>
            </a:r>
          </a:p>
        </p:txBody>
      </p:sp>
      <p:pic>
        <p:nvPicPr>
          <p:cNvPr id="2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acce1b0584b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97887" y="1684321"/>
            <a:ext cx="3687616" cy="2763552"/>
          </a:xfrm>
          <a:prstGeom xmlns:a="http://schemas.openxmlformats.org/drawingml/2006/main" prst="rect">
            <a:avLst/>
          </a:prstGeom>
        </p:spPr>
      </p:pic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60a58733542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6497" y="1334739"/>
            <a:ext cx="7113856" cy="352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99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二、UAVGen 方法与数据流程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UAVGen：整体架构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334" y="1255086"/>
            <a:ext cx="468397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1、VPC-DM：筛选清晰且定位可靠的视觉原型，联合布局和文本条件生成图像。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t>2、FRE-DP：聚类目标中心，生成焦点区域并拼接；最后修正标签。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3" y="6241116"/>
            <a:ext cx="9735317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两个模块分别提升生成保真度与合成数据的训练可用性</a:t>
            </a:r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a67dcb1a041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79983" y="1772336"/>
            <a:ext cx="6953528" cy="37259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二、UAVGen 方法与数据流程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VPC-DM：视觉原型与多源条件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52" y="1394272"/>
            <a:ext cx="457256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从检测候选中按定位、置信度和类别内特征筛选原型；图像编码器构成视觉原型布局，文本与位置编码补充场景和对象语义。</a:t>
            </a:r>
            <a:endParaRPr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40" y="6105562"/>
            <a:ext cx="9735317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视觉原型＋布局语义共同约束扩散生成，使小目标外观更稳定</a:t>
            </a: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26a8e4a348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8946" y="2207052"/>
            <a:ext cx="6758225" cy="2661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33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实验数据与评估方式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VisDrone：6471 张训练图、10 类目标；UAVDT：24143 张训练图。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生成质量用 FID↓，检测性能用 mAP、AP50 和尺度分组 AP↑。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主实验使用 GFL-ResNet50；另用 RemDet-X 检查迁移效果。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240" y="53758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FID 衡量图像分布接近程度；AP 衡量合成数据对检测训练的实际价值</a:t>
            </a: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23fa736e449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99758" y="1600748"/>
            <a:ext cx="2796242" cy="2097181"/>
          </a:xfrm>
          <a:prstGeom xmlns:a="http://schemas.openxmlformats.org/drawingml/2006/main" prst="rect">
            <a:avLst/>
          </a:prstGeom>
        </p:spPr>
      </p:pic>
      <p:pic>
        <p:nvPicPr>
          <p:cNvPr id="2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ff17abcb4f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1600748"/>
            <a:ext cx="2796241" cy="2097181"/>
          </a:xfrm>
          <a:prstGeom xmlns:a="http://schemas.openxmlformats.org/drawingml/2006/main" prst="rect">
            <a:avLst/>
          </a:prstGeom>
        </p:spPr>
      </p:pic>
      <p:pic>
        <p:nvPicPr>
          <p:cNvPr id="2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3d683437a4a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3772548"/>
            <a:ext cx="2796242" cy="2097181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77913E-D14B-47B1-91DD-379C770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698" y="4497972"/>
            <a:ext cx="24343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同一 VisDrone 样例：真实图、AeroGen、UAVGen</a:t>
            </a:r>
          </a:p>
        </p:txBody>
      </p:sp>
    </p:spTree>
    <p:extLst>
      <p:ext uri="{BB962C8B-B14F-4D97-AF65-F5344CB8AC3E}">
        <p14:creationId xmlns:p14="http://schemas.microsoft.com/office/powerpoint/2010/main" val="28556154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生成图像的定性对比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图4显示，UAVGen 对小而密集的目标具有更清晰的外观与更好的布局一致性。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299" y="5700452"/>
            <a:ext cx="5071401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原论文图4：黄色虚线标出模糊或与布局不符的目标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cf7d2793b4b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482148"/>
            <a:ext cx="12192000" cy="3771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2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主结果：生成质量与检测精度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UAVGen 在两组数据上同时改善 FID 与检测 mAP</a:t>
            </a:r>
            <a:endParaRPr sz="1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b370d157548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5934" y="1338835"/>
            <a:ext cx="8813800" cy="4605173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VisDrone：mAP 24.5→25.9，FID 48.04→34.34。</a:t>
            </a:r>
            <a:endParaRPr sz="14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UAVDT：mAP 14.5→16.6，FID 31.99→29.73。</a:t>
            </a:r>
            <a:endParaRPr sz="1400" b="1"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679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消融：两个模块均有贡献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VPC-DM 与 FRE-DP 各带来约 0.7 个 mAP 点提升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仅加入生成图像：mAP 24.5→23.8。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VPC-DM 完整：25.2；再加入 FRE-DP：25.9。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焦点区域 256 分辨率表现最佳。</a:t>
            </a:r>
          </a:p>
        </p:txBody>
      </p:sp>
      <p:pic>
        <p:nvPicPr>
          <p:cNvPr id="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21b5c800642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0806" y="1338835"/>
            <a:ext cx="8210456" cy="481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迁移效果、数据效率与边界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+mn-ea"/>
                <a:ea typeface="+mn-ea"/>
                <a:cs typeface="+mn-ea"/>
              </a:rPr>
              <a:t>结论适用于所测数据与检测器；真实场景泛化仍是后续问题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RemDet-X：mAP 29.8→30.2。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仅增 100 张合成图，mAP 25.0，接近 AeroGen 用 6474 张图的 24.9。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跨高度与视角变化仍待验证。</a:t>
            </a:r>
          </a:p>
        </p:txBody>
      </p:sp>
      <p:pic>
        <p:nvPicPr>
          <p:cNvPr id="2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665dccbec46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0306" y="1338835"/>
            <a:ext cx="8638185" cy="45743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79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9B56615-FB97-4751-BB47-C6EE25C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a0f7cd89e45bf">
            <a:alphaModFix amt="20000"/>
          </a:blip>
          <a:srcRect xmlns:a="http://schemas.openxmlformats.org/drawingml/2006/main" l="712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782B816-448B-4D3A-B956-8FE6E14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38" y="1946398"/>
            <a:ext cx="8730343" cy="1938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感谢聆听！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欢迎批评指正！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1557775761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2026-09-12T07:25:58.8530000Z</dcterms:created>
  <dcterms:modified xsi:type="dcterms:W3CDTF">2026-09-12T07:25:58.8530000Z</dcterms:modified>
</coreProperties>
</file>
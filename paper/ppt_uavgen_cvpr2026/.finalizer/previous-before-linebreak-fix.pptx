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96bfbba1954865" /><Relationship Type="http://schemas.openxmlformats.org/officeDocument/2006/relationships/extended-properties" Target="/docProps/app.xml" Id="Rab9bb4759e4d4e90" /><Relationship Type="http://schemas.openxmlformats.org/officeDocument/2006/relationships/officeDocument" Target="/ppt/presentation.xml" Id="R7431704e7b8d49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88876da93d4b99"/>
  </p:sldMasterIdLst>
  <p:notesMasterIdLst>
    <p:notesMasterId xmlns:r="http://schemas.openxmlformats.org/officeDocument/2006/relationships" r:id="R9c6b24c428134218"/>
  </p:notesMasterIdLst>
  <p:sldIdLst>
    <p:sldId xmlns:r="http://schemas.openxmlformats.org/officeDocument/2006/relationships" id="256" r:id="R0d79666ecaf444dc"/>
    <p:sldId xmlns:r="http://schemas.openxmlformats.org/officeDocument/2006/relationships" id="257" r:id="R9cb90c3891a84367"/>
    <p:sldId xmlns:r="http://schemas.openxmlformats.org/officeDocument/2006/relationships" id="258" r:id="R5ef78a142a654de6"/>
    <p:sldId xmlns:r="http://schemas.openxmlformats.org/officeDocument/2006/relationships" id="259" r:id="R738c2e6006bf49d1"/>
    <p:sldId xmlns:r="http://schemas.openxmlformats.org/officeDocument/2006/relationships" id="260" r:id="R4a8f96e94f3741a0"/>
    <p:sldId xmlns:r="http://schemas.openxmlformats.org/officeDocument/2006/relationships" id="261" r:id="R381aa05701a54fcb"/>
    <p:sldId xmlns:r="http://schemas.openxmlformats.org/officeDocument/2006/relationships" id="262" r:id="R4b35d993cd6f4107"/>
    <p:sldId xmlns:r="http://schemas.openxmlformats.org/officeDocument/2006/relationships" id="263" r:id="R4d7734341efd4ce2"/>
    <p:sldId xmlns:r="http://schemas.openxmlformats.org/officeDocument/2006/relationships" id="264" r:id="R884cb12faffc4090"/>
    <p:sldId xmlns:r="http://schemas.openxmlformats.org/officeDocument/2006/relationships" id="265" r:id="R78cf2f7fa5f14d9e"/>
    <p:sldId xmlns:r="http://schemas.openxmlformats.org/officeDocument/2006/relationships" id="266" r:id="R4a8258c24a204e0a"/>
    <p:sldId xmlns:r="http://schemas.openxmlformats.org/officeDocument/2006/relationships" id="267" r:id="R009f2b2f925e48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e12210442e4fec" /><Relationship Type="http://schemas.openxmlformats.org/officeDocument/2006/relationships/slideMaster" Target="/ppt/slideMasters/slideMaster1.xml" Id="R0e88876da93d4b99" /><Relationship Type="http://schemas.openxmlformats.org/officeDocument/2006/relationships/notesMaster" Target="/ppt/notesMasters/notesMaster1.xml" Id="R9c6b24c428134218" /><Relationship Type="http://schemas.openxmlformats.org/officeDocument/2006/relationships/presProps" Target="/ppt/presProps.xml" Id="Ra07dafe915bd40fa" /><Relationship Type="http://schemas.openxmlformats.org/officeDocument/2006/relationships/viewProps" Target="/ppt/viewProps.xml" Id="R716bf6d81f7c41f1" /><Relationship Type="http://schemas.openxmlformats.org/officeDocument/2006/relationships/tableStyles" Target="/ppt/tableStyles.xml" Id="R110e9692b83e442e" /><Relationship Type="http://schemas.openxmlformats.org/officeDocument/2006/relationships/slide" Target="/ppt/slides/slide1.xml" Id="R0d79666ecaf444dc" /><Relationship Type="http://schemas.openxmlformats.org/officeDocument/2006/relationships/slide" Target="/ppt/slides/slide2.xml" Id="R9cb90c3891a84367" /><Relationship Type="http://schemas.openxmlformats.org/officeDocument/2006/relationships/slide" Target="/ppt/slides/slide3.xml" Id="R5ef78a142a654de6" /><Relationship Type="http://schemas.openxmlformats.org/officeDocument/2006/relationships/slide" Target="/ppt/slides/slide4.xml" Id="R738c2e6006bf49d1" /><Relationship Type="http://schemas.openxmlformats.org/officeDocument/2006/relationships/slide" Target="/ppt/slides/slide5.xml" Id="R4a8f96e94f3741a0" /><Relationship Type="http://schemas.openxmlformats.org/officeDocument/2006/relationships/slide" Target="/ppt/slides/slide6.xml" Id="R381aa05701a54fcb" /><Relationship Type="http://schemas.openxmlformats.org/officeDocument/2006/relationships/slide" Target="/ppt/slides/slide7.xml" Id="R4b35d993cd6f4107" /><Relationship Type="http://schemas.openxmlformats.org/officeDocument/2006/relationships/slide" Target="/ppt/slides/slide8.xml" Id="R4d7734341efd4ce2" /><Relationship Type="http://schemas.openxmlformats.org/officeDocument/2006/relationships/slide" Target="/ppt/slides/slide9.xml" Id="R884cb12faffc4090" /><Relationship Type="http://schemas.openxmlformats.org/officeDocument/2006/relationships/slide" Target="/ppt/slides/slide10.xml" Id="R78cf2f7fa5f14d9e" /><Relationship Type="http://schemas.openxmlformats.org/officeDocument/2006/relationships/slide" Target="/ppt/slides/slide11.xml" Id="R4a8258c24a204e0a" /><Relationship Type="http://schemas.openxmlformats.org/officeDocument/2006/relationships/slide" Target="/ppt/slides/slide12.xml" Id="R009f2b2f925e48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915bb5851342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a13efb386d419e" /><Relationship Type="http://schemas.openxmlformats.org/officeDocument/2006/relationships/notesMaster" Target="/ppt/notesMasters/notesMaster1.xml" Id="Rc3edd35bc1ad47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57d44378c74d00" /><Relationship Type="http://schemas.openxmlformats.org/officeDocument/2006/relationships/notesMaster" Target="/ppt/notesMasters/notesMaster1.xml" Id="R44994121500048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d113cf8fe04f35" /><Relationship Type="http://schemas.openxmlformats.org/officeDocument/2006/relationships/notesMaster" Target="/ppt/notesMasters/notesMaster1.xml" Id="R7ac24c30e2e54b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a6fadd0a354cee" /><Relationship Type="http://schemas.openxmlformats.org/officeDocument/2006/relationships/notesMaster" Target="/ppt/notesMasters/notesMaster1.xml" Id="R971304c83cf845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ab20fe7da54ded" /><Relationship Type="http://schemas.openxmlformats.org/officeDocument/2006/relationships/notesMaster" Target="/ppt/notesMasters/notesMaster1.xml" Id="R9634d9c3068f4d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86308b06ae4c0b" /><Relationship Type="http://schemas.openxmlformats.org/officeDocument/2006/relationships/notesMaster" Target="/ppt/notesMasters/notesMaster1.xml" Id="R63baecd075e643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2ba6f722c44d84" /><Relationship Type="http://schemas.openxmlformats.org/officeDocument/2006/relationships/notesMaster" Target="/ppt/notesMasters/notesMaster1.xml" Id="R44905b73527c4b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6e5ef999294eac" /><Relationship Type="http://schemas.openxmlformats.org/officeDocument/2006/relationships/notesMaster" Target="/ppt/notesMasters/notesMaster1.xml" Id="R104cbb53c4384b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68d9308530444f" /><Relationship Type="http://schemas.openxmlformats.org/officeDocument/2006/relationships/notesMaster" Target="/ppt/notesMasters/notesMaster1.xml" Id="R17f8f758d7b04f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0646e82a854471" /><Relationship Type="http://schemas.openxmlformats.org/officeDocument/2006/relationships/notesMaster" Target="/ppt/notesMasters/notesMaster1.xml" Id="R755de08ae9d141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96f1eadc7b4938" /><Relationship Type="http://schemas.openxmlformats.org/officeDocument/2006/relationships/notesMaster" Target="/ppt/notesMasters/notesMaster1.xml" Id="R1a31324b66c047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d269a9dedf4d5f" /><Relationship Type="http://schemas.openxmlformats.org/officeDocument/2006/relationships/notesMaster" Target="/ppt/notesMasters/notesMaster1.xml" Id="R1673e394dc794c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论文：Visual Prototype Conditioned Focal Region Generation for UAV-Based Object Detection，CVPR 2026，3772–3782。汇报结构严格沿用原始12页组会模板。原文：https://openaccess.thecvf.com/content/CVPR2026/papers/Li_Visual_Prototype_Conditioned_Focal_Region_Generation_for_UAV-Based_Object_Detection_CVPR_2026_paper.pdf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第一部分讲无人机目标检测的标注数据不足及通用生成方法的问题；第二部分讲 VPC-DM 和 FRE-DP；第三部分讲 VisDrone、UAVDT 的结果与消融。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左图取自论文图4的两个基线方法，黄虚线表示与布局不一致或模糊的区域；右图是论文图1(a)所示常规布局到图像生成。不要将个例视作总体统计结果。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两图来自原论文图1。左为常规数据生成，右为 UAVGen。VPC-DM 提升生成条件质量，FRE-DP 侧重目标密集区域并执行标签修正。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论文图2。上半部分是 FRE-DP，下半部分是 VPC-DM。讲述顺序建议先 VPC-DM 条件构建，再讲 FRE-DP 区域生成及标签修正。图中的 trainable/frozen 由原论文给出。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VPC-DM：预训练检测器获取可靠候选；同类原型经聚合形成增强布局；全局文本、对象文本和位置编码共同注入生成网络。训练时对目标区域赋予更高损失权重。原论文图2与第3.2节。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VisDrone：6471 train/548 val/1580 test；UAVDT：24143 train/16592 test。扩散模型以 FLUX 为基础，512×512 分辨率训练与生成。图片来自论文图4第一行，依次是真实、AeroGen、UAVGen；它们只是定性样例。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此页保留模板原有通栏图片版式，仅替换成论文图4的完整对照主体。图4仅用于展示生成质量，不作为 FID 或 AP 的统计替代。左右列依次是布局、真值、GeoDiffusion、AeroGen、UAVGen。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原论文表1。FID 对比中的 AeroGen 与 UAVGen 分别为：VisDrone 48.04、34.34；UAVDT 31.99、29.73。检测 mAP 与真实数据基线对比：VisDrone 24.5 到25.9，UAVDT 14.5 到16.6。FID 仅使用 VPC-DM 评估，检测训练使用完整 UAVGen 管线，注意二者设置不同。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原论文表3、表4和图5。表3：真实数据24.5；仅生成23.8；视觉原型+布局编码25.2；完整管线25.9。表4：焦点区域分辨率1024/512/256对应mAP 25.3/25.6/25.9。右图为不同合成图像数量表现。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原论文表2：RemDet-X 在 VisDrone 上，真实数据29.8，UAVGen 30.2；对照方法 mAP 不高于29.4。图5：100张UAVGen合成图像对应mAP25.0，AeroGen 6474张对应24.9。论文结论提到真实无人机场景的视角和高度变化仍是未来研究方向，因此不能宣称已验证全面泛化。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感谢聆听。原文与代码地址见第一页讲稿备注；图表均来自原论文。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6a9bec4324a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7a5f1811e44a4" /><Relationship Type="http://schemas.openxmlformats.org/officeDocument/2006/relationships/image" Target="/ppt/media/image.png" Id="R8a6688c5da1847e1" /><Relationship Type="http://schemas.openxmlformats.org/officeDocument/2006/relationships/image" Target="/ppt/media/image2.png" Id="Ra31520e9926d44f6" /></Relationships>
</file>

<file path=ppt/slideLayouts/slideLayout1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CB855DD-69EB-E866-D5B9-91F69EA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100"/>
            <a:ext cx="12192000" cy="153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275" cmpd="sng">
            <a:gradFill rotWithShape="1">
              <a:gsLst>
                <a:gs pos="0">
                  <a:srgbClr val="0070C0"/>
                </a:gs>
                <a:gs pos="43000">
                  <a:srgbClr val="4090A7"/>
                </a:gs>
                <a:gs pos="93000">
                  <a:schemeClr val="bg1"/>
                </a:gs>
              </a:gsLst>
              <a:lin ang="0" scaled="1"/>
              <a:tileRect/>
            </a:gra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37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Constantia"/>
              <a:ea typeface="Constantia"/>
              <a:cs typeface="Constantia"/>
            </a:endParaRPr>
          </a:p>
        </p:txBody>
      </p:sp>
      <p:pic>
        <p:nvPicPr>
          <p:cNvPr id="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688c5da1847e1"/>
          <a:srcRect xmlns:a="http://schemas.openxmlformats.org/drawingml/2006/main" l="2734" t="5571" r="72733" b="7404"/>
          <a:stretch xmlns:a="http://schemas.openxmlformats.org/drawingml/2006/main"/>
        </p:blipFill>
        <p:spPr>
          <a:xfrm xmlns:a="http://schemas.openxmlformats.org/drawingml/2006/main">
            <a:off x="11242964" y="46135"/>
            <a:ext cx="834156" cy="720620"/>
          </a:xfrm>
          <a:prstGeom xmlns:a="http://schemas.openxmlformats.org/drawingml/2006/main" prst="rect">
            <a:avLst/>
          </a:prstGeom>
        </p:spPr>
      </p:pic>
      <p:pic>
        <p:nvPicPr>
          <p:cNvPr id="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520e9926d44f6"/>
          <a:srcRect xmlns:a="http://schemas.openxmlformats.org/drawingml/2006/main" l="16887" t="12347" r="7013" b="1495"/>
          <a:stretch xmlns:a="http://schemas.openxmlformats.org/drawingml/2006/main"/>
        </p:blipFill>
        <p:spPr>
          <a:xfrm xmlns:a="http://schemas.openxmlformats.org/drawingml/2006/main">
            <a:off x="10418907" y="127682"/>
            <a:ext cx="699943" cy="66982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f1608a0f3c4648" /><Relationship Type="http://schemas.openxmlformats.org/officeDocument/2006/relationships/slideLayout" Target="/ppt/slideLayouts/slideLayout1.xml" Id="R701d2cfd27634894" /><Relationship Type="http://schemas.openxmlformats.org/officeDocument/2006/relationships/slideLayout" Target="/ppt/slideLayouts/slideLayout2.xml" Id="R4af1fbb8f635408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1d2cfd27634894"/>
    <p:sldLayoutId xmlns:r="http://schemas.openxmlformats.org/officeDocument/2006/relationships" id="2147483650" r:id="R4af1fbb8f6354085"/>
  </p:sldLayoutIdLst>
  <p:txStyles>
    <p:titleStyle>
      <a:lvl1pPr xmlns:a="http://schemas.openxmlformats.org/drawingml/2006/main" algn="l">
        <a:spcBef>
          <a:spcPct val="0"/>
        </a:spcBef>
        <a:buNone/>
        <a:defRPr sz="3600" kern="1200" cap="all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892" indent="-342892" algn="l">
        <a:spcBef>
          <a:spcPct val="20000"/>
        </a:spcBef>
        <a:buClr>
          <a:schemeClr val="accent1"/>
        </a:buClr>
        <a:buSzPct val="70000"/>
        <a:buFont typeface="Wingdings 2"/>
        <a:buChar char=""/>
        <a:defRPr sz="3200" kern="120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742931" indent="-285743" algn="l">
        <a:spcBef>
          <a:spcPct val="20000"/>
        </a:spcBef>
        <a:buClr>
          <a:schemeClr val="accent1"/>
        </a:buClr>
        <a:buSzPct val="70000"/>
        <a:buFont typeface="Wingdings 2"/>
        <a:buChar char=""/>
        <a:defRPr sz="2800" kern="120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142972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"/>
        <a:defRPr sz="2400" kern="120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"/>
        <a:defRPr sz="2000" kern="120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057348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"/>
        <a:defRPr sz="1800" kern="120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"/>
        <a:defRPr sz="1800" kern="120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"/>
        <a:defRPr sz="1600" kern="120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3428915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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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8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2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64bc6e9434028" /><Relationship Type="http://schemas.openxmlformats.org/officeDocument/2006/relationships/image" Target="/ppt/media/image3.png" Id="R2ef0d47461b44cb7" /><Relationship Type="http://schemas.openxmlformats.org/officeDocument/2006/relationships/image" Target="/ppt/media/image.png" Id="R446c914661b94eab" /><Relationship Type="http://schemas.openxmlformats.org/officeDocument/2006/relationships/image" Target="/ppt/media/image4.png" Id="Rdc01bb7988864c22" /><Relationship Type="http://schemas.openxmlformats.org/officeDocument/2006/relationships/notesSlide" Target="/ppt/notesSlides/notesSlide1.xml" Id="Ra026c1c07daf4d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638d50d14040ab" /><Relationship Type="http://schemas.openxmlformats.org/officeDocument/2006/relationships/notesSlide" Target="/ppt/notesSlides/notesSlide2.xml" Id="Rc472d34cd06340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d387fc38f14c61" /><Relationship Type="http://schemas.openxmlformats.org/officeDocument/2006/relationships/image" Target="/ppt/media/image5.png" Id="R19e4c74e2c814c86" /><Relationship Type="http://schemas.openxmlformats.org/officeDocument/2006/relationships/image" Target="/ppt/media/image6.png" Id="R2f77ff3069974bc6" /><Relationship Type="http://schemas.openxmlformats.org/officeDocument/2006/relationships/notesSlide" Target="/ppt/notesSlides/notesSlide3.xml" Id="Rc4a79b31360d44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fa03bad7124aee" /><Relationship Type="http://schemas.openxmlformats.org/officeDocument/2006/relationships/image" Target="/ppt/media/image7.png" Id="R78d57e989d134c67" /><Relationship Type="http://schemas.openxmlformats.org/officeDocument/2006/relationships/image" Target="/ppt/media/image8.png" Id="R061c45285a6245aa" /><Relationship Type="http://schemas.openxmlformats.org/officeDocument/2006/relationships/notesSlide" Target="/ppt/notesSlides/notesSlide4.xml" Id="R8dfe96400d3849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3ce9e1945b4234" /><Relationship Type="http://schemas.openxmlformats.org/officeDocument/2006/relationships/image" Target="/ppt/media/image9.png" Id="R52f860ab07354549" /><Relationship Type="http://schemas.openxmlformats.org/officeDocument/2006/relationships/notesSlide" Target="/ppt/notesSlides/notesSlide5.xml" Id="R7ba8826c102647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e2eaa0a2bb4b89" /><Relationship Type="http://schemas.openxmlformats.org/officeDocument/2006/relationships/image" Target="/ppt/media/image10.png" Id="Rff74836efbd546a8" /><Relationship Type="http://schemas.openxmlformats.org/officeDocument/2006/relationships/notesSlide" Target="/ppt/notesSlides/notesSlide6.xml" Id="R3c6559d8c0cd4d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81f0fe146543f8" /><Relationship Type="http://schemas.openxmlformats.org/officeDocument/2006/relationships/image" Target="/ppt/media/image11.png" Id="R0d96e09fdc294b95" /><Relationship Type="http://schemas.openxmlformats.org/officeDocument/2006/relationships/image" Target="/ppt/media/image12.png" Id="R91cead56d9ae48c1" /><Relationship Type="http://schemas.openxmlformats.org/officeDocument/2006/relationships/image" Target="/ppt/media/image13.png" Id="R339d99e189c241c6" /><Relationship Type="http://schemas.openxmlformats.org/officeDocument/2006/relationships/notesSlide" Target="/ppt/notesSlides/notesSlide7.xml" Id="Rca42a763eaad4e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3d9d56caa44138" /><Relationship Type="http://schemas.openxmlformats.org/officeDocument/2006/relationships/image" Target="/ppt/media/image14.png" Id="Ra526ef7879fd4d8e" /><Relationship Type="http://schemas.openxmlformats.org/officeDocument/2006/relationships/notesSlide" Target="/ppt/notesSlides/notesSlide8.xml" Id="R91dc2b213b1c4f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711eda68234cf3" /><Relationship Type="http://schemas.openxmlformats.org/officeDocument/2006/relationships/image" Target="/ppt/media/image15.png" Id="R54435c78f096498b" /><Relationship Type="http://schemas.openxmlformats.org/officeDocument/2006/relationships/notesSlide" Target="/ppt/notesSlides/notesSlide9.xml" Id="R38a51a4b15a142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0d7bf6a17487e" /><Relationship Type="http://schemas.openxmlformats.org/officeDocument/2006/relationships/image" Target="/ppt/media/image16.png" Id="R9e8e7f2c118b4402" /><Relationship Type="http://schemas.openxmlformats.org/officeDocument/2006/relationships/notesSlide" Target="/ppt/notesSlides/notesSlide10.xml" Id="R8bf35dce3b3d45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4313f7ccf14d3f" /><Relationship Type="http://schemas.openxmlformats.org/officeDocument/2006/relationships/image" Target="/ppt/media/image17.png" Id="R1e2835f0980842bf" /><Relationship Type="http://schemas.openxmlformats.org/officeDocument/2006/relationships/notesSlide" Target="/ppt/notesSlides/notesSlide11.xml" Id="Rb65ca222e97243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ff72b5ea240e6" /><Relationship Type="http://schemas.openxmlformats.org/officeDocument/2006/relationships/image" Target="/ppt/media/image3.png" Id="R8d3f20bc58eb4fcc" /><Relationship Type="http://schemas.openxmlformats.org/officeDocument/2006/relationships/notesSlide" Target="/ppt/notesSlides/notesSlide12.xml" Id="R1f1d04dbb4704de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00AB80B-E20B-2618-7429-820B158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72" y="4376893"/>
            <a:ext cx="9150128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00" b="1">
                <a:latin typeface="+mj-ea"/>
                <a:ea typeface="+mj-ea"/>
                <a:cs typeface="+mj-ea"/>
              </a:rPr>
              <a:t>CVPR 2026 论文汇报：UAVGen</a:t>
            </a:r>
            <a:endParaRPr sz="2800" b="1">
              <a:latin typeface="+mj-ea"/>
              <a:ea typeface="+mj-ea"/>
              <a:cs typeface="+mj-ea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2669D39-E82B-0B66-E943-B60AE443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31950"/>
            <a:ext cx="12192000" cy="2566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160">
              <a:alpha val="81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0d47461b44cb7">
            <a:alphaModFix amt="20000"/>
          </a:blip>
          <a:srcRect xmlns:a="http://schemas.openxmlformats.org/drawingml/2006/main" l="712" t="0" r="763" b="0"/>
          <a:stretch xmlns:a="http://schemas.openxmlformats.org/drawingml/2006/main"/>
        </p:blipFill>
        <p:spPr>
          <a:xfrm xmlns:a="http://schemas.openxmlformats.org/drawingml/2006/main">
            <a:off x="0" y="1631950"/>
            <a:ext cx="12191999" cy="25543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dist="50800" dir="2520000" algn="ctr" rotWithShape="0">
              <a:srgbClr val="000000"/>
            </a:outerShdw>
            <a:softEdge rad="0"/>
          </a:effectLst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15082DE-1CDD-EEA4-4CA4-2D1FE07F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517" y="2548929"/>
            <a:ext cx="9422837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defTabSz="457200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视觉原型条件化的无人机目标检测数据生成</a:t>
            </a:r>
            <a:endParaRPr b="1" spc="20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5DE8D11-5457-CDB3-0F1B-539A3D8B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72" y="5360655"/>
            <a:ext cx="9150129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srgbClr val="444444"/>
                </a:solidFill>
                <a:latin typeface="+mj-ea"/>
                <a:ea typeface="+mj-ea"/>
                <a:cs typeface="+mj-ea"/>
              </a:rPr>
              <a:t>原文作者：Wenhao Li、Zimeng Wu、Yu Wu、Zehua Fu、Jiaxin Chen\n北京航空航天大学</a:t>
            </a:r>
            <a:endParaRPr sz="2000" b="1">
              <a:solidFill>
                <a:srgbClr val="444444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30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c914661b94e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1" y="645677"/>
            <a:ext cx="3509025" cy="863724"/>
          </a:xfrm>
          <a:prstGeom xmlns:a="http://schemas.openxmlformats.org/drawingml/2006/main" prst="rect">
            <a:avLst/>
          </a:prstGeom>
        </p:spPr>
      </p:pic>
      <p:pic>
        <p:nvPicPr>
          <p:cNvPr id="31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1bb7988864c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7621" y="755320"/>
            <a:ext cx="935583" cy="815356"/>
          </a:xfrm>
          <a:prstGeom xmlns:a="http://schemas.openxmlformats.org/drawingml/2006/main" prst="rect">
            <a:avLst/>
          </a:prstGeom>
        </p:spPr>
      </p:pic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593C41F-F141-3541-EC37-CCA0743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077" y="986742"/>
            <a:ext cx="363812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/>
              <a:t>Visual Prototype Conditioned Focal Region Generation</a:t>
            </a:r>
          </a:p>
        </p:txBody>
      </p:sp>
    </p:spTree>
    <p:extLst>
      <p:ext uri="{BB962C8B-B14F-4D97-AF65-F5344CB8AC3E}">
        <p14:creationId xmlns:p14="http://schemas.microsoft.com/office/powerpoint/2010/main" val="4142920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B58AE4-E742-12B0-9B0B-4E1CBF89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1" y="175207"/>
            <a:ext cx="9143999" cy="584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rPr>
              <a:t>目    录</a:t>
            </a:r>
          </a:p>
        </p:txBody>
      </p:sp>
      <p:sp>
        <p:nvSpPr>
          <p:cNvPr id="5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144C1845-8A53-EE57-9703-2DE28B3F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2404344"/>
            <a:ext cx="4810073" cy="664865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问题背景与研究动机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439703B5-0A6F-5755-AC65-3F9DBE83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2376423"/>
            <a:ext cx="1229155" cy="725941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64502C42-4200-8793-B8C9-F47A0C71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3247753"/>
            <a:ext cx="4810073" cy="666610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UAVGen 方法与数据流程</a:t>
            </a:r>
          </a:p>
        </p:txBody>
      </p:sp>
      <p:sp>
        <p:nvSpPr>
          <p:cNvPr id="10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94B16F55-9837-DE9A-8F1F-B28B292A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3221577"/>
            <a:ext cx="1229155" cy="724197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138FE40-7002-E744-369F-71BF0DD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4102828"/>
            <a:ext cx="4810073" cy="666610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实验结果与结论</a:t>
            </a:r>
          </a:p>
        </p:txBody>
      </p:sp>
      <p:sp>
        <p:nvSpPr>
          <p:cNvPr id="12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262CF5D0-7092-E66A-7C52-5C27F9FB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4074906"/>
            <a:ext cx="1229155" cy="725941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935731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4c74e2c814c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68300" y="1656743"/>
            <a:ext cx="5456237" cy="2839713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FC51B37-B5E2-748D-6121-F4E878F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161" y="6112888"/>
            <a:ext cx="7703673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核心问题：怎样生成更可信、标签更一致的无人机训练图像？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3687C8C-6F56-840C-6EED-4AE6033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954902"/>
            <a:ext cx="11557000" cy="5810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73BA106-C5C9-4CF5-EEDD-BF58B39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一、问题背景与研究动机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0E35AFE-ABD4-2DC1-3EC2-F10015D2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61" y="4541274"/>
            <a:ext cx="5871237" cy="1526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无人机图像中的目标常小而密集，并伴随遮挡与尺度变化。标注数据有限，使检测器难以覆盖复杂场景。</a:t>
            </a:r>
            <a:endParaRPr sz="1600" b="1" kern="100">
              <a:latin typeface="+mn-ea"/>
              <a:ea typeface="+mn-ea"/>
              <a:cs typeface="+mn-ea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9283502-1DD8-41B7-B187-905237BA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37" y="1059609"/>
            <a:ext cx="11557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无人机目标检测的数据瓶颈</a:t>
            </a:r>
          </a:p>
        </p:txBody>
      </p:sp>
      <p:pic>
        <p:nvPicPr>
          <p:cNvPr id="2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7ff3069974b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67465" y="1350137"/>
            <a:ext cx="4855633" cy="2962835"/>
          </a:xfrm>
          <a:prstGeom xmlns:a="http://schemas.openxmlformats.org/drawingml/2006/main" prst="rect">
            <a:avLst/>
          </a:prstGeom>
        </p:spPr>
      </p:pic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00A0A7F-B537-43F5-9411-04CE3418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934" y="4509333"/>
            <a:ext cx="5871237" cy="1526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通用布局到图像生成依赖类别与框位置，却常在小目标边界产生模糊或漏生成；不一致的合成标签还可能伤害检测训练。</a:t>
            </a:r>
          </a:p>
        </p:txBody>
      </p:sp>
    </p:spTree>
    <p:extLst>
      <p:ext uri="{BB962C8B-B14F-4D97-AF65-F5344CB8AC3E}">
        <p14:creationId xmlns:p14="http://schemas.microsoft.com/office/powerpoint/2010/main" val="16671104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FC51B37-B5E2-748D-6121-F4E878F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430" y="6315986"/>
            <a:ext cx="7621265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核心思路：提高小目标保真度，同时控制图像—标签不一致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3687C8C-6F56-840C-6EED-4AE6033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753682"/>
            <a:ext cx="11557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从整图生成转向焦点区域生成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73BA106-C5C9-4CF5-EEDD-BF58B39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一、问题背景与研究动机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0E35AFE-ABD4-2DC1-3EC2-F10015D2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92" y="4797455"/>
            <a:ext cx="10154378" cy="1306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b="1">
                <a:latin typeface="+mn-ea"/>
                <a:ea typeface="+mn-ea"/>
                <a:cs typeface="+mn-ea"/>
              </a:rPr>
              <a:t>UAVGen 将类别对应的高质量视觉原型融入布局条件，在目标密集区优先生成，再把局部图像拼回整图，并以检测器修正漏生成、多生成和框偏移。</a:t>
            </a:r>
          </a:p>
        </p:txBody>
      </p:sp>
      <p:pic>
        <p:nvPicPr>
          <p:cNvPr id="2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57e989d134c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997887" y="1684321"/>
            <a:ext cx="3687616" cy="2763552"/>
          </a:xfrm>
          <a:prstGeom xmlns:a="http://schemas.openxmlformats.org/drawingml/2006/main" prst="rect">
            <a:avLst/>
          </a:prstGeom>
        </p:spPr>
      </p:pic>
      <p:pic>
        <p:nvPicPr>
          <p:cNvPr id="2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c45285a6245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06497" y="1334739"/>
            <a:ext cx="7113856" cy="352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999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4F0EB57-D5DC-3B8B-2438-5233110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二、UAVGen 方法与数据流程</a:t>
            </a: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C075E2-464A-8479-BC0E-43339C8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4" y="943830"/>
            <a:ext cx="11642271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UAVGen：整体架构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8C13AE-EE9B-5F50-9385-06F5B04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334" y="1255086"/>
            <a:ext cx="4683978" cy="3474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1、VPC-DM：筛选清晰且定位可靠的视觉原型，联合布局和文本条件生成图像。\n2、FRE-DP：聚类目标中心，生成焦点区域并拼接；最后修正标签。</a:t>
            </a:r>
            <a:endParaRPr sz="1600" b="1" kern="100">
              <a:latin typeface="+mn-ea"/>
              <a:ea typeface="+mn-ea"/>
              <a:cs typeface="+mn-ea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667591E-27E5-5DFF-C40F-0358C9D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23" y="6241116"/>
            <a:ext cx="9735317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两个模块分别提升生成保真度与合成数据的训练可用性</a:t>
            </a:r>
          </a:p>
        </p:txBody>
      </p:sp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860ab073545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79983" y="1772336"/>
            <a:ext cx="6953528" cy="37259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430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4F0EB57-D5DC-3B8B-2438-5233110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二、UAVGen 方法与数据流程</a:t>
            </a: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C075E2-464A-8479-BC0E-43339C8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4" y="943830"/>
            <a:ext cx="11642271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VPC-DM：视觉原型与多源条件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8C13AE-EE9B-5F50-9385-06F5B04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252" y="1394272"/>
            <a:ext cx="4572568" cy="3474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b="1">
                <a:latin typeface="+mn-ea"/>
                <a:ea typeface="+mn-ea"/>
                <a:cs typeface="+mn-ea"/>
              </a:rPr>
              <a:t>从检测候选中按定位、置信度和类别内特征筛选原型；图像编码器构成视觉原型布局，文本与位置编码补充场景和对象语义。</a:t>
            </a:r>
            <a:endParaRPr b="1" kern="100">
              <a:latin typeface="+mn-ea"/>
              <a:ea typeface="+mn-ea"/>
              <a:cs typeface="+mn-ea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667591E-27E5-5DFF-C40F-0358C9D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340" y="6105562"/>
            <a:ext cx="9735317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视觉原型＋布局语义共同约束扩散生成，使小目标外观更稳定</a:t>
            </a:r>
          </a:p>
        </p:txBody>
      </p:sp>
      <p:pic>
        <p:nvPicPr>
          <p:cNvPr id="1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4836efbd546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8946" y="2207052"/>
            <a:ext cx="6758225" cy="26618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333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988271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实验数据与评估方式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38F33ED-F04F-FDE9-44DC-C1B35F5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510" y="1482148"/>
            <a:ext cx="5603761" cy="229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VisDrone：6471 张训练图、10 类目标；UAVDT：24143 张训练图。\n生成质量用 FID↓，检测性能用 mAP、AP50 和尺度分组 AP↑。\n主实验使用 GFL-ResNet50；另用 RemDet-X 检查迁移效果。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85EB151-632A-5BC2-4867-3CA05C6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240" y="5375852"/>
            <a:ext cx="5071401" cy="57912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FID 衡量图像分布接近程度；AP 衡量合成数据对检测训练的实际价值</a:t>
            </a:r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6e09fdc294b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299758" y="1600748"/>
            <a:ext cx="2796242" cy="2097181"/>
          </a:xfrm>
          <a:prstGeom xmlns:a="http://schemas.openxmlformats.org/drawingml/2006/main" prst="rect">
            <a:avLst/>
          </a:prstGeom>
        </p:spPr>
      </p:pic>
      <p:pic>
        <p:nvPicPr>
          <p:cNvPr id="2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ead56d9ae48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64819" y="1600748"/>
            <a:ext cx="2796241" cy="2097181"/>
          </a:xfrm>
          <a:prstGeom xmlns:a="http://schemas.openxmlformats.org/drawingml/2006/main" prst="rect">
            <a:avLst/>
          </a:prstGeom>
        </p:spPr>
      </p:pic>
      <p:pic>
        <p:nvPicPr>
          <p:cNvPr id="29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d99e189c241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64819" y="3772548"/>
            <a:ext cx="2796242" cy="2097181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B77913E-D14B-47B1-91DD-379C770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698" y="4497972"/>
            <a:ext cx="243436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同一 VisDrone 样例：真实图、AeroGen、UAVGen</a:t>
            </a:r>
          </a:p>
        </p:txBody>
      </p:sp>
    </p:spTree>
    <p:extLst>
      <p:ext uri="{BB962C8B-B14F-4D97-AF65-F5344CB8AC3E}">
        <p14:creationId xmlns:p14="http://schemas.microsoft.com/office/powerpoint/2010/main" val="28556154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988271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生成图像的定性对比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38F33ED-F04F-FDE9-44DC-C1B35F5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510" y="1482148"/>
            <a:ext cx="5603761" cy="229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图4显示，UAVGen 对小而密集的目标具有更清晰的外观与更好的布局一致性。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85EB151-632A-5BC2-4867-3CA05C6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299" y="5700452"/>
            <a:ext cx="5071401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原论文图4：黄色虚线标出模糊或与布局不符的目标</a:t>
            </a:r>
          </a:p>
        </p:txBody>
      </p:sp>
      <p:pic>
        <p:nvPicPr>
          <p:cNvPr id="2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6ef7879fd4d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1482148"/>
            <a:ext cx="12192000" cy="37714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1921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主结果：生成质量与检测精度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UAVGen 在两组数据上同时改善 FID 与检测 mAP</a:t>
            </a:r>
            <a:endParaRPr sz="16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35c78f09649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45934" y="1338835"/>
            <a:ext cx="8813800" cy="4605173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VisDrone：mAP 24.5→25.9，FID 48.04→34.34。\nUAVDT：mAP 14.5→16.6，FID 31.99→29.73。</a:t>
            </a:r>
            <a:endParaRPr sz="1400" b="1" kern="100"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67986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消融：两个模块均有贡献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VPC-DM 与 FRE-DP 各带来约 0.7 个 mAP 点提升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仅加入生成图像：mAP 24.5→23.8。\nVPC-DM 完整：25.2；再加入 FRE-DP：25.9。\n焦点区域 256 分辨率表现最佳。</a:t>
            </a:r>
          </a:p>
        </p:txBody>
      </p:sp>
      <p:pic>
        <p:nvPicPr>
          <p:cNvPr id="2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e7f2c118b44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00806" y="1338835"/>
            <a:ext cx="8210456" cy="4813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909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迁移效果、数据效率与边界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+mn-ea"/>
                <a:ea typeface="+mn-ea"/>
                <a:cs typeface="+mn-ea"/>
              </a:rPr>
              <a:t>结论适用于所测数据与检测器；真实场景泛化仍是后续问题</a:t>
            </a:r>
            <a:endParaRPr sz="16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RemDet-X：mAP 29.8→30.2。\n仅增 100 张合成图，mAP 25.0，接近 AeroGen 用 6474 张图的 24.9。\n跨高度与视角变化仍待验证。</a:t>
            </a:r>
          </a:p>
        </p:txBody>
      </p:sp>
      <p:pic>
        <p:nvPicPr>
          <p:cNvPr id="2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835f0980842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10306" y="1338835"/>
            <a:ext cx="8638185" cy="45743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479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B7E99A8-F050-47E3-ACDE-1E65C726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31950"/>
            <a:ext cx="12192000" cy="2566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160">
              <a:alpha val="81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f20bc58eb4fcc">
            <a:alphaModFix amt="20000"/>
          </a:blip>
          <a:srcRect xmlns:a="http://schemas.openxmlformats.org/drawingml/2006/main" l="712" t="0" r="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31950"/>
            <a:ext cx="12191999" cy="25543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dist="50800" dir="2520000" algn="ctr" rotWithShape="0">
              <a:srgbClr val="000000"/>
            </a:outerShdw>
            <a:softEdge rad="0"/>
          </a:effectLst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D5FC207-3CC1-4D65-A72E-5B30FF03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938" y="1946398"/>
            <a:ext cx="8730343" cy="1938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defTabSz="457200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sz="4000"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感谢聆听！\n欢迎批评指正！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2122402263"/>
      </p:ext>
    </p:extLst>
  </p:cSld>
</p:sld>
</file>

<file path=ppt/theme/theme1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2026-09-12T07:23:59.2660000Z</dcterms:created>
  <dcterms:modified xsi:type="dcterms:W3CDTF">2026-09-12T07:23:59.2660000Z</dcterms:modified>
</coreProperties>
</file>
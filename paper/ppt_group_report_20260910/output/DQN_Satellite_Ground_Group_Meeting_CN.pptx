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80b0031bc04dd9" /><Relationship Type="http://schemas.openxmlformats.org/officeDocument/2006/relationships/extended-properties" Target="/docProps/app.xml" Id="R1a1e35460c4b475b" /><Relationship Type="http://schemas.openxmlformats.org/officeDocument/2006/relationships/officeDocument" Target="/ppt/presentation.xml" Id="R669299fabffd46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a286af938445e2"/>
  </p:sldMasterIdLst>
  <p:notesMasterIdLst>
    <p:notesMasterId xmlns:r="http://schemas.openxmlformats.org/officeDocument/2006/relationships" r:id="R4521b716ac0f4c36"/>
  </p:notesMasterIdLst>
  <p:sldIdLst>
    <p:sldId xmlns:r="http://schemas.openxmlformats.org/officeDocument/2006/relationships" id="256" r:id="R6e9c5c69c6cb48d1"/>
    <p:sldId xmlns:r="http://schemas.openxmlformats.org/officeDocument/2006/relationships" id="257" r:id="R255ad206c1c74ba4"/>
    <p:sldId xmlns:r="http://schemas.openxmlformats.org/officeDocument/2006/relationships" id="258" r:id="R592b451171a242bb"/>
    <p:sldId xmlns:r="http://schemas.openxmlformats.org/officeDocument/2006/relationships" id="259" r:id="Rae9aacf0210a40d0"/>
    <p:sldId xmlns:r="http://schemas.openxmlformats.org/officeDocument/2006/relationships" id="260" r:id="R55bb01acc8f94e06"/>
    <p:sldId xmlns:r="http://schemas.openxmlformats.org/officeDocument/2006/relationships" id="261" r:id="R292967606fe246ab"/>
    <p:sldId xmlns:r="http://schemas.openxmlformats.org/officeDocument/2006/relationships" id="262" r:id="R97017f85dd8a4c25"/>
    <p:sldId xmlns:r="http://schemas.openxmlformats.org/officeDocument/2006/relationships" id="263" r:id="Ra922b5a0e0874202"/>
    <p:sldId xmlns:r="http://schemas.openxmlformats.org/officeDocument/2006/relationships" id="264" r:id="R8a6721c6abfc46ec"/>
    <p:sldId xmlns:r="http://schemas.openxmlformats.org/officeDocument/2006/relationships" id="265" r:id="Rd16289e0a01a4501"/>
    <p:sldId xmlns:r="http://schemas.openxmlformats.org/officeDocument/2006/relationships" id="266" r:id="R01b7f687a4a643f8"/>
    <p:sldId xmlns:r="http://schemas.openxmlformats.org/officeDocument/2006/relationships" id="267" r:id="R3d6b47cd896a4306"/>
    <p:sldId xmlns:r="http://schemas.openxmlformats.org/officeDocument/2006/relationships" id="268" r:id="R8a99a4d5548b4169"/>
    <p:sldId xmlns:r="http://schemas.openxmlformats.org/officeDocument/2006/relationships" id="269" r:id="Rb7399d5cf325442b"/>
    <p:sldId xmlns:r="http://schemas.openxmlformats.org/officeDocument/2006/relationships" id="270" r:id="Rff4b03a9b5854feb"/>
    <p:sldId xmlns:r="http://schemas.openxmlformats.org/officeDocument/2006/relationships" id="271" r:id="R21c71d6e46314d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666bc769624c0f" /><Relationship Type="http://schemas.openxmlformats.org/officeDocument/2006/relationships/slideMaster" Target="/ppt/slideMasters/slideMaster1.xml" Id="R9ba286af938445e2" /><Relationship Type="http://schemas.openxmlformats.org/officeDocument/2006/relationships/notesMaster" Target="/ppt/notesMasters/notesMaster1.xml" Id="R4521b716ac0f4c36" /><Relationship Type="http://schemas.openxmlformats.org/officeDocument/2006/relationships/presProps" Target="/ppt/presProps.xml" Id="R809b4cba3e7644b8" /><Relationship Type="http://schemas.openxmlformats.org/officeDocument/2006/relationships/viewProps" Target="/ppt/viewProps.xml" Id="R775bbdb025c0490b" /><Relationship Type="http://schemas.openxmlformats.org/officeDocument/2006/relationships/tableStyles" Target="/ppt/tableStyles.xml" Id="R091b29cd3650427f" /><Relationship Type="http://schemas.openxmlformats.org/officeDocument/2006/relationships/slide" Target="/ppt/slides/slide1.xml" Id="R6e9c5c69c6cb48d1" /><Relationship Type="http://schemas.openxmlformats.org/officeDocument/2006/relationships/slide" Target="/ppt/slides/slide2.xml" Id="R255ad206c1c74ba4" /><Relationship Type="http://schemas.openxmlformats.org/officeDocument/2006/relationships/slide" Target="/ppt/slides/slide3.xml" Id="R592b451171a242bb" /><Relationship Type="http://schemas.openxmlformats.org/officeDocument/2006/relationships/slide" Target="/ppt/slides/slide4.xml" Id="Rae9aacf0210a40d0" /><Relationship Type="http://schemas.openxmlformats.org/officeDocument/2006/relationships/slide" Target="/ppt/slides/slide5.xml" Id="R55bb01acc8f94e06" /><Relationship Type="http://schemas.openxmlformats.org/officeDocument/2006/relationships/slide" Target="/ppt/slides/slide6.xml" Id="R292967606fe246ab" /><Relationship Type="http://schemas.openxmlformats.org/officeDocument/2006/relationships/slide" Target="/ppt/slides/slide7.xml" Id="R97017f85dd8a4c25" /><Relationship Type="http://schemas.openxmlformats.org/officeDocument/2006/relationships/slide" Target="/ppt/slides/slide8.xml" Id="Ra922b5a0e0874202" /><Relationship Type="http://schemas.openxmlformats.org/officeDocument/2006/relationships/slide" Target="/ppt/slides/slide9.xml" Id="R8a6721c6abfc46ec" /><Relationship Type="http://schemas.openxmlformats.org/officeDocument/2006/relationships/slide" Target="/ppt/slides/slide10.xml" Id="Rd16289e0a01a4501" /><Relationship Type="http://schemas.openxmlformats.org/officeDocument/2006/relationships/slide" Target="/ppt/slides/slide11.xml" Id="R01b7f687a4a643f8" /><Relationship Type="http://schemas.openxmlformats.org/officeDocument/2006/relationships/slide" Target="/ppt/slides/slide12.xml" Id="R3d6b47cd896a4306" /><Relationship Type="http://schemas.openxmlformats.org/officeDocument/2006/relationships/slide" Target="/ppt/slides/slide13.xml" Id="R8a99a4d5548b4169" /><Relationship Type="http://schemas.openxmlformats.org/officeDocument/2006/relationships/slide" Target="/ppt/slides/slide14.xml" Id="Rb7399d5cf325442b" /><Relationship Type="http://schemas.openxmlformats.org/officeDocument/2006/relationships/slide" Target="/ppt/slides/slide15.xml" Id="Rff4b03a9b5854feb" /><Relationship Type="http://schemas.openxmlformats.org/officeDocument/2006/relationships/slide" Target="/ppt/slides/slide16.xml" Id="R21c71d6e46314d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f36c12469d45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0de5c6c41046f9" /><Relationship Type="http://schemas.openxmlformats.org/officeDocument/2006/relationships/notesMaster" Target="/ppt/notesMasters/notesMaster1.xml" Id="R75995f34831e46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c3b5234be344be" /><Relationship Type="http://schemas.openxmlformats.org/officeDocument/2006/relationships/notesMaster" Target="/ppt/notesMasters/notesMaster1.xml" Id="Rbb17cc5ee08247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2d01fda94948a8" /><Relationship Type="http://schemas.openxmlformats.org/officeDocument/2006/relationships/notesMaster" Target="/ppt/notesMasters/notesMaster1.xml" Id="R600d75a9ba2d4a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2bfa0c5ee54b10" /><Relationship Type="http://schemas.openxmlformats.org/officeDocument/2006/relationships/notesMaster" Target="/ppt/notesMasters/notesMaster1.xml" Id="R80b5e7ab82464f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e2739e599f4614" /><Relationship Type="http://schemas.openxmlformats.org/officeDocument/2006/relationships/notesMaster" Target="/ppt/notesMasters/notesMaster1.xml" Id="Rb4bfcd8f504943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57de30f9e84196" /><Relationship Type="http://schemas.openxmlformats.org/officeDocument/2006/relationships/notesMaster" Target="/ppt/notesMasters/notesMaster1.xml" Id="R90c2cf4c96ba42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0cfb2483474b45" /><Relationship Type="http://schemas.openxmlformats.org/officeDocument/2006/relationships/notesMaster" Target="/ppt/notesMasters/notesMaster1.xml" Id="R2f12b96caf0844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518913587f4962" /><Relationship Type="http://schemas.openxmlformats.org/officeDocument/2006/relationships/notesMaster" Target="/ppt/notesMasters/notesMaster1.xml" Id="R3d5ea6ea630b40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dbc78b438c43f1" /><Relationship Type="http://schemas.openxmlformats.org/officeDocument/2006/relationships/notesMaster" Target="/ppt/notesMasters/notesMaster1.xml" Id="Re8ff2ee6508b4a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be2e759d3c4b35" /><Relationship Type="http://schemas.openxmlformats.org/officeDocument/2006/relationships/notesMaster" Target="/ppt/notesMasters/notesMaster1.xml" Id="R965b552a470945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f5aba7bd0d4fbc" /><Relationship Type="http://schemas.openxmlformats.org/officeDocument/2006/relationships/notesMaster" Target="/ppt/notesMasters/notesMaster1.xml" Id="R69c57d24a3a147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c0923a95254577" /><Relationship Type="http://schemas.openxmlformats.org/officeDocument/2006/relationships/notesMaster" Target="/ppt/notesMasters/notesMaster1.xml" Id="R78bad1deefb746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2a8a11dc3a472d" /><Relationship Type="http://schemas.openxmlformats.org/officeDocument/2006/relationships/notesMaster" Target="/ppt/notesMasters/notesMaster1.xml" Id="R357826d1332e46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c4fb791b5e4582" /><Relationship Type="http://schemas.openxmlformats.org/officeDocument/2006/relationships/notesMaster" Target="/ppt/notesMasters/notesMaster1.xml" Id="R74c135eb5df744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3a00b44ca24b85" /><Relationship Type="http://schemas.openxmlformats.org/officeDocument/2006/relationships/notesMaster" Target="/ppt/notesMasters/notesMaster1.xml" Id="Rbebf09f2bc6c44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5d429d33144f9f" /><Relationship Type="http://schemas.openxmlformats.org/officeDocument/2006/relationships/notesMaster" Target="/ppt/notesMasters/notesMaster1.xml" Id="R323f495f424e42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开场：本报告介绍当前论文的核心问题、方法、统计证据与适用边界。题目和作者信息来自 manuscript.tex；视觉风格及标识来自用户指定模板。建议用 30 秒说明研究对象不是一般任务分配，而是带持续资源状态的卫星—地面序贯调度。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汇报分为四部分：先界定资源耦合调度问题，再说明可复现基准与六种 DQN 目标，随后展示跨场景、跨随机种子的统计证据，最后讨论边界和结论。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manuscript.tex 的 System Model 与 Introduction。强调资源是持久状态而不是独立任务属性。三个动作共同作用于六类资源，因此贪心选择可能把代价推迟到后续时段。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Introduction 末尾现版本保留的三项贡献。第四点已按作者要求删除，因此本页不新增额外贡献。讲述时突出“匹配条件”和“联合统计证据”，避免把结论泛化到真实飞行环境。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 Fig. 1。上方是 onboard、ground、collaborative 三种动作，下方是动作后持续演化的资源量。建议按从任务输入到动作、再到资源状态的顺序讲图。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对应论文任务生成器审计图。20,000 个独立任务用于检查生成关系，数据量与工作量相关系数为 0.660。需要主动说明：该生成器是可控、可复现的合成基准，不是对真实飞行分布的经验拟合。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DQN Objective Family。Standard 为事实动作 Bellman；Full-action Q、Immediate advantage、Centered 引入不同的全动作辅助；Double 使用解耦选择与评估；Double + centered 组合两者。这里不把辅助监督表述为额外环境交互，因为它来自同一状态下的模型化动作评价。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Experimental Design。五个完全耦合场景是 nominal、burst、link-limited、energy-limited、thermal-stress。每个模型种子在 20 条共享 held-out 轨迹上评测。30 个对比来自 6 个 DQN 目标乘 5 个场景。联合 bootstrap 使用 10,000 次重采样，符号检验按 Holm 校正。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对应论文主结果图。静态和 reduced 场景用于诊断模型在耦合减弱时的行为，主要结论只基于右侧五个 fully coupled regimes。不要把 DQN 在所有七种场景中的排序笼统表述为无条件最优。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核心结论页。差值定义为 DQN 成本减 MPC-4 成本，因此负值表示 DQN 更好。30 个均值差全部为负，且每个配对 95% 区间排除 0。跨全部比较的同时 95% 上界为 −5.03；最不利均值差为 −5.92；Holm 校正符号检验最大 p 值为 5.722e−05。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 DQN-family 细分结果。Nominal 下六种目标范围为 77.66–78.40，远小于它们与 MPC-4（90.83）的差距。Centered 在若干场景中最低，但家族内部区间显示差异较小且依场景变化，因此不要宣称 centered 普遍最优。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对应规划深度消融。H=1、2、4、6 的成本分别为 99.33、92.80、90.83、89.35，运行时间为 0.13、0.50、4.82、42.50 ms。该表基于 400 条 held-out 轨迹。必须保留限定：没有在同一硬件和实现条件下测量 DQN 推理延迟，因此不能据此声称 DQN 在墙钟时间上快于 MPC。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左侧参数敏感性覆盖 8 个剖面，Centered 相对 Standard 的改善约 0.50%–1.66%，所有配对区间低于 0。右侧预览误差把规划输入统一缩放为 0.85 或 1.15，两种情况下都只有 3/5 场景满足原支持判据，因此只能称部分稳健，不能称对预览误差完全鲁棒。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对应训练诊断和工程分解。曲线在约 220 episodes 后趋于稳定。与 MPC-4 相比，Standard DQN 在五个 fully coupled regimes 中具有更低的延迟惩罚、建模能耗、时延和传输数据量。两者 clipped energy 都到 0，DQN 最大热状态略高，因此应作为资源权衡而不是全面占优来呈现。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Discussion 和 Data Availability。公开仓库地址来自论文数据可用性声明。边界措辞按当前稿件的审慎表述，不把合成基准结果外推为真实在轨性能。这里可用 45 秒说明后续验证路线。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收束在三点：一是家族相对 MPC-4 的统计优势；二是家族内部没有普遍赢家；三是规划质量与计算代价的权衡。最后邀请讨论真实数据标定、硬约束和在线部署评测。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a8c4a7c8d43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2f9bbc513e4aba" /><Relationship Type="http://schemas.openxmlformats.org/officeDocument/2006/relationships/image" Target="/ppt/media/image.png" Id="R1d031f3a78244b48" /><Relationship Type="http://schemas.openxmlformats.org/officeDocument/2006/relationships/image" Target="/ppt/media/image2.png" Id="Rd0b4bbfa279f4ce4" /></Relationships>
</file>

<file path=ppt/slideLayouts/slideLayout1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ECB855DD-69EB-E866-D5B9-91F69EAA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100"/>
            <a:ext cx="12192000" cy="153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1275" cmpd="sng">
            <a:gradFill rotWithShape="1">
              <a:gsLst>
                <a:gs pos="0">
                  <a:srgbClr val="0070C0"/>
                </a:gs>
                <a:gs pos="43000">
                  <a:srgbClr val="4090A7"/>
                </a:gs>
                <a:gs pos="93000">
                  <a:schemeClr val="bg1"/>
                </a:gs>
              </a:gsLst>
              <a:lin ang="0" scaled="1"/>
              <a:tileRect/>
            </a:gra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37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Constantia"/>
              <a:ea typeface="Constantia"/>
              <a:cs typeface="Constantia"/>
            </a:endParaRPr>
          </a:p>
        </p:txBody>
      </p:sp>
      <p:pic>
        <p:nvPicPr>
          <p:cNvPr id="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31f3a78244b48"/>
          <a:srcRect xmlns:a="http://schemas.openxmlformats.org/drawingml/2006/main" l="2734" t="5571" r="72733" b="7404"/>
          <a:stretch xmlns:a="http://schemas.openxmlformats.org/drawingml/2006/main"/>
        </p:blipFill>
        <p:spPr>
          <a:xfrm xmlns:a="http://schemas.openxmlformats.org/drawingml/2006/main">
            <a:off x="11242964" y="46135"/>
            <a:ext cx="834156" cy="720620"/>
          </a:xfrm>
          <a:prstGeom xmlns:a="http://schemas.openxmlformats.org/drawingml/2006/main" prst="rect">
            <a:avLst/>
          </a:prstGeom>
        </p:spPr>
      </p:pic>
      <p:pic>
        <p:nvPicPr>
          <p:cNvPr id="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4bbfa279f4ce4"/>
          <a:srcRect xmlns:a="http://schemas.openxmlformats.org/drawingml/2006/main" l="16887" t="12347" r="7013" b="1495"/>
          <a:stretch xmlns:a="http://schemas.openxmlformats.org/drawingml/2006/main"/>
        </p:blipFill>
        <p:spPr>
          <a:xfrm xmlns:a="http://schemas.openxmlformats.org/drawingml/2006/main">
            <a:off x="10418907" y="127682"/>
            <a:ext cx="699943" cy="66982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ea4bc6f6944037" /><Relationship Type="http://schemas.openxmlformats.org/officeDocument/2006/relationships/slideLayout" Target="/ppt/slideLayouts/slideLayout1.xml" Id="R4b7d59f5746f4785" /><Relationship Type="http://schemas.openxmlformats.org/officeDocument/2006/relationships/slideLayout" Target="/ppt/slideLayouts/slideLayout2.xml" Id="Ra2edfeaea3c34de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7d59f5746f4785"/>
    <p:sldLayoutId xmlns:r="http://schemas.openxmlformats.org/officeDocument/2006/relationships" id="2147483650" r:id="Ra2edfeaea3c34dee"/>
  </p:sldLayoutIdLst>
  <p:txStyles>
    <p:titleStyle>
      <a:lvl1pPr xmlns:a="http://schemas.openxmlformats.org/drawingml/2006/main" algn="l">
        <a:spcBef>
          <a:spcPct val="0"/>
        </a:spcBef>
        <a:buNone/>
        <a:defRPr sz="3600" kern="1200" cap="all" baseline="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892" indent="-342892" algn="l">
        <a:spcBef>
          <a:spcPct val="20000"/>
        </a:spcBef>
        <a:buClr>
          <a:schemeClr val="accent1"/>
        </a:buClr>
        <a:buSzPct val="70000"/>
        <a:buFont typeface="Wingdings 2"/>
        <a:buChar char=""/>
        <a:defRPr sz="3200" kern="1200">
          <a:solidFill>
            <a:schemeClr val="tx2"/>
          </a:solidFill>
          <a:latin typeface="+mn-lt"/>
          <a:ea typeface="+mn-lt"/>
          <a:cs typeface="+mn-lt"/>
        </a:defRPr>
      </a:lvl1pPr>
      <a:lvl2pPr xmlns:a="http://schemas.openxmlformats.org/drawingml/2006/main" marL="742931" indent="-285743" algn="l">
        <a:spcBef>
          <a:spcPct val="20000"/>
        </a:spcBef>
        <a:buClr>
          <a:schemeClr val="accent1"/>
        </a:buClr>
        <a:buSzPct val="70000"/>
        <a:buFont typeface="Wingdings 2"/>
        <a:buChar char=""/>
        <a:defRPr sz="2800" kern="1200">
          <a:solidFill>
            <a:schemeClr val="tx2"/>
          </a:solidFill>
          <a:latin typeface="+mn-lt"/>
          <a:ea typeface="+mn-lt"/>
          <a:cs typeface="+mn-lt"/>
        </a:defRPr>
      </a:lvl2pPr>
      <a:lvl3pPr xmlns:a="http://schemas.openxmlformats.org/drawingml/2006/main" marL="1142972" indent="-228594" algn="l">
        <a:spcBef>
          <a:spcPct val="20000"/>
        </a:spcBef>
        <a:buClr>
          <a:schemeClr val="accent1"/>
        </a:buClr>
        <a:buSzPct val="70000"/>
        <a:buFont typeface="Wingdings 2"/>
        <a:buChar char=""/>
        <a:defRPr sz="2400" kern="1200">
          <a:solidFill>
            <a:schemeClr val="tx2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>
        <a:spcBef>
          <a:spcPct val="20000"/>
        </a:spcBef>
        <a:buClr>
          <a:schemeClr val="accent1"/>
        </a:buClr>
        <a:buSzPct val="70000"/>
        <a:buFont typeface="Wingdings 2"/>
        <a:buChar char=""/>
        <a:defRPr sz="2000" kern="1200">
          <a:solidFill>
            <a:schemeClr val="tx2"/>
          </a:solidFill>
          <a:latin typeface="+mn-lt"/>
          <a:ea typeface="+mn-lt"/>
          <a:cs typeface="+mn-lt"/>
        </a:defRPr>
      </a:lvl4pPr>
      <a:lvl5pPr xmlns:a="http://schemas.openxmlformats.org/drawingml/2006/main" marL="2057348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"/>
        <a:defRPr sz="1800" kern="1200">
          <a:solidFill>
            <a:schemeClr val="tx2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"/>
        <a:defRPr sz="1800" kern="1200">
          <a:solidFill>
            <a:schemeClr val="tx2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"/>
        <a:defRPr sz="1600" kern="1200">
          <a:solidFill>
            <a:schemeClr val="tx2"/>
          </a:solidFill>
          <a:latin typeface="+mn-lt"/>
          <a:ea typeface="+mn-lt"/>
          <a:cs typeface="+mn-lt"/>
        </a:defRPr>
      </a:lvl7pPr>
      <a:lvl8pPr xmlns:a="http://schemas.openxmlformats.org/drawingml/2006/main" marL="3428915" indent="-228594" algn="l">
        <a:spcBef>
          <a:spcPct val="20000"/>
        </a:spcBef>
        <a:buClr>
          <a:schemeClr val="accent1"/>
        </a:buClr>
        <a:buSzPct val="60000"/>
        <a:buFont typeface="Wingdings 2"/>
        <a:buChar char=""/>
        <a:defRPr sz="1600" kern="1200" baseline="0">
          <a:solidFill>
            <a:schemeClr val="tx2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>
        <a:spcBef>
          <a:spcPct val="20000"/>
        </a:spcBef>
        <a:buClr>
          <a:schemeClr val="accent1"/>
        </a:buClr>
        <a:buSzPct val="60000"/>
        <a:buFont typeface="Wingdings 2"/>
        <a:buChar char="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8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2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bc7afdf4ef409d" /><Relationship Type="http://schemas.openxmlformats.org/officeDocument/2006/relationships/image" Target="/ppt/media/image3.png" Id="R7cfc494a2ec84a04" /><Relationship Type="http://schemas.openxmlformats.org/officeDocument/2006/relationships/image" Target="/ppt/media/image4.png" Id="Ra8639e10e05644ce" /><Relationship Type="http://schemas.openxmlformats.org/officeDocument/2006/relationships/image" Target="/ppt/media/image5.png" Id="R054577e1d0364f02" /><Relationship Type="http://schemas.openxmlformats.org/officeDocument/2006/relationships/notesSlide" Target="/ppt/notesSlides/notesSlide1.xml" Id="Rc8b9b65d9a8f43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0170fc418f4aba" /><Relationship Type="http://schemas.openxmlformats.org/officeDocument/2006/relationships/image" Target="/ppt/media/image6.png" Id="Rbb96c68941b84377" /><Relationship Type="http://schemas.openxmlformats.org/officeDocument/2006/relationships/image" Target="/ppt/media/image7.png" Id="R288569ed1e134b4f" /><Relationship Type="http://schemas.openxmlformats.org/officeDocument/2006/relationships/notesSlide" Target="/ppt/notesSlides/notesSlide2.xml" Id="Rd5c1db8024e544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2d8ffffba54929" /><Relationship Type="http://schemas.openxmlformats.org/officeDocument/2006/relationships/image" Target="/ppt/media/image8.png" Id="R2cc99cdeaf2b4a1a" /><Relationship Type="http://schemas.openxmlformats.org/officeDocument/2006/relationships/image" Target="/ppt/media/image9.png" Id="R483203b7835a4233" /><Relationship Type="http://schemas.openxmlformats.org/officeDocument/2006/relationships/notesSlide" Target="/ppt/notesSlides/notesSlide3.xml" Id="R60dfc8a53f1f44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fb59ca9121489a" /><Relationship Type="http://schemas.openxmlformats.org/officeDocument/2006/relationships/image" Target="/ppt/media/image10.png" Id="R2bfa1499ed964c52" /><Relationship Type="http://schemas.openxmlformats.org/officeDocument/2006/relationships/image" Target="/ppt/media/image11.png" Id="R3d4c385fb7444152" /><Relationship Type="http://schemas.openxmlformats.org/officeDocument/2006/relationships/notesSlide" Target="/ppt/notesSlides/notesSlide4.xml" Id="Rf2a84ce359ea47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5a7bd2701944c5" /><Relationship Type="http://schemas.openxmlformats.org/officeDocument/2006/relationships/image" Target="/ppt/media/image12.png" Id="R8f547dafae2d4e34" /><Relationship Type="http://schemas.openxmlformats.org/officeDocument/2006/relationships/image" Target="/ppt/media/image13.png" Id="R1da3135bfe6244ee" /><Relationship Type="http://schemas.openxmlformats.org/officeDocument/2006/relationships/image" Target="/ppt/media/image14.png" Id="Rc95a98e5db33475c" /><Relationship Type="http://schemas.openxmlformats.org/officeDocument/2006/relationships/notesSlide" Target="/ppt/notesSlides/notesSlide5.xml" Id="Re6bcee8a6c0740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d9b5847d1342a8" /><Relationship Type="http://schemas.openxmlformats.org/officeDocument/2006/relationships/image" Target="/ppt/media/image15.png" Id="R40a8a474faab4e27" /><Relationship Type="http://schemas.openxmlformats.org/officeDocument/2006/relationships/image" Target="/ppt/media/image16.png" Id="R55c63494ff164481" /><Relationship Type="http://schemas.openxmlformats.org/officeDocument/2006/relationships/image" Target="/ppt/media/image17.png" Id="R330bfb9e94f64be6" /><Relationship Type="http://schemas.openxmlformats.org/officeDocument/2006/relationships/notesSlide" Target="/ppt/notesSlides/notesSlide6.xml" Id="Ra5d8b3ef082248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5faf758d1749df" /><Relationship Type="http://schemas.openxmlformats.org/officeDocument/2006/relationships/image" Target="/ppt/media/image18.png" Id="Rba827e9480f14453" /><Relationship Type="http://schemas.openxmlformats.org/officeDocument/2006/relationships/image" Target="/ppt/media/image19.png" Id="R94e41fba105f45fc" /><Relationship Type="http://schemas.openxmlformats.org/officeDocument/2006/relationships/notesSlide" Target="/ppt/notesSlides/notesSlide7.xml" Id="R989e686cbf5948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8add23ce9f401c" /><Relationship Type="http://schemas.openxmlformats.org/officeDocument/2006/relationships/image" Target="/ppt/media/image20.png" Id="Rc086a4c655dc497e" /><Relationship Type="http://schemas.openxmlformats.org/officeDocument/2006/relationships/image" Target="/ppt/media/image21.png" Id="R0a62fb1fb3504b86" /><Relationship Type="http://schemas.openxmlformats.org/officeDocument/2006/relationships/notesSlide" Target="/ppt/notesSlides/notesSlide8.xml" Id="Rbf349d9eff274e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ef949535d54bb9" /><Relationship Type="http://schemas.openxmlformats.org/officeDocument/2006/relationships/image" Target="/ppt/media/image22.png" Id="Rc0229c479eb748ee" /><Relationship Type="http://schemas.openxmlformats.org/officeDocument/2006/relationships/image" Target="/ppt/media/image23.png" Id="R2f1ba6d0e1704ccb" /><Relationship Type="http://schemas.openxmlformats.org/officeDocument/2006/relationships/image" Target="/ppt/media/image24.png" Id="Ra9c8599093ac4a82" /><Relationship Type="http://schemas.openxmlformats.org/officeDocument/2006/relationships/notesSlide" Target="/ppt/notesSlides/notesSlide9.xml" Id="R573566be49f944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5e9a04e5b545ee" /><Relationship Type="http://schemas.openxmlformats.org/officeDocument/2006/relationships/image" Target="/ppt/media/image25.png" Id="R5aa2abeab20740aa" /><Relationship Type="http://schemas.openxmlformats.org/officeDocument/2006/relationships/image" Target="/ppt/media/image26.png" Id="R26a2f0c690484f54" /><Relationship Type="http://schemas.openxmlformats.org/officeDocument/2006/relationships/image" Target="/ppt/media/image27.png" Id="Rf282d05fde284507" /><Relationship Type="http://schemas.openxmlformats.org/officeDocument/2006/relationships/notesSlide" Target="/ppt/notesSlides/notesSlide10.xml" Id="R4cdd69e0f2994f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c4dd83979e43a7" /><Relationship Type="http://schemas.openxmlformats.org/officeDocument/2006/relationships/image" Target="/ppt/media/image28.png" Id="R13dc6150f6e9475c" /><Relationship Type="http://schemas.openxmlformats.org/officeDocument/2006/relationships/image" Target="/ppt/media/image29.png" Id="Rb9ce3bc696ad465c" /><Relationship Type="http://schemas.openxmlformats.org/officeDocument/2006/relationships/image" Target="/ppt/media/image30.png" Id="R20eb22a0a38843f7" /><Relationship Type="http://schemas.openxmlformats.org/officeDocument/2006/relationships/notesSlide" Target="/ppt/notesSlides/notesSlide11.xml" Id="Rf2cf8a0465d34a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879daad5f84cf7" /><Relationship Type="http://schemas.openxmlformats.org/officeDocument/2006/relationships/image" Target="/ppt/media/image31.png" Id="R68a020b607974363" /><Relationship Type="http://schemas.openxmlformats.org/officeDocument/2006/relationships/image" Target="/ppt/media/image32.png" Id="R1de2de7d60d84ebf" /><Relationship Type="http://schemas.openxmlformats.org/officeDocument/2006/relationships/notesSlide" Target="/ppt/notesSlides/notesSlide12.xml" Id="R213eb6eeefd54a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3b474591a74a21" /><Relationship Type="http://schemas.openxmlformats.org/officeDocument/2006/relationships/image" Target="/ppt/media/image33.png" Id="R0ef578bf43c3455e" /><Relationship Type="http://schemas.openxmlformats.org/officeDocument/2006/relationships/image" Target="/ppt/media/image34.png" Id="Rb455fc13fdb0410e" /><Relationship Type="http://schemas.openxmlformats.org/officeDocument/2006/relationships/image" Target="/ppt/media/image35.png" Id="R81a769933a274af7" /><Relationship Type="http://schemas.openxmlformats.org/officeDocument/2006/relationships/notesSlide" Target="/ppt/notesSlides/notesSlide13.xml" Id="Ra74cc684ff0141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3f8d1696f646a5" /><Relationship Type="http://schemas.openxmlformats.org/officeDocument/2006/relationships/image" Target="/ppt/media/image36.png" Id="R1955b541bd0b4d23" /><Relationship Type="http://schemas.openxmlformats.org/officeDocument/2006/relationships/image" Target="/ppt/media/image37.png" Id="R3c9ba0c46e4849a4" /><Relationship Type="http://schemas.openxmlformats.org/officeDocument/2006/relationships/image" Target="/ppt/media/image38.png" Id="Rfa9002940d124df4" /><Relationship Type="http://schemas.openxmlformats.org/officeDocument/2006/relationships/notesSlide" Target="/ppt/notesSlides/notesSlide14.xml" Id="Reca8fa76b13843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42ea8b3af44fe0" /><Relationship Type="http://schemas.openxmlformats.org/officeDocument/2006/relationships/image" Target="/ppt/media/image39.png" Id="R121e9f7b335d48f3" /><Relationship Type="http://schemas.openxmlformats.org/officeDocument/2006/relationships/image" Target="/ppt/media/image40.png" Id="R1e2a66d10cf545b0" /><Relationship Type="http://schemas.openxmlformats.org/officeDocument/2006/relationships/notesSlide" Target="/ppt/notesSlides/notesSlide15.xml" Id="R0c5863a337194b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954bcb4f5b41ba" /><Relationship Type="http://schemas.openxmlformats.org/officeDocument/2006/relationships/image" Target="/ppt/media/image41.png" Id="R92ab7f7bcab14986" /><Relationship Type="http://schemas.openxmlformats.org/officeDocument/2006/relationships/image" Target="/ppt/media/image42.png" Id="Rb625d9e2e4574f66" /><Relationship Type="http://schemas.openxmlformats.org/officeDocument/2006/relationships/notesSlide" Target="/ppt/notesSlides/notesSlide16.xml" Id="R11a4272cfb2b4e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4D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c494a2ec84a04"/>
          <a:srcRect xmlns:a="http://schemas.openxmlformats.org/drawingml/2006/main" l="0" t="21381" r="0" b="213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628775"/>
            <a:ext cx="12192000" cy="25622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5C6C8-B06C-4430-8223-F2A897E4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28775"/>
            <a:ext cx="12192000" cy="2562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39e10e05644ce"/>
          <a:stretch xmlns:a="http://schemas.openxmlformats.org/drawingml/2006/main"/>
        </p:blipFill>
        <p:spPr>
          <a:xfrm xmlns:a="http://schemas.openxmlformats.org/drawingml/2006/main">
            <a:off x="266700" y="267526"/>
            <a:ext cx="2905125" cy="712724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577e1d0364f02"/>
          <a:stretch xmlns:a="http://schemas.openxmlformats.org/drawingml/2006/main"/>
        </p:blipFill>
        <p:spPr>
          <a:xfrm xmlns:a="http://schemas.openxmlformats.org/drawingml/2006/main">
            <a:off x="11144250" y="386129"/>
            <a:ext cx="685800" cy="58029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3A488-9956-45C9-85E6-67C22D2A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38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卫星数据智能计算技术实验室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48D51-48DE-4D96-9795-D058AB3C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10191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资源耦合卫星地面调度中</a:t>
            </a:r>
          </a:p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DQN 家族优势的统计证据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A347E-CA42-4BD2-8E1B-473A5014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948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CE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CEAF2"/>
                </a:solidFill>
                <a:latin typeface="Microsoft YaHei"/>
                <a:ea typeface="Microsoft YaHei"/>
                <a:cs typeface="Microsoft YaHei"/>
              </a:rPr>
              <a:t>Statistical Evidence for a DQN-Family Advantage in a Resource-Coupled Satellite-Ground Scheduling Benchmark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0DB95-77AE-4232-B2EA-542690E4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4342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汇报人：杨博丞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2AF87-A219-4AAB-95E0-51A8A8F7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哈尔滨工业大学（深圳）空天科技学院</a:t>
            </a:r>
          </a:p>
          <a:p xmlns:a="http://schemas.openxmlformats.org/drawingml/2006/main">
            <a:pPr algn="ctr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卫星数据智能计算技术实验室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32FDB-C0AD-4B06-AF05-ED3E0ACD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627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2026.09.10</a:t>
            </a:r>
          </a:p>
        </p:txBody>
      </p:sp>
    </p:spTree>
    <p:extLst>
      <p:ext uri="{BB962C8B-B14F-4D97-AF65-F5344CB8AC3E}">
        <p14:creationId xmlns:p14="http://schemas.microsoft.com/office/powerpoint/2010/main" val="6017728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210C4-32BB-47A3-94FC-A2A945E9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汇报提纲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3AD70-66D7-4857-BD76-F5D99BAD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BE8D2-7FBE-4618-A18F-06B47D5E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6c68941b84377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569ed1e134b4f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D093A-87FB-41C4-8D40-059D6B54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B3025-E943-4B06-8F2B-D3B39E65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62100"/>
            <a:ext cx="8953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B3452-A9B9-4D57-BD16-F41789EA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62100"/>
            <a:ext cx="52387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研究背景与问题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DDB7D-3437-417A-9BBD-5B9FAD81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33650"/>
            <a:ext cx="8953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F69EB-0DA1-46E8-9EB3-115A25D6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52387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基准与方法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17719-6D3D-41E0-9ABF-E61031BD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05200"/>
            <a:ext cx="8953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FEA38-4EC1-4641-B1BC-9E29F11D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52387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实验结果与统计证据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FA1AB-D6A9-4162-AAAB-483F69C4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8953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099A1-D889-4AC4-ACEE-815C234B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52387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边界与结论</a:t>
            </a:r>
          </a:p>
        </p:txBody>
      </p:sp>
    </p:spTree>
    <p:extLst>
      <p:ext uri="{BB962C8B-B14F-4D97-AF65-F5344CB8AC3E}">
        <p14:creationId xmlns:p14="http://schemas.microsoft.com/office/powerpoint/2010/main" val="1339294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F1B2EC-1C2C-42F2-9227-FFF9579E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一、研究背景与问题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06348-C8B1-495C-BC9D-391D07F5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一次调度动作会同时改变多个持续资源状态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2026F-6479-48EF-80C7-6E9ED825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99cdeaf2b4a1a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203b7835a4233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2148C-D8EB-4C32-8049-2ECF9CAD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83F93-3465-444B-909D-FD525346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6E32B-B760-4B46-A870-D7FA8A36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关键难点不是单步代价，而是当前动作对后续可行性与累积成本的长期影响。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90A1F-AD93-4438-95C8-5C2EE052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三种处理路径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AB339-7DFC-411E-AF13-CDC1699F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1905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星上处理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7A9AE-1912-4596-8F48-92181B70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onboard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9397C-58AD-4878-A704-7A2B4596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38300"/>
            <a:ext cx="1905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地面处理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5AAD5-E176-4BBB-B336-FA92FBAD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ground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11B93C-222B-4321-A387-7CC9DC37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38300"/>
            <a:ext cx="1905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星地协同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87778-1A4B-44CA-B81F-9DAFBC8D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collaborative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6B8B7-EC8F-44A5-8EED-8DBCE6AF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76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持续演化的六类资源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C516B-6AB5-4B1D-B36C-91C2A698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热状态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6B83C-508B-479C-A59E-71CD46A3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337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能量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B1600B-E2B4-4532-A8A3-873D0DEF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337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任务队列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DA268E-8698-443A-B439-ACEFF2A5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计算利用率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60A0C8-86DD-4D54-B586-2A792729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576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链路带宽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BDB658-5738-40EF-ABDF-A50F0794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576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接触时长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616F6-C11D-43D6-92DE-BD95C1AF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81125"/>
            <a:ext cx="3857625" cy="3743325"/>
          </a:xfrm>
          <a:prstGeom xmlns:a="http://schemas.openxmlformats.org/drawingml/2006/main" prst="roundRect">
            <a:avLst>
              <a:gd name="adj" fmla="val 152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18EC3-58B3-47AA-A9C9-41928330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资源耦合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FA0D5C-CE2C-47A4-BB8A-F57C2E58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2905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动作会改变热、能量、队列和链路状态；</a:t>
            </a:r>
          </a:p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这些状态又共同决定后续动作的代价。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EBAACD-C453-4722-86A6-472B38A9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957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D9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748B32-5B57-43D6-89BD-A31E14A7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2905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长期价值学习用于显式处理</a:t>
            </a:r>
          </a:p>
          <a:p xmlns:a="http://schemas.openxmlformats.org/drawingml/2006/main">
            <a:pPr algn="ctr">
              <a:def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跨时段影响与软约束惩罚</a:t>
            </a:r>
          </a:p>
        </p:txBody>
      </p:sp>
    </p:spTree>
    <p:extLst>
      <p:ext uri="{BB962C8B-B14F-4D97-AF65-F5344CB8AC3E}">
        <p14:creationId xmlns:p14="http://schemas.microsoft.com/office/powerpoint/2010/main" val="82603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128EA7-8B01-4B96-89F1-866F91AB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一、研究背景与问题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5E550-4CDE-430B-A857-A0A66F14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研究问题与三项贡献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C4800-3F67-498B-A319-0D3C9574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a1499ed964c52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c385fb7444152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59035-7B7F-46E5-84C5-DE6CD06D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A915B-50DC-48A7-8707-BE045E23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C905A-1C92-4C8C-B599-65E28FA6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研究目标：在匹配训练预算和交互数据的条件下，检验 DQN 家族相对短视规划的稳定优势。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DB955-11FF-44C0-8535-9CB8744A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现有证据缺口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70884-41F4-413B-9D5A-9897FF3A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10858500" cy="6858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许多调度研究在算法、训练预算、测试轨迹和统计检验上并不完全可比，</a:t>
            </a:r>
          </a:p>
          <a:p xmlns:a="http://schemas.openxmlformats.org/drawingml/2006/main">
            <a:pPr algn="l">
              <a:defRPr sz="17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难以区分“算法优势”与“实验配置优势”。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AB89A-EAFD-4D37-9D8E-1A9E47E7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86DD8-6880-4B21-8149-5911D3B5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67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可复现资源耦合基准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902B9-F71A-45BF-AC46-2046A5E6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52750"/>
            <a:ext cx="9677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统一任务生成、资源状态、软约束和评测轨迹。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BEBD8-6C76-4F91-A4AC-AF492B90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5E6B4-97C3-4F47-BE4F-8782CCEA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57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匹配条件下比较六种 DQN 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F2EFF-9B0E-4925-A062-9C1315BE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43350"/>
            <a:ext cx="9677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共享网络结构、训练交互和测试场景，仅改变学习目标。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2D9DF7-DBB7-48B3-BED5-BFF0946B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DF752-FEE0-417B-8A6F-D27A6A64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用联合统计证据界定结论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4054B-11BC-4BD0-B739-96BF51CB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33950"/>
            <a:ext cx="9677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跨 20 个模型种子与共享轨迹，报告联合区间、符号检验与敏感性结果。</a:t>
            </a:r>
          </a:p>
        </p:txBody>
      </p:sp>
    </p:spTree>
    <p:extLst>
      <p:ext uri="{BB962C8B-B14F-4D97-AF65-F5344CB8AC3E}">
        <p14:creationId xmlns:p14="http://schemas.microsoft.com/office/powerpoint/2010/main" val="1579953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DC587-D199-411D-BD4D-38033E72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二、基准与方法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AFA96-242A-4773-97FD-EA6E90B3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系统模型：动作路径与六类后置资源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62FC2-B9DA-4354-BA92-4B14B001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47dafae2d4e34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3135bfe6244ee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B571A-6849-413A-8C4D-9870D724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827FA-4BC2-44A2-9A76-71AB33F3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5C36F-5EB3-4183-AF15-4AB6413A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同一任务在三种处理路径之间选择；每条路径对应不同的资源消耗与后续状态。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a98e5db33475c"/>
          <a:stretch xmlns:a="http://schemas.openxmlformats.org/drawingml/2006/main"/>
        </p:blipFill>
        <p:spPr>
          <a:xfrm xmlns:a="http://schemas.openxmlformats.org/drawingml/2006/main">
            <a:off x="2737522" y="1200150"/>
            <a:ext cx="6716957" cy="4524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34063-81FA-4A8F-BCCD-425D3838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626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1（manuscript.tex）</a:t>
            </a:r>
          </a:p>
        </p:txBody>
      </p:sp>
    </p:spTree>
    <p:extLst>
      <p:ext uri="{BB962C8B-B14F-4D97-AF65-F5344CB8AC3E}">
        <p14:creationId xmlns:p14="http://schemas.microsoft.com/office/powerpoint/2010/main" val="2109654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B750E-FA16-4888-87A2-DEA45C04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二、基准与方法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22D5F-302E-40F1-9AC0-692F146F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合成任务生成器：保留任务属性间的物理一致性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AE804-BD82-4F07-81F3-99692969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8a474faab4e27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63494ff164481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F9A7B-D558-4B56-AC7E-736F058C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0D993-E4CA-4055-BAB6-0F461331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0D2FD-884E-4A30-9854-9B300982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生成器用于受控统计比较；它体现一致性约束，但不声称拟合真实在轨任务分布。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bfb9e94f64be6"/>
          <a:stretch xmlns:a="http://schemas.openxmlformats.org/drawingml/2006/main"/>
        </p:blipFill>
        <p:spPr>
          <a:xfrm xmlns:a="http://schemas.openxmlformats.org/drawingml/2006/main">
            <a:off x="523875" y="1508959"/>
            <a:ext cx="7858125" cy="379245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D1F9B-8DC6-413E-8335-F86A474E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66875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20,000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F223F-CAC9-46D2-A2F8-A1B66743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7170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独立物理审计任务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EAF25-5680-4B94-8DC1-D9BAF2D8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76550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0.660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A3729-2AB1-4C40-AD67-84B5C7F3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813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数据量—工作量相关系数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58728-9E90-4706-B3CE-C5633F0B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148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设计原则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1F8B6-94E2-4673-8749-75BE6E4E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22383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任务属性相关</a:t>
            </a:r>
          </a:p>
          <a:p xmlns:a="http://schemas.openxmlformats.org/drawingml/2006/main">
            <a:pPr algn="ctr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资源转换可解释</a:t>
            </a:r>
          </a:p>
          <a:p xmlns:a="http://schemas.openxmlformats.org/drawingml/2006/main">
            <a:pPr algn="ctr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随机性可复现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4757D-D9FD-42D4-8F04-C5292B94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2</a:t>
            </a:r>
          </a:p>
        </p:txBody>
      </p:sp>
    </p:spTree>
    <p:extLst>
      <p:ext uri="{BB962C8B-B14F-4D97-AF65-F5344CB8AC3E}">
        <p14:creationId xmlns:p14="http://schemas.microsoft.com/office/powerpoint/2010/main" val="8252113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9A9B3-D4CE-4277-8F8D-1063AF41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二、基准与方法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C4BAC-CB6F-405F-BAC8-4CDCDFF7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六种 DQN 目标：只改变学习目标，保持训练条件可比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E3CC2-8434-4B55-9523-0AE1D3C9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27e9480f14453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41fba105f45fc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CD9AE-4B92-43B0-8633-8B3A8C1C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94468-D7B1-4152-AD21-E2E3DE68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8EA6D-1A18-44DC-B9E0-B11A18DE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统一网络、训练交互和评测轨迹，使差异尽可能归因于目标构造。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76300" y="1381125"/>
          <a:ext xmlns:a="http://schemas.openxmlformats.org/drawingml/2006/main" cx="10439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333625"/>
                <a:gridCol w="2714625"/>
                <a:gridCol w="2247900"/>
              </a:tblGrid>
              <a:tr h="55789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目标变体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事实动作 Bellman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全动作辅助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Double 目标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Standard DQN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Full-action Q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 值监督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Immediate advantage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即时优势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87D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Centered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中心化优势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Double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87D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Double + centered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中心化优势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EA435-0BE6-4DB6-A7EF-7CD97CA1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注：六个变体均使用相同状态、动作、网络容量、训练交互与评测协议。</a:t>
            </a:r>
          </a:p>
        </p:txBody>
      </p:sp>
    </p:spTree>
    <p:extLst>
      <p:ext uri="{BB962C8B-B14F-4D97-AF65-F5344CB8AC3E}">
        <p14:creationId xmlns:p14="http://schemas.microsoft.com/office/powerpoint/2010/main" val="13626723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286E0E-E7A2-4F4B-97F5-49712DE1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二、基准与方法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358D2-AF68-4CE0-8EC2-72BAA7E4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评测设计：共享轨迹、独立模型种子与联合推断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724EF-2CF0-42D1-84A0-1257F198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6a4c655dc497e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2fb1fb3504b86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F5E3E-BC5E-4B8B-8BE9-AC014DFB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1AB90-C7A6-4E45-AF95-5E71FDA8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86C8E-90A2-4B64-9D4C-848AA1C2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支持判据预先固定：均值差为负、95% 区间排除 0，并报告多重比较校正。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4BAF1-2A9B-4EB6-A0E9-0180C002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E79C6-EAE3-42D3-B833-9D20E1E1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独立模型种子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9A429-9335-4D55-BDBA-35D46D4C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381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A881D-98E4-4886-A815-EDBA9FA2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85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每种子共享测试轨迹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81673-7F01-471C-90C9-D6355990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3811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EF70E-2CA7-4867-B5DD-B30448E9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85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完全耦合场景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0585C-2A0D-4337-8CD2-F3397768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81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6A093-53EB-4EF1-AF23-192B1D40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DQN–MPC-4 对比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ACAF7-59CA-49F2-97F8-D62950E5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3811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CB686-254C-48CB-BD35-4F225FB5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859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联合 bootstrap 重采样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C39AC-4EBD-4BDB-8C36-8E0C0FD1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024F9-B1C9-41C0-969B-4D64480E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比较对象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7F558-130D-494D-8186-AB64CF1E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809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Argmin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6794AC-6FEA-41AD-BB84-4E19467E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352800"/>
            <a:ext cx="1809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MPC-4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ABA84B-2501-4C0E-9272-E8001B31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52800"/>
            <a:ext cx="1809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Contextual bandit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FCA1AA-A9DF-4B9A-86E5-E43DF25A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52800"/>
            <a:ext cx="1809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Threshold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95EF45-EED4-4F9C-9F3B-B78B6392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52800"/>
            <a:ext cx="1809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6× DQN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D5D02A-D522-4495-87F2-F5CE2118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48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统计证据链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7DDB04-8A5D-4876-9557-6CAA309C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5886E9-FBF3-461B-9CB9-F7132425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148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逐对配对均值差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01BD6E-111C-46F9-A9AF-2BEC6BAC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743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4D676F-71F5-40B5-9206-5EB9BC8F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148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联合 95% 区间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D2A93F-9777-46CA-8F25-2B662B5E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43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B91AC6-E192-4CE1-BD14-03B95173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148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Holm 校正符号检验</a:t>
            </a:r>
          </a:p>
        </p:txBody>
      </p:sp>
    </p:spTree>
    <p:extLst>
      <p:ext uri="{BB962C8B-B14F-4D97-AF65-F5344CB8AC3E}">
        <p14:creationId xmlns:p14="http://schemas.microsoft.com/office/powerpoint/2010/main" val="12242304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68246-43F6-46F9-8F10-0D563938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AD4B8-970B-4604-8F3A-0C056715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七类场景中的总体表现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8051F-6048-4278-B8CD-B0B641BF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29c479eb748ee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ba6d0e1704ccb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0F80A-C1CB-4C42-BE5B-E1B66864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F067E-7DC2-458E-93FF-5C697C8A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0A43B-268B-4805-A3D2-A484B952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在五个完全耦合场景中，DQN 家族均低于所有非 DQN 基线；数值越低越好。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8599093ac4a82"/>
          <a:stretch xmlns:a="http://schemas.openxmlformats.org/drawingml/2006/main"/>
        </p:blipFill>
        <p:spPr>
          <a:xfrm xmlns:a="http://schemas.openxmlformats.org/drawingml/2006/main">
            <a:off x="3075312" y="1219200"/>
            <a:ext cx="6022326" cy="4400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4F5B3-89DB-408C-81B5-BD92F466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3；Static 与 Reduced 用于诊断，五个 Full regimes 用于主要结论。</a:t>
            </a:r>
          </a:p>
        </p:txBody>
      </p:sp>
    </p:spTree>
    <p:extLst>
      <p:ext uri="{BB962C8B-B14F-4D97-AF65-F5344CB8AC3E}">
        <p14:creationId xmlns:p14="http://schemas.microsoft.com/office/powerpoint/2010/main" val="2560730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D0209-3F30-49AE-A6E1-E8382777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AF705-9B7E-40F8-99E2-342ED2F8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30/30 个 DQN–MPC-4 对比支持家族优势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95235-0A31-4227-9AB4-3E41CDB8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2abeab20740aa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2f0c690484f54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BAD96-EC49-4631-B3AB-5784E171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118B4-B7F4-4F37-AC48-32B0994E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19B62-7612-41AA-A5A8-61280AB7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最不利比较仍为 −5.92；同时 95% 上界为 −5.03，保持在零以下。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2d05fde284507"/>
          <a:stretch xmlns:a="http://schemas.openxmlformats.org/drawingml/2006/main"/>
        </p:blipFill>
        <p:spPr>
          <a:xfrm xmlns:a="http://schemas.openxmlformats.org/drawingml/2006/main">
            <a:off x="476250" y="1460657"/>
            <a:ext cx="8001000" cy="404146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C3D0A-DFD7-4BED-8E78-DDDD5C4D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621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30 / 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A3D0C-D930-4AD5-BE87-4B5E37F2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平均差均低于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24749-3BA1-49F8-8950-8EEB516D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241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−5.92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3530F-FB99-41B7-AD2B-FC3636D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289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最不利均值差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FD659-9926-4107-8EFA-260A3E0B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86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rPr>
              <a:t>−5.03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3ED0F-C4E5-4F58-A60F-58D96BD2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910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同时 95% 上界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76374-CB1F-4BD4-BA7E-30682894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095875"/>
            <a:ext cx="2667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Holm 校正后最大 p = 5.722×10⁻⁵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C1808-37EC-4204-B1F3-5DE95117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4</a:t>
            </a:r>
          </a:p>
        </p:txBody>
      </p:sp>
    </p:spTree>
    <p:extLst>
      <p:ext uri="{BB962C8B-B14F-4D97-AF65-F5344CB8AC3E}">
        <p14:creationId xmlns:p14="http://schemas.microsoft.com/office/powerpoint/2010/main" val="3584009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EBC08-9A03-4504-99E6-5F477ED7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4F553-0531-4DD6-B74C-151AE8CD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家族内部差异较小，并随场景变化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95D2D-38B5-4E7C-B718-E6A241EA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c6150f6e9475c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e3bc696ad465c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D3FD1-00E9-4CD4-B431-39CE5323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D0DB6-794B-481D-B127-2D554753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0B9B1-069D-47EC-8327-72DCCD30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证据支持的是“DQN 家族相对 MPC-4”的稳定优势，而非某一目标在所有场景中绝对占优。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b22a0a38843f7"/>
          <a:stretch xmlns:a="http://schemas.openxmlformats.org/drawingml/2006/main"/>
        </p:blipFill>
        <p:spPr>
          <a:xfrm xmlns:a="http://schemas.openxmlformats.org/drawingml/2006/main">
            <a:off x="934125" y="1257300"/>
            <a:ext cx="7371000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96CA9-A8C5-48EF-B493-658CF97E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145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Nominal 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772E9-66CF-43A7-B079-3E185055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43125"/>
            <a:ext cx="242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77.66–78.40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C5CDE-2169-4C69-BC9F-BB5CD904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3367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六种 DQN 的成本范围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A64F8-ADFE-436D-94ED-44BE447D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86125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58CAC-281B-43EB-8C6D-6E943037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7187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Centered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D72A3-55BB-4C12-BDCC-5BB75BCA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10025"/>
            <a:ext cx="2428875" cy="828675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在多个场景中数值最低，</a:t>
            </a:r>
          </a:p>
          <a:p xmlns:a="http://schemas.openxmlformats.org/drawingml/2006/main">
            <a:pPr algn="ctr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但领先幅度小且并非处处显著。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0A3F4-5842-4548-B64E-381A67E8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5</a:t>
            </a:r>
          </a:p>
        </p:txBody>
      </p:sp>
    </p:spTree>
    <p:extLst>
      <p:ext uri="{BB962C8B-B14F-4D97-AF65-F5344CB8AC3E}">
        <p14:creationId xmlns:p14="http://schemas.microsoft.com/office/powerpoint/2010/main" val="632660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9211C-742F-4FFB-BF99-03212202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ED91B-D1AC-4542-9441-E2660A46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规划深度：成本下降伴随显著运行时间增长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B0FE7-31DD-4BB3-8FCE-F278A9AD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020b607974363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2de7d60d84ebf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479B4-9514-4BD6-93DB-249E8214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165A2-5AA3-4C66-BDE1-C7141ED3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DC6B0-23BF-4506-8181-9D26EFC1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更深的精确规划继续降低成本，但从 H=1 到 H=6，运行时间增长约 327 倍。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733425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714500"/>
                <a:gridCol w="1714500"/>
                <a:gridCol w="2190750"/>
              </a:tblGrid>
              <a:tr h="6324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规划深度 H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枚举序列数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平均成本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单步运行时间 (ms)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92.80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90.83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729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89.35</a:t>
                      </a:r>
                    </a:p>
                  </a:txBody>
                  <a:tcPr marL="91440" marR="91440" marT="45720" marB="45720" anchor="ctr">
                    <a:solidFill>
                      <a:srgbClr val="D9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42.50</a:t>
                      </a:r>
                    </a:p>
                  </a:txBody>
                  <a:tcPr marL="91440" marR="91440" marT="45720" marB="45720" anchor="ctr">
                    <a:solidFill>
                      <a:srgbClr val="F6DED9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4610A-7EC6-40F0-9BDF-A301A344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0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8E122-D84C-4317-BBFB-63C10BF2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716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99.33 → 89.35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CA428-57AB-4664-B90A-49F5DC90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−10.0%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5BF91-5AF8-4CA4-976A-73DC8036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2895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82587-BBF2-43DF-9B8C-022C7724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运行时间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1C0E1-47CB-465A-99B7-9E0F3918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480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rPr>
              <a:t>0.13 → 42.50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C52D9-80A4-4984-B248-9E097227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81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约 327×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A3F14-2FEE-484F-BB68-B85CB44D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104298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基于 400 条 held-out 轨迹；本文未进行匹配的 DQN 推理延迟测量。</a:t>
            </a:r>
          </a:p>
        </p:txBody>
      </p:sp>
    </p:spTree>
    <p:extLst>
      <p:ext uri="{BB962C8B-B14F-4D97-AF65-F5344CB8AC3E}">
        <p14:creationId xmlns:p14="http://schemas.microsoft.com/office/powerpoint/2010/main" val="10048382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DB81C-333A-49FC-8745-50D913C2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23711-032B-4256-9821-69DE2B48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敏感性与预览误差：总体稳健，但并非全场景不变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4373B-C83B-447E-9F00-69E00B9E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578bf43c3455e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5fc13fdb0410e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E40F0-9F44-42B7-BDEF-FAB0BC85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A62E7-8F29-4F8B-9E70-1E8C7703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0F838-65AA-45E3-819C-E664D87F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参数剖面支持 8/8；预览缩放 ±15% 时各仅支持 3/5 个场景，应按边界而非失败解读。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769933a274af7"/>
          <a:stretch xmlns:a="http://schemas.openxmlformats.org/drawingml/2006/main"/>
        </p:blipFill>
        <p:spPr>
          <a:xfrm xmlns:a="http://schemas.openxmlformats.org/drawingml/2006/main">
            <a:off x="523875" y="1286790"/>
            <a:ext cx="8096250" cy="423679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217DB-D879-4B56-8291-9175D033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8 / 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0199E-EF47-48D3-AFBC-CEBAC194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240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参数剖面区间低于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F8D55-E48E-46C6-9DE7-DBE8945B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38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0.50–1.66%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041EF6-5DDB-4D5C-9995-377C5AA4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432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Centered 相对 Standard 改善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B11AB-CE5E-46A7-9D79-9DF09FE1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3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预览缩放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039E9-271A-4B97-9BC2-D69A2D14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95800"/>
            <a:ext cx="25717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0.85：3/5 场景支持</a:t>
            </a:r>
          </a:p>
          <a:p xmlns:a="http://schemas.openxmlformats.org/drawingml/2006/main">
            <a:pPr algn="ctr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1.15：3/5 场景支持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ECD15-C9D6-4684-BE06-C921CADF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6</a:t>
            </a:r>
          </a:p>
        </p:txBody>
      </p:sp>
    </p:spTree>
    <p:extLst>
      <p:ext uri="{BB962C8B-B14F-4D97-AF65-F5344CB8AC3E}">
        <p14:creationId xmlns:p14="http://schemas.microsoft.com/office/powerpoint/2010/main" val="6309939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EB04C6-34E1-4900-A8C7-4CAD4412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E037F-D1C2-4F64-A633-185C978F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训练稳定性与工程指标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9D733-BAA4-415B-AD9F-55F1AC79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5b541bd0b4d23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ba0c46e4849a4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D8916-B15A-4274-A5E4-905FF5A6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915F1-80B9-48DB-BB3D-6D97FC76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7E4CA-EA51-480E-9836-19152698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成本优势主要来自更少的延迟惩罚；工程指标改善伴随热峰值略高这一权衡。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002940d124df4"/>
          <a:stretch xmlns:a="http://schemas.openxmlformats.org/drawingml/2006/main"/>
        </p:blipFill>
        <p:spPr>
          <a:xfrm xmlns:a="http://schemas.openxmlformats.org/drawingml/2006/main">
            <a:off x="1385573" y="1238250"/>
            <a:ext cx="5668004" cy="4191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5C44B-30F2-4230-82A4-D5091E9F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57325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约 220 episodes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81D93-984A-49ED-8E33-B73378EA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2405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Standard 与 Centered 曲线趋于稳定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591B1-6FE8-42A3-AD45-0AC12035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241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延迟惩罚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E96B7-0278-48B9-B82E-0F7BC20A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24150"/>
            <a:ext cx="10001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更低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C2F10-CF08-417C-ADF1-A9F0EE0B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766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建模能耗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B15B9-C1E3-498C-A714-4FD8B060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76600"/>
            <a:ext cx="10001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更低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41506-37F0-4F17-B0DA-FB5FF117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290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时延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10FCF8-46D1-473D-95B7-412A5743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29050"/>
            <a:ext cx="10001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更低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58D11-330F-44D0-A5BA-3108BA5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815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传输数据量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C4ADF-9CF4-4326-99BE-07774C14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0"/>
            <a:ext cx="10001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更低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77E68-82AC-4F04-9E1B-8277EEE7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3429000" cy="52387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AEE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rPr>
              <a:t>边界：两者都触及 clipped energy=0；DQN 最大热状态略高。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C22F6-9AE4-4753-99B6-5F029A91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7</a:t>
            </a:r>
          </a:p>
        </p:txBody>
      </p:sp>
    </p:spTree>
    <p:extLst>
      <p:ext uri="{BB962C8B-B14F-4D97-AF65-F5344CB8AC3E}">
        <p14:creationId xmlns:p14="http://schemas.microsoft.com/office/powerpoint/2010/main" val="1240896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53FC60-A748-4608-A1A1-2D6A5B21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四、边界与结论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0095B-B04B-4290-8B49-85E62E39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结论适用边界与可复现性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EF723-65A6-490A-815A-B82D4159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e9f7b335d48f3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a66d10cf545b0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E7DD4-1DC9-45D0-B383-6BC48716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E8B10-6A73-4DC9-81D9-3ECE5EBE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CBBD7-C49E-4929-8227-E8507F55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当前结果建立受控基准证据；真实任务标定、硬约束安全性与在轨验证是下一步。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80116-9B2E-4863-87DF-07203324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当前证据边界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2F1CD-153F-44BC-8930-613FFD07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161925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A01CA-62A1-42A3-A73F-89D46C4E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5735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合成任务与固定的无量纲权重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3B5CD-8369-4039-A1F2-F35D2F0C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161925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59C10-9B84-47B3-9F1C-E1266BE3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14575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软约束与截断资源状态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BAA19-3B6E-496D-9655-CA591B30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61925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60D92-6A2D-4B01-8327-3B938DDC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全部模型在耦合系数 c=1 下训练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769D0-6AF2-439B-92C3-5EABF515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161925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F7F96-2F86-4D52-B5D2-9BC6E348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29025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规划器使用完美短期预览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8F307F-3941-4F6A-ADF4-F9F2F5BE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61925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DB0FE-CE17-4ED1-A16A-E20A65EC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未测量匹配条件下的 DQN 推理延迟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02354-DC21-474F-9F68-566871BE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8112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1C9C02-436D-4842-A17D-54F475A7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57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可复现材料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B3729B-7D0B-4BA9-B49A-C8ADF0D2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公开代码与结果包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509C35-9171-4E7D-B9BD-568966F0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2862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github.com/noob32123/</a:t>
            </a:r>
          </a:p>
          <a:p xmlns:a="http://schemas.openxmlformats.org/drawingml/2006/main">
            <a:pPr algn="l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dqn_family_satellite_ground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E1882C-CA9F-4E7E-B3B0-73364039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下一步验证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E264D5-2BDB-4184-95E2-699AF41C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76675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• 真实任务分布标定</a:t>
            </a:r>
          </a:p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• 硬约束与安全屏蔽</a:t>
            </a:r>
          </a:p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• 不完美预览与分布漂移</a:t>
            </a:r>
          </a:p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• 匹配硬件上的端到端时延</a:t>
            </a:r>
          </a:p>
        </p:txBody>
      </p:sp>
    </p:spTree>
    <p:extLst>
      <p:ext uri="{BB962C8B-B14F-4D97-AF65-F5344CB8AC3E}">
        <p14:creationId xmlns:p14="http://schemas.microsoft.com/office/powerpoint/2010/main" val="7419503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38848-C016-4737-B049-E7385B6C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四、边界与结论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2295A-A425-44EA-87BC-B7FEE784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75596-0557-453C-9937-FE8E5B57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b7f7bcab14986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5d9e2e4574f66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FD6E4-88D9-44E1-A951-B8EAA5F5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F1224-A6A9-41B3-BB95-00686E23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26F2B-C5A3-4D83-9F8D-A393C2EE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04950"/>
            <a:ext cx="939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家族级证据稳定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01E74-53B0-434C-BBE8-4502E5EA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90700"/>
            <a:ext cx="939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五个完全耦合场景中的 30 个 DQN–MPC-4 对比全部支持 DQN 家族。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60058-D58E-4547-A7E4-352CFB52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3A4B7-60BC-405B-8373-A4E803EC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0"/>
            <a:ext cx="939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目标内部差异有限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F949E-CA9D-47C2-8454-06B47BAD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52750"/>
            <a:ext cx="939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不同 DQN 目标的差异较小且依场景变化，不支持“单一目标普遍最优”。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B1292-6465-4C41-8EC6-DE223D8D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C7675-AEFF-48E4-B701-3676E7DA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29050"/>
            <a:ext cx="939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计算与性能存在权衡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E9CC0-0C83-4EB7-ADE7-D6EEF43C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14800"/>
            <a:ext cx="939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更深规划继续降低成本，但运行时间快速增长；推理延迟仍需匹配测量。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E1896-CCBC-4E3A-BB49-E8DFE349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0175"/>
            <a:ext cx="800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D9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DFF16A-EB38-4E90-9DD3-AD3C2A4F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102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谢谢聆听 · 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517202497"/>
      </p:ext>
    </p:extLst>
  </p:cSld>
</p:sld>
</file>

<file path=ppt/theme/theme1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2026-09-10T07:12:47.2880000Z</dcterms:created>
  <dcterms:modified xsi:type="dcterms:W3CDTF">2026-09-10T07:12:47.2880000Z</dcterms:modified>
</coreProperties>
</file>
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0d2da2323845f6" /><Relationship Type="http://schemas.openxmlformats.org/officeDocument/2006/relationships/extended-properties" Target="/docProps/app.xml" Id="R5f21c919feb640b0" /><Relationship Type="http://schemas.openxmlformats.org/officeDocument/2006/relationships/officeDocument" Target="/ppt/presentation.xml" Id="R0f3946827b444f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92dbf7737f425c"/>
  </p:sldMasterIdLst>
  <p:notesMasterIdLst>
    <p:notesMasterId xmlns:r="http://schemas.openxmlformats.org/officeDocument/2006/relationships" r:id="R298b41aab6d24ad3"/>
  </p:notesMasterIdLst>
  <p:sldIdLst>
    <p:sldId xmlns:r="http://schemas.openxmlformats.org/officeDocument/2006/relationships" id="256" r:id="R1a0b47a7f1b547f4"/>
    <p:sldId xmlns:r="http://schemas.openxmlformats.org/officeDocument/2006/relationships" id="257" r:id="R90347424747149fd"/>
    <p:sldId xmlns:r="http://schemas.openxmlformats.org/officeDocument/2006/relationships" id="258" r:id="R8c16f5cb20644864"/>
    <p:sldId xmlns:r="http://schemas.openxmlformats.org/officeDocument/2006/relationships" id="259" r:id="R9d4f518a14644637"/>
    <p:sldId xmlns:r="http://schemas.openxmlformats.org/officeDocument/2006/relationships" id="260" r:id="Rf66f713980014f41"/>
    <p:sldId xmlns:r="http://schemas.openxmlformats.org/officeDocument/2006/relationships" id="261" r:id="Rae5bbf35b8c64e37"/>
    <p:sldId xmlns:r="http://schemas.openxmlformats.org/officeDocument/2006/relationships" id="262" r:id="Rbe9ccbc2656945d2"/>
    <p:sldId xmlns:r="http://schemas.openxmlformats.org/officeDocument/2006/relationships" id="263" r:id="R6e764aba69cd4194"/>
    <p:sldId xmlns:r="http://schemas.openxmlformats.org/officeDocument/2006/relationships" id="264" r:id="Rf9fe0fd2ae114ee0"/>
    <p:sldId xmlns:r="http://schemas.openxmlformats.org/officeDocument/2006/relationships" id="265" r:id="R4124b2de55f64798"/>
    <p:sldId xmlns:r="http://schemas.openxmlformats.org/officeDocument/2006/relationships" id="266" r:id="R06c847c802464f83"/>
    <p:sldId xmlns:r="http://schemas.openxmlformats.org/officeDocument/2006/relationships" id="267" r:id="R010cc0fe3c104e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edfa0383cc45e7" /><Relationship Type="http://schemas.openxmlformats.org/officeDocument/2006/relationships/slideMaster" Target="/ppt/slideMasters/slideMaster1.xml" Id="R7192dbf7737f425c" /><Relationship Type="http://schemas.openxmlformats.org/officeDocument/2006/relationships/notesMaster" Target="/ppt/notesMasters/notesMaster1.xml" Id="R298b41aab6d24ad3" /><Relationship Type="http://schemas.openxmlformats.org/officeDocument/2006/relationships/presProps" Target="/ppt/presProps.xml" Id="R5736187a660648ff" /><Relationship Type="http://schemas.openxmlformats.org/officeDocument/2006/relationships/viewProps" Target="/ppt/viewProps.xml" Id="Ra7df3bb2bc93466b" /><Relationship Type="http://schemas.openxmlformats.org/officeDocument/2006/relationships/tableStyles" Target="/ppt/tableStyles.xml" Id="R566aaaec23fd4bfb" /><Relationship Type="http://schemas.openxmlformats.org/officeDocument/2006/relationships/slide" Target="/ppt/slides/slide1.xml" Id="R1a0b47a7f1b547f4" /><Relationship Type="http://schemas.openxmlformats.org/officeDocument/2006/relationships/slide" Target="/ppt/slides/slide2.xml" Id="R90347424747149fd" /><Relationship Type="http://schemas.openxmlformats.org/officeDocument/2006/relationships/slide" Target="/ppt/slides/slide3.xml" Id="R8c16f5cb20644864" /><Relationship Type="http://schemas.openxmlformats.org/officeDocument/2006/relationships/slide" Target="/ppt/slides/slide4.xml" Id="R9d4f518a14644637" /><Relationship Type="http://schemas.openxmlformats.org/officeDocument/2006/relationships/slide" Target="/ppt/slides/slide5.xml" Id="Rf66f713980014f41" /><Relationship Type="http://schemas.openxmlformats.org/officeDocument/2006/relationships/slide" Target="/ppt/slides/slide6.xml" Id="Rae5bbf35b8c64e37" /><Relationship Type="http://schemas.openxmlformats.org/officeDocument/2006/relationships/slide" Target="/ppt/slides/slide7.xml" Id="Rbe9ccbc2656945d2" /><Relationship Type="http://schemas.openxmlformats.org/officeDocument/2006/relationships/slide" Target="/ppt/slides/slide8.xml" Id="R6e764aba69cd4194" /><Relationship Type="http://schemas.openxmlformats.org/officeDocument/2006/relationships/slide" Target="/ppt/slides/slide9.xml" Id="Rf9fe0fd2ae114ee0" /><Relationship Type="http://schemas.openxmlformats.org/officeDocument/2006/relationships/slide" Target="/ppt/slides/slide10.xml" Id="R4124b2de55f64798" /><Relationship Type="http://schemas.openxmlformats.org/officeDocument/2006/relationships/slide" Target="/ppt/slides/slide11.xml" Id="R06c847c802464f83" /><Relationship Type="http://schemas.openxmlformats.org/officeDocument/2006/relationships/slide" Target="/ppt/slides/slide12.xml" Id="R010cc0fe3c104e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ce0bafcb8b48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2e4af973844231" /><Relationship Type="http://schemas.openxmlformats.org/officeDocument/2006/relationships/notesMaster" Target="/ppt/notesMasters/notesMaster1.xml" Id="R993009b40e6d46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18297c9e6d4441" /><Relationship Type="http://schemas.openxmlformats.org/officeDocument/2006/relationships/notesMaster" Target="/ppt/notesMasters/notesMaster1.xml" Id="R5a8c66ef8f3647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a100eeba324a64" /><Relationship Type="http://schemas.openxmlformats.org/officeDocument/2006/relationships/notesMaster" Target="/ppt/notesMasters/notesMaster1.xml" Id="R783fd1d0c8ac41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82ee00344e4ff6" /><Relationship Type="http://schemas.openxmlformats.org/officeDocument/2006/relationships/notesMaster" Target="/ppt/notesMasters/notesMaster1.xml" Id="R82d96b5a293d4f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68f5a512714bcb" /><Relationship Type="http://schemas.openxmlformats.org/officeDocument/2006/relationships/notesMaster" Target="/ppt/notesMasters/notesMaster1.xml" Id="R2d7113b45ebf41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b8e658c9b64d0a" /><Relationship Type="http://schemas.openxmlformats.org/officeDocument/2006/relationships/notesMaster" Target="/ppt/notesMasters/notesMaster1.xml" Id="R0b6dd7f9e64e48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3aa638db2847df" /><Relationship Type="http://schemas.openxmlformats.org/officeDocument/2006/relationships/notesMaster" Target="/ppt/notesMasters/notesMaster1.xml" Id="Refc3cbb071064a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e7a372a0134f03" /><Relationship Type="http://schemas.openxmlformats.org/officeDocument/2006/relationships/notesMaster" Target="/ppt/notesMasters/notesMaster1.xml" Id="R0eb2e33ebe0042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fe6c6a579d4fb4" /><Relationship Type="http://schemas.openxmlformats.org/officeDocument/2006/relationships/notesMaster" Target="/ppt/notesMasters/notesMaster1.xml" Id="R362ed36d2f3940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aa2cce37ef401a" /><Relationship Type="http://schemas.openxmlformats.org/officeDocument/2006/relationships/notesMaster" Target="/ppt/notesMasters/notesMaster1.xml" Id="R26558c2ae2074a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4688fcd8c04c42" /><Relationship Type="http://schemas.openxmlformats.org/officeDocument/2006/relationships/notesMaster" Target="/ppt/notesMasters/notesMaster1.xml" Id="Ree0fa9e96e8842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48c5feada548a6" /><Relationship Type="http://schemas.openxmlformats.org/officeDocument/2006/relationships/notesMaster" Target="/ppt/notesMasters/notesMaster1.xml" Id="Rb4b1d5c8327a4f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论文题目：Statistical Evidence for a DQN-Family Advantage in a Resource-Coupled Satellite-Ground Scheduling Benchmark。开场说明研究对象是带持续资源状态的卫星—地面序贯调度。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目录保持模板原有三部分结构：研究背景与问题、基准设计与方法、实验结果与结论。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对应论文 System Model。左图说明三种动作与六种持续资源；右图说明任务属性间的相关性。contact 指归一化的剩余通信窗口，而不是通信延迟。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Introduction 现版本保留的三项贡献。本页先给出研究问题和证据框架，不把 centered 目标表述为普遍最优。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Materials and Methods。强调状态包含任务、时间相位和六类持续资源，所有比较方法共享同一解析成本与转移模型。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DQN Objective Family 和训练设置。六个目标共享结构、优化器、探索计划和交互预算；模型化替代动作只作为训练辅助，不在部署时调用。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Experimental Design。主要结论来自5个fully coupled regimes，30个对比等于6个DQN目标乘5个场景。联合bootstrap为10,000次，符号检验使用Holm校正。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对应论文 Fig. 3。静态和reduced场景用于诊断；主要结论只基于五个fully coupled regimes。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核心结论页。差值定义为DQN成本减MPC-4成本，因此负值表示DQN更好。30个均值差均为负；最不利均值差−5.92，同时95%上界−5.03。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对应论文 Fig. 5。Nominal场景六种DQN成本范围为77.66–78.40，家族内部差异小于与MPC-4的差距。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对应敏感性、规划深度和Discussion。预览误差±15%只获得部分场景支持。规划越深成本越低，但运行时间快速增长。本文未测量匹配条件下的DQN推理延迟。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55eaaf6c041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15823eded4260" /><Relationship Type="http://schemas.openxmlformats.org/officeDocument/2006/relationships/image" Target="/ppt/media/image.png" Id="Ra07aed4656bf4a6f" /><Relationship Type="http://schemas.openxmlformats.org/officeDocument/2006/relationships/image" Target="/ppt/media/image2.png" Id="Rd18569ba5f8841ac" /></Relationships>
</file>

<file path=ppt/slideLayouts/slideLayout1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ECB855DD-69EB-E866-D5B9-91F69EAA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100"/>
            <a:ext cx="12192000" cy="153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1275" cmpd="sng">
            <a:gradFill rotWithShape="1">
              <a:gsLst>
                <a:gs pos="0">
                  <a:srgbClr val="0070C0"/>
                </a:gs>
                <a:gs pos="43000">
                  <a:srgbClr val="4090A7"/>
                </a:gs>
                <a:gs pos="93000">
                  <a:schemeClr val="bg1"/>
                </a:gs>
              </a:gsLst>
              <a:lin ang="0" scaled="1"/>
              <a:tileRect/>
            </a:gra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37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Constantia"/>
              <a:ea typeface="Constantia"/>
              <a:cs typeface="Constantia"/>
            </a:endParaRPr>
          </a:p>
        </p:txBody>
      </p:sp>
      <p:pic>
        <p:nvPicPr>
          <p:cNvPr id="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aed4656bf4a6f"/>
          <a:srcRect xmlns:a="http://schemas.openxmlformats.org/drawingml/2006/main" l="2734" t="5571" r="72733" b="7404"/>
          <a:stretch xmlns:a="http://schemas.openxmlformats.org/drawingml/2006/main"/>
        </p:blipFill>
        <p:spPr>
          <a:xfrm xmlns:a="http://schemas.openxmlformats.org/drawingml/2006/main">
            <a:off x="11242964" y="46135"/>
            <a:ext cx="834156" cy="720620"/>
          </a:xfrm>
          <a:prstGeom xmlns:a="http://schemas.openxmlformats.org/drawingml/2006/main" prst="rect">
            <a:avLst/>
          </a:prstGeom>
        </p:spPr>
      </p:pic>
      <p:pic>
        <p:nvPicPr>
          <p:cNvPr id="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569ba5f8841ac"/>
          <a:srcRect xmlns:a="http://schemas.openxmlformats.org/drawingml/2006/main" l="16887" t="12347" r="7013" b="1495"/>
          <a:stretch xmlns:a="http://schemas.openxmlformats.org/drawingml/2006/main"/>
        </p:blipFill>
        <p:spPr>
          <a:xfrm xmlns:a="http://schemas.openxmlformats.org/drawingml/2006/main">
            <a:off x="10418907" y="127682"/>
            <a:ext cx="699943" cy="66982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aee55733ca4279" /><Relationship Type="http://schemas.openxmlformats.org/officeDocument/2006/relationships/slideLayout" Target="/ppt/slideLayouts/slideLayout1.xml" Id="R315fd0e2a9cd4cce" /><Relationship Type="http://schemas.openxmlformats.org/officeDocument/2006/relationships/slideLayout" Target="/ppt/slideLayouts/slideLayout2.xml" Id="Rca8ef305a03b49c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5fd0e2a9cd4cce"/>
    <p:sldLayoutId xmlns:r="http://schemas.openxmlformats.org/officeDocument/2006/relationships" id="2147483650" r:id="Rca8ef305a03b49c3"/>
  </p:sldLayoutIdLst>
  <p:txStyles>
    <p:titleStyle>
      <a:lvl1pPr xmlns:a="http://schemas.openxmlformats.org/drawingml/2006/main" algn="l">
        <a:spcBef>
          <a:spcPct val="0"/>
        </a:spcBef>
        <a:buNone/>
        <a:defRPr sz="3600" kern="1200" cap="all" baseline="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892" indent="-342892" algn="l">
        <a:spcBef>
          <a:spcPct val="20000"/>
        </a:spcBef>
        <a:buClr>
          <a:schemeClr val="accent1"/>
        </a:buClr>
        <a:buSzPct val="70000"/>
        <a:buFont typeface="Wingdings 2"/>
        <a:buChar char=""/>
        <a:defRPr sz="3200" kern="1200">
          <a:solidFill>
            <a:schemeClr val="tx2"/>
          </a:solidFill>
          <a:latin typeface="+mn-lt"/>
          <a:ea typeface="+mn-lt"/>
          <a:cs typeface="+mn-lt"/>
        </a:defRPr>
      </a:lvl1pPr>
      <a:lvl2pPr xmlns:a="http://schemas.openxmlformats.org/drawingml/2006/main" marL="742931" indent="-285743" algn="l">
        <a:spcBef>
          <a:spcPct val="20000"/>
        </a:spcBef>
        <a:buClr>
          <a:schemeClr val="accent1"/>
        </a:buClr>
        <a:buSzPct val="70000"/>
        <a:buFont typeface="Wingdings 2"/>
        <a:buChar char=""/>
        <a:defRPr sz="2800" kern="1200">
          <a:solidFill>
            <a:schemeClr val="tx2"/>
          </a:solidFill>
          <a:latin typeface="+mn-lt"/>
          <a:ea typeface="+mn-lt"/>
          <a:cs typeface="+mn-lt"/>
        </a:defRPr>
      </a:lvl2pPr>
      <a:lvl3pPr xmlns:a="http://schemas.openxmlformats.org/drawingml/2006/main" marL="1142972" indent="-228594" algn="l">
        <a:spcBef>
          <a:spcPct val="20000"/>
        </a:spcBef>
        <a:buClr>
          <a:schemeClr val="accent1"/>
        </a:buClr>
        <a:buSzPct val="70000"/>
        <a:buFont typeface="Wingdings 2"/>
        <a:buChar char=""/>
        <a:defRPr sz="2400" kern="1200">
          <a:solidFill>
            <a:schemeClr val="tx2"/>
          </a:solidFill>
          <a:latin typeface="+mn-lt"/>
          <a:ea typeface="+mn-lt"/>
          <a:cs typeface="+mn-lt"/>
        </a:defRPr>
      </a:lvl3pPr>
      <a:lvl4pPr xmlns:a="http://schemas.openxmlformats.org/drawingml/2006/main" marL="1600160" indent="-228594" algn="l">
        <a:spcBef>
          <a:spcPct val="20000"/>
        </a:spcBef>
        <a:buClr>
          <a:schemeClr val="accent1"/>
        </a:buClr>
        <a:buSzPct val="70000"/>
        <a:buFont typeface="Wingdings 2"/>
        <a:buChar char=""/>
        <a:defRPr sz="2000" kern="1200">
          <a:solidFill>
            <a:schemeClr val="tx2"/>
          </a:solidFill>
          <a:latin typeface="+mn-lt"/>
          <a:ea typeface="+mn-lt"/>
          <a:cs typeface="+mn-lt"/>
        </a:defRPr>
      </a:lvl4pPr>
      <a:lvl5pPr xmlns:a="http://schemas.openxmlformats.org/drawingml/2006/main" marL="2057348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"/>
        <a:defRPr sz="1800" kern="1200">
          <a:solidFill>
            <a:schemeClr val="tx2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"/>
        <a:defRPr sz="1800" kern="1200">
          <a:solidFill>
            <a:schemeClr val="tx2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"/>
        <a:defRPr sz="1600" kern="1200">
          <a:solidFill>
            <a:schemeClr val="tx2"/>
          </a:solidFill>
          <a:latin typeface="+mn-lt"/>
          <a:ea typeface="+mn-lt"/>
          <a:cs typeface="+mn-lt"/>
        </a:defRPr>
      </a:lvl7pPr>
      <a:lvl8pPr xmlns:a="http://schemas.openxmlformats.org/drawingml/2006/main" marL="3428915" indent="-228594" algn="l">
        <a:spcBef>
          <a:spcPct val="20000"/>
        </a:spcBef>
        <a:buClr>
          <a:schemeClr val="accent1"/>
        </a:buClr>
        <a:buSzPct val="60000"/>
        <a:buFont typeface="Wingdings 2"/>
        <a:buChar char=""/>
        <a:defRPr sz="1600" kern="1200" baseline="0">
          <a:solidFill>
            <a:schemeClr val="tx2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>
        <a:spcBef>
          <a:spcPct val="20000"/>
        </a:spcBef>
        <a:buClr>
          <a:schemeClr val="accent1"/>
        </a:buClr>
        <a:buSzPct val="60000"/>
        <a:buFont typeface="Wingdings 2"/>
        <a:buChar char=""/>
        <a:defRPr sz="1400" kern="1200" baseline="0">
          <a:solidFill>
            <a:schemeClr val="tx2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8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2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df19dbbef4d3d" /><Relationship Type="http://schemas.openxmlformats.org/officeDocument/2006/relationships/image" Target="/ppt/media/image3.png" Id="Rc20a2bf2e2374e38" /><Relationship Type="http://schemas.openxmlformats.org/officeDocument/2006/relationships/image" Target="/ppt/media/image.png" Id="R100299255b504a2a" /><Relationship Type="http://schemas.openxmlformats.org/officeDocument/2006/relationships/image" Target="/ppt/media/image4.png" Id="Raff3778ba94242dd" /><Relationship Type="http://schemas.openxmlformats.org/officeDocument/2006/relationships/notesSlide" Target="/ppt/notesSlides/notesSlide1.xml" Id="R81aee484d46c4b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7ed56932104f61" /><Relationship Type="http://schemas.openxmlformats.org/officeDocument/2006/relationships/notesSlide" Target="/ppt/notesSlides/notesSlide2.xml" Id="R0e83c83d813c48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aeeb4d9fbc4158" /><Relationship Type="http://schemas.openxmlformats.org/officeDocument/2006/relationships/image" Target="/ppt/media/image5.png" Id="R1ad6e62dd4204af0" /><Relationship Type="http://schemas.openxmlformats.org/officeDocument/2006/relationships/image" Target="/ppt/media/image6.png" Id="Rd8245003d96e4d6c" /><Relationship Type="http://schemas.openxmlformats.org/officeDocument/2006/relationships/notesSlide" Target="/ppt/notesSlides/notesSlide3.xml" Id="R0d786439179341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e92328159a435b" /><Relationship Type="http://schemas.openxmlformats.org/officeDocument/2006/relationships/image" Target="/ppt/media/image7.png" Id="Re8eef1d4fe204db5" /><Relationship Type="http://schemas.openxmlformats.org/officeDocument/2006/relationships/image" Target="/ppt/media/image8.png" Id="R301dc7b2f0cf4b81" /><Relationship Type="http://schemas.openxmlformats.org/officeDocument/2006/relationships/notesSlide" Target="/ppt/notesSlides/notesSlide4.xml" Id="Rc0beb3a6d08a45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1172f8da7a4f8b" /><Relationship Type="http://schemas.openxmlformats.org/officeDocument/2006/relationships/image" Target="/ppt/media/image9.png" Id="Rf134420a999b4486" /><Relationship Type="http://schemas.openxmlformats.org/officeDocument/2006/relationships/notesSlide" Target="/ppt/notesSlides/notesSlide5.xml" Id="R5644fdaf292648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578ff87c1a4e72" /><Relationship Type="http://schemas.openxmlformats.org/officeDocument/2006/relationships/image" Target="/ppt/media/image10.png" Id="Re0331aa817944a8e" /><Relationship Type="http://schemas.openxmlformats.org/officeDocument/2006/relationships/notesSlide" Target="/ppt/notesSlides/notesSlide6.xml" Id="R6056df97e0fa44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8d5746d9084b5f" /><Relationship Type="http://schemas.openxmlformats.org/officeDocument/2006/relationships/image" Target="/ppt/media/image11.png" Id="R48fd26713f1c4671" /><Relationship Type="http://schemas.openxmlformats.org/officeDocument/2006/relationships/image" Target="/ppt/media/image12.png" Id="R29e877ebb6e64925" /><Relationship Type="http://schemas.openxmlformats.org/officeDocument/2006/relationships/image" Target="/ppt/media/image13.png" Id="Ra25bae2584334618" /><Relationship Type="http://schemas.openxmlformats.org/officeDocument/2006/relationships/notesSlide" Target="/ppt/notesSlides/notesSlide7.xml" Id="R27875dd78b1f44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cbbe2b3f944b4c" /><Relationship Type="http://schemas.openxmlformats.org/officeDocument/2006/relationships/image" Target="/ppt/media/image14.png" Id="R3beca66d9d9b4d5d" /><Relationship Type="http://schemas.openxmlformats.org/officeDocument/2006/relationships/notesSlide" Target="/ppt/notesSlides/notesSlide8.xml" Id="Ra5ea2d753bbd48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d3a2ef9bc44ecd" /><Relationship Type="http://schemas.openxmlformats.org/officeDocument/2006/relationships/image" Target="/ppt/media/image15.png" Id="Re59880caf98849cd" /><Relationship Type="http://schemas.openxmlformats.org/officeDocument/2006/relationships/notesSlide" Target="/ppt/notesSlides/notesSlide9.xml" Id="Ra090772c9c6d45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7428f93bfc44b6" /><Relationship Type="http://schemas.openxmlformats.org/officeDocument/2006/relationships/image" Target="/ppt/media/image16.png" Id="R7b1a492724a44dd4" /><Relationship Type="http://schemas.openxmlformats.org/officeDocument/2006/relationships/notesSlide" Target="/ppt/notesSlides/notesSlide10.xml" Id="R9349ef624d1d4b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f7e3accbcf4b3c" /><Relationship Type="http://schemas.openxmlformats.org/officeDocument/2006/relationships/image" Target="/ppt/media/image17.png" Id="R43f1459a73c043c9" /><Relationship Type="http://schemas.openxmlformats.org/officeDocument/2006/relationships/notesSlide" Target="/ppt/notesSlides/notesSlide11.xml" Id="R6920d407ea604b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1233859804043" /><Relationship Type="http://schemas.openxmlformats.org/officeDocument/2006/relationships/image" Target="/ppt/media/image3.png" Id="R853f9f879da14f1c" /><Relationship Type="http://schemas.openxmlformats.org/officeDocument/2006/relationships/notesSlide" Target="/ppt/notesSlides/notesSlide12.xml" Id="R42d28a3f0e79484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00AB80B-E20B-2618-7429-820B158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72" y="4376893"/>
            <a:ext cx="9150128" cy="738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800" b="1">
                <a:latin typeface="+mj-ea"/>
                <a:ea typeface="+mj-ea"/>
                <a:cs typeface="+mj-ea"/>
              </a:rPr>
              <a:t>汇报人：杨博丞</a:t>
            </a:r>
            <a:endParaRPr sz="2800" b="1">
              <a:latin typeface="+mj-ea"/>
              <a:ea typeface="+mj-ea"/>
              <a:cs typeface="+mj-ea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2669D39-E82B-0B66-E943-B60AE443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31950"/>
            <a:ext cx="12192000" cy="2566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160">
              <a:alpha val="81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7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a2bf2e2374e38">
            <a:alphaModFix amt="20000"/>
          </a:blip>
          <a:srcRect xmlns:a="http://schemas.openxmlformats.org/drawingml/2006/main" l="712" t="0" r="763" b="0"/>
          <a:stretch xmlns:a="http://schemas.openxmlformats.org/drawingml/2006/main"/>
        </p:blipFill>
        <p:spPr>
          <a:xfrm xmlns:a="http://schemas.openxmlformats.org/drawingml/2006/main">
            <a:off x="0" y="1631950"/>
            <a:ext cx="12191999" cy="25543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dist="50800" dir="2520000" algn="ctr" rotWithShape="0">
              <a:srgbClr val="000000"/>
            </a:outerShdw>
            <a:softEdge rad="0"/>
          </a:effectLst>
        </p:spPr>
      </p:pic>
      <p:sp>
        <p:nvSpPr>
          <p:cNvPr id="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415082DE-1CDD-EEA4-4CA4-2D1FE07F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517" y="2548929"/>
            <a:ext cx="9422837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defTabSz="457200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b="1" spc="2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资源耦合卫星地面调度中DQN家族的统计优势</a:t>
            </a:r>
            <a:endParaRPr b="1" spc="20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5DE8D11-5457-CDB3-0F1B-539A3D8B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72" y="5360655"/>
            <a:ext cx="9150129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000" b="1">
                <a:solidFill>
                  <a:srgbClr val="444444"/>
                </a:solidFill>
                <a:latin typeface="+mj-ea"/>
                <a:ea typeface="+mj-ea"/>
                <a:cs typeface="+mj-ea"/>
              </a:rPr>
              <a:t>哈尔滨工业大学（深圳）  空天科技学院</a:t>
            </a:r>
            <a:endParaRPr sz="2000" b="1">
              <a:solidFill>
                <a:srgbClr val="444444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000" b="1">
                <a:solidFill>
                  <a:srgbClr val="444444"/>
                </a:solidFill>
                <a:latin typeface="+mj-ea"/>
                <a:ea typeface="+mj-ea"/>
                <a:cs typeface="+mj-ea"/>
              </a:rPr>
              <a:t>卫星数据智能计算技术实验室</a:t>
            </a:r>
          </a:p>
        </p:txBody>
      </p:sp>
      <p:pic>
        <p:nvPicPr>
          <p:cNvPr id="30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299255b504a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1" y="645677"/>
            <a:ext cx="3509025" cy="863724"/>
          </a:xfrm>
          <a:prstGeom xmlns:a="http://schemas.openxmlformats.org/drawingml/2006/main" prst="rect">
            <a:avLst/>
          </a:prstGeom>
        </p:spPr>
      </p:pic>
      <p:pic>
        <p:nvPicPr>
          <p:cNvPr id="31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3778ba94242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7621" y="755320"/>
            <a:ext cx="935583" cy="815356"/>
          </a:xfrm>
          <a:prstGeom xmlns:a="http://schemas.openxmlformats.org/drawingml/2006/main" prst="rect">
            <a:avLst/>
          </a:prstGeom>
        </p:spPr>
      </p:pic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593C41F-F141-3541-EC37-CCA07435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077" y="986742"/>
            <a:ext cx="363812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/>
              <a:t>卫星数据智能计算技术实验室</a:t>
            </a:r>
          </a:p>
        </p:txBody>
      </p:sp>
    </p:spTree>
    <p:extLst>
      <p:ext uri="{BB962C8B-B14F-4D97-AF65-F5344CB8AC3E}">
        <p14:creationId xmlns:p14="http://schemas.microsoft.com/office/powerpoint/2010/main" val="4142920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1B58AE4-E742-12B0-9B0B-4E1CBF89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1" y="175207"/>
            <a:ext cx="9143999" cy="584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rPr>
              <a:t>目     录</a:t>
            </a:r>
          </a:p>
        </p:txBody>
      </p:sp>
      <p:sp>
        <p:nvSpPr>
          <p:cNvPr id="5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144C1845-8A53-EE57-9703-2DE28B3F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42" y="2404344"/>
            <a:ext cx="4810073" cy="664865"/>
          </a:xfrm>
          <a:custGeom xmlns:a="http://schemas.openxmlformats.org/drawingml/2006/main">
            <a:gdLst>
              <a:gd name="connsiteX0" fmla="*/ 122108 w 732631"/>
              <a:gd name="connsiteY0" fmla="*/ 0 h 5307012"/>
              <a:gd name="connsiteX1" fmla="*/ 610523 w 732631"/>
              <a:gd name="connsiteY1" fmla="*/ 0 h 5307012"/>
              <a:gd name="connsiteX2" fmla="*/ 732631 w 732631"/>
              <a:gd name="connsiteY2" fmla="*/ 122108 h 5307012"/>
              <a:gd name="connsiteX3" fmla="*/ 732631 w 732631"/>
              <a:gd name="connsiteY3" fmla="*/ 5307012 h 5307012"/>
              <a:gd name="connsiteX4" fmla="*/ 732631 w 732631"/>
              <a:gd name="connsiteY4" fmla="*/ 5307012 h 5307012"/>
              <a:gd name="connsiteX5" fmla="*/ 0 w 732631"/>
              <a:gd name="connsiteY5" fmla="*/ 5307012 h 5307012"/>
              <a:gd name="connsiteX6" fmla="*/ 0 w 732631"/>
              <a:gd name="connsiteY6" fmla="*/ 5307012 h 5307012"/>
              <a:gd name="connsiteX7" fmla="*/ 0 w 732631"/>
              <a:gd name="connsiteY7" fmla="*/ 122108 h 5307012"/>
              <a:gd name="connsiteX8" fmla="*/ 122108 w 732631"/>
              <a:gd name="connsiteY8" fmla="*/ 0 h 5307012"/>
            </a:gdLst>
            <a:rect l="l" t="t" r="r" b="b"/>
            <a:pathLst>
              <a:path w="732631" h="5307012">
                <a:moveTo>
                  <a:pt x="732631" y="884525"/>
                </a:moveTo>
                <a:lnTo>
                  <a:pt x="732631" y="4422487"/>
                </a:lnTo>
                <a:cubicBezTo>
                  <a:pt x="732631" y="4910992"/>
                  <a:pt x="725084" y="5307008"/>
                  <a:pt x="715774" y="5307008"/>
                </a:cubicBezTo>
                <a:lnTo>
                  <a:pt x="0" y="5307008"/>
                </a:lnTo>
                <a:lnTo>
                  <a:pt x="0" y="5307008"/>
                </a:lnTo>
                <a:lnTo>
                  <a:pt x="0" y="4"/>
                </a:lnTo>
                <a:lnTo>
                  <a:pt x="0" y="4"/>
                </a:lnTo>
                <a:lnTo>
                  <a:pt x="715774" y="4"/>
                </a:lnTo>
                <a:cubicBezTo>
                  <a:pt x="725084" y="4"/>
                  <a:pt x="732631" y="396020"/>
                  <a:pt x="732631" y="88452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  <a:alpha val="89804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Off val="0"/>
            </a:schemeClr>
          </a:lnRef>
          <a:fillRef xmlns:a="http://schemas.openxmlformats.org/drawingml/2006/main" idx="1">
            <a:schemeClr val="lt1">
              <a:lumOff val="0"/>
              <a:alpha val="90000"/>
            </a:schemeClr>
          </a:fillRef>
          <a:effectRef xmlns:a="http://schemas.openxmlformats.org/drawingml/2006/main" idx="0">
            <a:schemeClr val="lt1">
              <a:lumOff val="0"/>
              <a:alpha val="90000"/>
            </a:schemeClr>
          </a:effectRef>
          <a:fontRef xmlns:a="http://schemas.openxmlformats.org/drawingml/2006/main" idx="minor">
            <a:schemeClr val="dk1">
              <a:lumOff val="0"/>
            </a:schemeClr>
          </a:fontRef>
        </p:style>
        <p:txBody>
          <a:bodyPr xmlns:a="http://schemas.openxmlformats.org/drawingml/2006/main" lIns="3600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 b="1">
                <a:latin typeface="黑体"/>
                <a:ea typeface="黑体"/>
                <a:cs typeface="黑体"/>
              </a:rPr>
              <a:t>  研究背景与问题</a:t>
            </a: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439703B5-0A6F-5755-AC65-3F9DBE83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130" y="2376423"/>
            <a:ext cx="1229155" cy="725941"/>
          </a:xfrm>
          <a:custGeom xmlns:a="http://schemas.openxmlformats.org/drawingml/2006/main">
            <a:gdLst>
              <a:gd name="connsiteX0" fmla="*/ 0 w 872351"/>
              <a:gd name="connsiteY0" fmla="*/ 0 h 721783"/>
              <a:gd name="connsiteX1" fmla="*/ 697880 w 872351"/>
              <a:gd name="connsiteY1" fmla="*/ 0 h 721783"/>
              <a:gd name="connsiteX2" fmla="*/ 872351 w 872351"/>
              <a:gd name="connsiteY2" fmla="*/ 360892 h 721783"/>
              <a:gd name="connsiteX3" fmla="*/ 697880 w 872351"/>
              <a:gd name="connsiteY3" fmla="*/ 721783 h 721783"/>
              <a:gd name="connsiteX4" fmla="*/ 0 w 872351"/>
              <a:gd name="connsiteY4" fmla="*/ 721783 h 721783"/>
            </a:gdLst>
            <a:rect l="l" t="t" r="r" b="b"/>
            <a:pathLst>
              <a:path w="872351" h="721783">
                <a:moveTo>
                  <a:pt x="0" y="0"/>
                </a:moveTo>
                <a:lnTo>
                  <a:pt x="697880" y="0"/>
                </a:lnTo>
                <a:lnTo>
                  <a:pt x="872351" y="360892"/>
                </a:lnTo>
                <a:lnTo>
                  <a:pt x="697880" y="721783"/>
                </a:lnTo>
                <a:lnTo>
                  <a:pt x="0" y="721783"/>
                </a:lnTo>
                <a:close/>
              </a:path>
            </a:pathLst>
          </a:custGeom>
          <a:solidFill xmlns:a="http://schemas.openxmlformats.org/drawingml/2006/main">
            <a:srgbClr val="204570"/>
          </a:solidFill>
          <a:ln xmlns:a="http://schemas.openxmlformats.org/drawingml/2006/main" w="7620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36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64502C42-4200-8793-B8C9-F47A0C71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42" y="3247753"/>
            <a:ext cx="4810073" cy="666610"/>
          </a:xfrm>
          <a:custGeom xmlns:a="http://schemas.openxmlformats.org/drawingml/2006/main">
            <a:gdLst>
              <a:gd name="connsiteX0" fmla="*/ 122108 w 732631"/>
              <a:gd name="connsiteY0" fmla="*/ 0 h 5307012"/>
              <a:gd name="connsiteX1" fmla="*/ 610523 w 732631"/>
              <a:gd name="connsiteY1" fmla="*/ 0 h 5307012"/>
              <a:gd name="connsiteX2" fmla="*/ 732631 w 732631"/>
              <a:gd name="connsiteY2" fmla="*/ 122108 h 5307012"/>
              <a:gd name="connsiteX3" fmla="*/ 732631 w 732631"/>
              <a:gd name="connsiteY3" fmla="*/ 5307012 h 5307012"/>
              <a:gd name="connsiteX4" fmla="*/ 732631 w 732631"/>
              <a:gd name="connsiteY4" fmla="*/ 5307012 h 5307012"/>
              <a:gd name="connsiteX5" fmla="*/ 0 w 732631"/>
              <a:gd name="connsiteY5" fmla="*/ 5307012 h 5307012"/>
              <a:gd name="connsiteX6" fmla="*/ 0 w 732631"/>
              <a:gd name="connsiteY6" fmla="*/ 5307012 h 5307012"/>
              <a:gd name="connsiteX7" fmla="*/ 0 w 732631"/>
              <a:gd name="connsiteY7" fmla="*/ 122108 h 5307012"/>
              <a:gd name="connsiteX8" fmla="*/ 122108 w 732631"/>
              <a:gd name="connsiteY8" fmla="*/ 0 h 5307012"/>
            </a:gdLst>
            <a:rect l="l" t="t" r="r" b="b"/>
            <a:pathLst>
              <a:path w="732631" h="5307012">
                <a:moveTo>
                  <a:pt x="732631" y="884525"/>
                </a:moveTo>
                <a:lnTo>
                  <a:pt x="732631" y="4422487"/>
                </a:lnTo>
                <a:cubicBezTo>
                  <a:pt x="732631" y="4910992"/>
                  <a:pt x="725084" y="5307008"/>
                  <a:pt x="715774" y="5307008"/>
                </a:cubicBezTo>
                <a:lnTo>
                  <a:pt x="0" y="5307008"/>
                </a:lnTo>
                <a:lnTo>
                  <a:pt x="0" y="5307008"/>
                </a:lnTo>
                <a:lnTo>
                  <a:pt x="0" y="4"/>
                </a:lnTo>
                <a:lnTo>
                  <a:pt x="0" y="4"/>
                </a:lnTo>
                <a:lnTo>
                  <a:pt x="715774" y="4"/>
                </a:lnTo>
                <a:cubicBezTo>
                  <a:pt x="725084" y="4"/>
                  <a:pt x="732631" y="396020"/>
                  <a:pt x="732631" y="88452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  <a:alpha val="89804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Off val="0"/>
            </a:schemeClr>
          </a:lnRef>
          <a:fillRef xmlns:a="http://schemas.openxmlformats.org/drawingml/2006/main" idx="1">
            <a:schemeClr val="lt1">
              <a:lumOff val="0"/>
              <a:alpha val="90000"/>
            </a:schemeClr>
          </a:fillRef>
          <a:effectRef xmlns:a="http://schemas.openxmlformats.org/drawingml/2006/main" idx="0">
            <a:schemeClr val="lt1">
              <a:lumOff val="0"/>
              <a:alpha val="90000"/>
            </a:schemeClr>
          </a:effectRef>
          <a:fontRef xmlns:a="http://schemas.openxmlformats.org/drawingml/2006/main" idx="minor">
            <a:schemeClr val="dk1">
              <a:lumOff val="0"/>
            </a:schemeClr>
          </a:fontRef>
        </p:style>
        <p:txBody>
          <a:bodyPr xmlns:a="http://schemas.openxmlformats.org/drawingml/2006/main" lIns="3600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 b="1">
                <a:latin typeface="黑体"/>
                <a:ea typeface="黑体"/>
                <a:cs typeface="黑体"/>
              </a:rPr>
              <a:t>  基准设计与方法</a:t>
            </a:r>
          </a:p>
        </p:txBody>
      </p:sp>
      <p:sp>
        <p:nvSpPr>
          <p:cNvPr id="10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94B16F55-9837-DE9A-8F1F-B28B292A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130" y="3221577"/>
            <a:ext cx="1229155" cy="724197"/>
          </a:xfrm>
          <a:custGeom xmlns:a="http://schemas.openxmlformats.org/drawingml/2006/main">
            <a:gdLst>
              <a:gd name="connsiteX0" fmla="*/ 0 w 872351"/>
              <a:gd name="connsiteY0" fmla="*/ 0 h 721783"/>
              <a:gd name="connsiteX1" fmla="*/ 697880 w 872351"/>
              <a:gd name="connsiteY1" fmla="*/ 0 h 721783"/>
              <a:gd name="connsiteX2" fmla="*/ 872351 w 872351"/>
              <a:gd name="connsiteY2" fmla="*/ 360892 h 721783"/>
              <a:gd name="connsiteX3" fmla="*/ 697880 w 872351"/>
              <a:gd name="connsiteY3" fmla="*/ 721783 h 721783"/>
              <a:gd name="connsiteX4" fmla="*/ 0 w 872351"/>
              <a:gd name="connsiteY4" fmla="*/ 721783 h 721783"/>
            </a:gdLst>
            <a:rect l="l" t="t" r="r" b="b"/>
            <a:pathLst>
              <a:path w="872351" h="721783">
                <a:moveTo>
                  <a:pt x="0" y="0"/>
                </a:moveTo>
                <a:lnTo>
                  <a:pt x="697880" y="0"/>
                </a:lnTo>
                <a:lnTo>
                  <a:pt x="872351" y="360892"/>
                </a:lnTo>
                <a:lnTo>
                  <a:pt x="697880" y="721783"/>
                </a:lnTo>
                <a:lnTo>
                  <a:pt x="0" y="721783"/>
                </a:lnTo>
                <a:close/>
              </a:path>
            </a:pathLst>
          </a:custGeom>
          <a:solidFill xmlns:a="http://schemas.openxmlformats.org/drawingml/2006/main">
            <a:srgbClr val="204570"/>
          </a:solidFill>
          <a:ln xmlns:a="http://schemas.openxmlformats.org/drawingml/2006/main" w="7620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36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5138FE40-7002-E744-369F-71BF0DD4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42" y="4102828"/>
            <a:ext cx="4810073" cy="666610"/>
          </a:xfrm>
          <a:custGeom xmlns:a="http://schemas.openxmlformats.org/drawingml/2006/main">
            <a:gdLst>
              <a:gd name="connsiteX0" fmla="*/ 122108 w 732631"/>
              <a:gd name="connsiteY0" fmla="*/ 0 h 5307012"/>
              <a:gd name="connsiteX1" fmla="*/ 610523 w 732631"/>
              <a:gd name="connsiteY1" fmla="*/ 0 h 5307012"/>
              <a:gd name="connsiteX2" fmla="*/ 732631 w 732631"/>
              <a:gd name="connsiteY2" fmla="*/ 122108 h 5307012"/>
              <a:gd name="connsiteX3" fmla="*/ 732631 w 732631"/>
              <a:gd name="connsiteY3" fmla="*/ 5307012 h 5307012"/>
              <a:gd name="connsiteX4" fmla="*/ 732631 w 732631"/>
              <a:gd name="connsiteY4" fmla="*/ 5307012 h 5307012"/>
              <a:gd name="connsiteX5" fmla="*/ 0 w 732631"/>
              <a:gd name="connsiteY5" fmla="*/ 5307012 h 5307012"/>
              <a:gd name="connsiteX6" fmla="*/ 0 w 732631"/>
              <a:gd name="connsiteY6" fmla="*/ 5307012 h 5307012"/>
              <a:gd name="connsiteX7" fmla="*/ 0 w 732631"/>
              <a:gd name="connsiteY7" fmla="*/ 122108 h 5307012"/>
              <a:gd name="connsiteX8" fmla="*/ 122108 w 732631"/>
              <a:gd name="connsiteY8" fmla="*/ 0 h 5307012"/>
            </a:gdLst>
            <a:rect l="l" t="t" r="r" b="b"/>
            <a:pathLst>
              <a:path w="732631" h="5307012">
                <a:moveTo>
                  <a:pt x="732631" y="884525"/>
                </a:moveTo>
                <a:lnTo>
                  <a:pt x="732631" y="4422487"/>
                </a:lnTo>
                <a:cubicBezTo>
                  <a:pt x="732631" y="4910992"/>
                  <a:pt x="725084" y="5307008"/>
                  <a:pt x="715774" y="5307008"/>
                </a:cubicBezTo>
                <a:lnTo>
                  <a:pt x="0" y="5307008"/>
                </a:lnTo>
                <a:lnTo>
                  <a:pt x="0" y="5307008"/>
                </a:lnTo>
                <a:lnTo>
                  <a:pt x="0" y="4"/>
                </a:lnTo>
                <a:lnTo>
                  <a:pt x="0" y="4"/>
                </a:lnTo>
                <a:lnTo>
                  <a:pt x="715774" y="4"/>
                </a:lnTo>
                <a:cubicBezTo>
                  <a:pt x="725084" y="4"/>
                  <a:pt x="732631" y="396020"/>
                  <a:pt x="732631" y="88452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  <a:alpha val="89804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Off val="0"/>
            </a:schemeClr>
          </a:lnRef>
          <a:fillRef xmlns:a="http://schemas.openxmlformats.org/drawingml/2006/main" idx="1">
            <a:schemeClr val="lt1">
              <a:lumOff val="0"/>
              <a:alpha val="90000"/>
            </a:schemeClr>
          </a:fillRef>
          <a:effectRef xmlns:a="http://schemas.openxmlformats.org/drawingml/2006/main" idx="0">
            <a:schemeClr val="lt1">
              <a:lumOff val="0"/>
              <a:alpha val="90000"/>
            </a:schemeClr>
          </a:effectRef>
          <a:fontRef xmlns:a="http://schemas.openxmlformats.org/drawingml/2006/main" idx="minor">
            <a:schemeClr val="dk1">
              <a:lumOff val="0"/>
            </a:schemeClr>
          </a:fontRef>
        </p:style>
        <p:txBody>
          <a:bodyPr xmlns:a="http://schemas.openxmlformats.org/drawingml/2006/main" lIns="3600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 b="1">
                <a:latin typeface="黑体"/>
                <a:ea typeface="黑体"/>
                <a:cs typeface="黑体"/>
              </a:rPr>
              <a:t>  实验结果与结论</a:t>
            </a:r>
          </a:p>
        </p:txBody>
      </p:sp>
      <p:sp>
        <p:nvSpPr>
          <p:cNvPr id="12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262CF5D0-7092-E66A-7C52-5C27F9FB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130" y="4074906"/>
            <a:ext cx="1229155" cy="725941"/>
          </a:xfrm>
          <a:custGeom xmlns:a="http://schemas.openxmlformats.org/drawingml/2006/main">
            <a:gdLst>
              <a:gd name="connsiteX0" fmla="*/ 0 w 872351"/>
              <a:gd name="connsiteY0" fmla="*/ 0 h 721783"/>
              <a:gd name="connsiteX1" fmla="*/ 697880 w 872351"/>
              <a:gd name="connsiteY1" fmla="*/ 0 h 721783"/>
              <a:gd name="connsiteX2" fmla="*/ 872351 w 872351"/>
              <a:gd name="connsiteY2" fmla="*/ 360892 h 721783"/>
              <a:gd name="connsiteX3" fmla="*/ 697880 w 872351"/>
              <a:gd name="connsiteY3" fmla="*/ 721783 h 721783"/>
              <a:gd name="connsiteX4" fmla="*/ 0 w 872351"/>
              <a:gd name="connsiteY4" fmla="*/ 721783 h 721783"/>
            </a:gdLst>
            <a:rect l="l" t="t" r="r" b="b"/>
            <a:pathLst>
              <a:path w="872351" h="721783">
                <a:moveTo>
                  <a:pt x="0" y="0"/>
                </a:moveTo>
                <a:lnTo>
                  <a:pt x="697880" y="0"/>
                </a:lnTo>
                <a:lnTo>
                  <a:pt x="872351" y="360892"/>
                </a:lnTo>
                <a:lnTo>
                  <a:pt x="697880" y="721783"/>
                </a:lnTo>
                <a:lnTo>
                  <a:pt x="0" y="721783"/>
                </a:lnTo>
                <a:close/>
              </a:path>
            </a:pathLst>
          </a:custGeom>
          <a:solidFill xmlns:a="http://schemas.openxmlformats.org/drawingml/2006/main">
            <a:srgbClr val="204570"/>
          </a:solidFill>
          <a:ln xmlns:a="http://schemas.openxmlformats.org/drawingml/2006/main" w="7620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36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935731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6e62dd4204a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68300" y="1656743"/>
            <a:ext cx="5456237" cy="2839713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FC51B37-B5E2-748D-6121-F4E878F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161" y="6112888"/>
            <a:ext cx="7703673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单步成本不足以描述资源耦合调度中的长期代价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3687C8C-6F56-840C-6EED-4AE60338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954902"/>
            <a:ext cx="11557000" cy="5810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73BA106-C5C9-4CF5-EEDD-BF58B395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38101"/>
            <a:ext cx="591343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一、研究背景与问题</a:t>
            </a:r>
            <a:endParaRPr/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80E35AFE-ABD4-2DC1-3EC2-F10015D2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61" y="4541274"/>
            <a:ext cx="5871237" cy="15267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卫星任务可在星上处理、地面处理或星地协同之间选择。三种动作会共同改变热状态、能量、任务队列、计算利用率、带宽和剩余通信窗口。</a:t>
            </a:r>
            <a:endParaRPr sz="1600" b="1" kern="100">
              <a:latin typeface="+mn-ea"/>
              <a:ea typeface="+mn-ea"/>
              <a:cs typeface="+mn-ea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9283502-1DD8-41B7-B187-905237BA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37" y="1059609"/>
            <a:ext cx="115570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资源耦合卫星地面调度</a:t>
            </a:r>
          </a:p>
        </p:txBody>
      </p:sp>
      <p:pic>
        <p:nvPicPr>
          <p:cNvPr id="29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45003d96e4d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367465" y="1350137"/>
            <a:ext cx="4855633" cy="2962835"/>
          </a:xfrm>
          <a:prstGeom xmlns:a="http://schemas.openxmlformats.org/drawingml/2006/main" prst="rect">
            <a:avLst/>
          </a:prstGeom>
        </p:spPr>
      </p:pic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00A0A7F-B537-43F5-9411-04CE3418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934" y="4509333"/>
            <a:ext cx="5871237" cy="15267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这些资源会跨任务持续演化。当前成本较低的动作可能占用后续任务所需的计算或链路资源，因此调度策略必须考虑长期累积影响。</a:t>
            </a:r>
          </a:p>
        </p:txBody>
      </p:sp>
    </p:spTree>
    <p:extLst>
      <p:ext uri="{BB962C8B-B14F-4D97-AF65-F5344CB8AC3E}">
        <p14:creationId xmlns:p14="http://schemas.microsoft.com/office/powerpoint/2010/main" val="16671104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FC51B37-B5E2-748D-6121-F4E878F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430" y="6315986"/>
            <a:ext cx="7621265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研究重点是DQN家族优势及其统计支持，不宣称单一目标普遍最优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3687C8C-6F56-840C-6EED-4AE60338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" y="753682"/>
            <a:ext cx="115570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研究问题与主要贡献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73BA106-C5C9-4CF5-EEDD-BF58B395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38101"/>
            <a:ext cx="591343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一、研究背景与问题</a:t>
            </a:r>
            <a:endParaRPr/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80E35AFE-ABD4-2DC1-3EC2-F10015D2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92" y="4797455"/>
            <a:ext cx="10154378" cy="1306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b="1">
                <a:latin typeface="+mn-ea"/>
                <a:ea typeface="+mn-ea"/>
                <a:cs typeface="+mn-ea"/>
              </a:rPr>
              <a:t>在匹配网络结构、训练预算和评测轨迹的条件下，本文检验长期价值学习能否稳定优于一步决策与有限视野规划。研究构建了可复现的合成软约束基准，比较六种DQN目标，并在20个模型种子、共享测试轨迹和五个完全耦合场景上进行联合统计推断。</a:t>
            </a:r>
          </a:p>
        </p:txBody>
      </p:sp>
      <p:pic>
        <p:nvPicPr>
          <p:cNvPr id="2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ef1d4fe204d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997887" y="1684321"/>
            <a:ext cx="3687616" cy="2763552"/>
          </a:xfrm>
          <a:prstGeom xmlns:a="http://schemas.openxmlformats.org/drawingml/2006/main" prst="rect">
            <a:avLst/>
          </a:prstGeom>
        </p:spPr>
      </p:pic>
      <p:pic>
        <p:nvPicPr>
          <p:cNvPr id="28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dc7b2f0cf4b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06497" y="1334739"/>
            <a:ext cx="7113856" cy="352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999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4F0EB57-D5DC-3B8B-2438-52331101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38101"/>
            <a:ext cx="591343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二、基准设计与方法</a:t>
            </a:r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6C075E2-464A-8479-BC0E-43339C87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64" y="943830"/>
            <a:ext cx="11642271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资源状态与决策流程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548C13AE-EE9B-5F50-9385-06F5B04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334" y="1255086"/>
            <a:ext cx="4683978" cy="34746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1、状态包含15维任务描述、时间与链路相位，以及6维持续资源。</a:t>
            </a:r>
            <a:endParaRPr sz="1600" b="1" kern="100">
              <a:latin typeface="+mn-ea"/>
              <a:ea typeface="+mn-ea"/>
              <a:cs typeface="+mn-ea"/>
            </a:endParaRPr>
          </a:p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t>2、动作包括星上处理、地面处理和星地协同。</a:t>
            </a:r>
            <a:endParaRPr sz="1600" b="1" kern="100">
              <a:latin typeface="+mn-ea"/>
              <a:ea typeface="+mn-ea"/>
              <a:cs typeface="+mn-ea"/>
            </a:endParaRPr>
          </a:p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3、解析转移模型统一返回即时成本和动作后的资源状态，用于训练、MPC和部署评测。</a:t>
            </a:r>
            <a:endParaRPr sz="1600" b="1" kern="100">
              <a:latin typeface="+mn-ea"/>
              <a:ea typeface="+mn-ea"/>
              <a:cs typeface="+mn-ea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667591E-27E5-5DFF-C40F-0358C9DA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23" y="6241116"/>
            <a:ext cx="9735317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统一状态、转移与成本模型，保证各调度方法在相同条件下比较</a:t>
            </a:r>
          </a:p>
        </p:txBody>
      </p:sp>
      <p:pic>
        <p:nvPicPr>
          <p:cNvPr id="15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4420a999b44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79983" y="1772336"/>
            <a:ext cx="6953528" cy="37259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430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4F0EB57-D5DC-3B8B-2438-52331101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38101"/>
            <a:ext cx="591343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二、基准设计与方法</a:t>
            </a:r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6C075E2-464A-8479-BC0E-43339C87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64" y="943830"/>
            <a:ext cx="11642271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六种DQN学习目标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548C13AE-EE9B-5F50-9385-06F5B04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252" y="1394272"/>
            <a:ext cx="4572568" cy="34746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b="1">
                <a:latin typeface="+mn-ea"/>
                <a:ea typeface="+mn-ea"/>
                <a:cs typeface="+mn-ea"/>
              </a:rPr>
              <a:t>所有模型采用相同的24维输入、128–128–64网络，并进行38400次真实交互。比较Standard、Full-action Q、Immediate advantage、Centered、Double和Double + centered。辅助变体只在训练阶段使用全动作结果。</a:t>
            </a:r>
            <a:endParaRPr b="1" kern="100">
              <a:latin typeface="+mn-ea"/>
              <a:ea typeface="+mn-ea"/>
              <a:cs typeface="+mn-ea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667591E-27E5-5DFF-C40F-0358C9DA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340" y="6105562"/>
            <a:ext cx="9735317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只改变学习目标，其余训练条件和评测轨迹保持一致</a:t>
            </a:r>
          </a:p>
        </p:txBody>
      </p:sp>
      <p:pic>
        <p:nvPicPr>
          <p:cNvPr id="15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31aa817944a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28946" y="2207052"/>
            <a:ext cx="6758225" cy="26618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3333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988271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统计评测设置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38F33ED-F04F-FDE9-44DC-C1B35F59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510" y="1482148"/>
            <a:ext cx="5603761" cy="229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实验使用20个独立模型种子，每个种子在20条共享保留轨迹上评测。主要结论覆盖5个完全耦合场景，共形成30个DQN与MPC-4比较。统计推断采用10000次联合bootstrap和Holm校正符号检验。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85EB151-632A-5BC2-4867-3CA05C6F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5240" y="5375852"/>
            <a:ext cx="5071401" cy="57912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支持判据：均值差为负、95%区间排除0，并通过多重比较校正</a:t>
            </a:r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d26713f1c46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299758" y="1600748"/>
            <a:ext cx="2796242" cy="2097181"/>
          </a:xfrm>
          <a:prstGeom xmlns:a="http://schemas.openxmlformats.org/drawingml/2006/main" prst="rect">
            <a:avLst/>
          </a:prstGeom>
        </p:spPr>
      </p:pic>
      <p:pic>
        <p:nvPicPr>
          <p:cNvPr id="28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877ebb6e649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64819" y="1600748"/>
            <a:ext cx="2796241" cy="2097181"/>
          </a:xfrm>
          <a:prstGeom xmlns:a="http://schemas.openxmlformats.org/drawingml/2006/main" prst="rect">
            <a:avLst/>
          </a:prstGeom>
        </p:spPr>
      </p:pic>
      <p:pic>
        <p:nvPicPr>
          <p:cNvPr id="29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bae258433461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64819" y="3772548"/>
            <a:ext cx="2796242" cy="2097181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B77913E-D14B-47B1-91DD-379C7705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698" y="4497972"/>
            <a:ext cx="243436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模型、场景与敏感性三类检查</a:t>
            </a:r>
          </a:p>
        </p:txBody>
      </p:sp>
    </p:spTree>
    <p:extLst>
      <p:ext uri="{BB962C8B-B14F-4D97-AF65-F5344CB8AC3E}">
        <p14:creationId xmlns:p14="http://schemas.microsoft.com/office/powerpoint/2010/main" val="28556154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988271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七类场景总体表现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38F33ED-F04F-FDE9-44DC-C1B35F59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510" y="1482148"/>
            <a:ext cx="5603761" cy="229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Static与Reduced用于诊断耦合边界；Nominal、Burst、Link-limited、Energy-limited和Thermal-stress用于主要结论。成本越低越好。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85EB151-632A-5BC2-4867-3CA05C6F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299" y="5700452"/>
            <a:ext cx="5071401" cy="57912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五个完全耦合场景中，DQN家族均低于所有非DQN基线</a:t>
            </a:r>
          </a:p>
        </p:txBody>
      </p:sp>
      <p:pic>
        <p:nvPicPr>
          <p:cNvPr id="20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ca66d9d9b4d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1482148"/>
            <a:ext cx="12192000" cy="37714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1921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34" y="877170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DQN家族相对MPC-4的联合证据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E3750E08-3908-4A8B-A649-A1F4CC7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228" y="6229292"/>
            <a:ext cx="7209635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30/30个比较支持DQN家族优势</a:t>
            </a:r>
            <a:endParaRPr sz="16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8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880caf98849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45934" y="1338835"/>
            <a:ext cx="8813800" cy="4605173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523D907-6DA9-45F0-8BCB-9B584939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734" y="1458566"/>
            <a:ext cx="2921960" cy="13255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400" b="1">
                <a:latin typeface="+mn-ea"/>
                <a:ea typeface="+mn-ea"/>
                <a:cs typeface="+mn-ea"/>
              </a:rPr>
              <a:t>30个DQN–MPC-4平均差均为负，配对95%区间全部排除0。最不利均值差为−5.92，同时95%上界为−5.03；Holm校正后最大p值为5.722×10⁻⁵。</a:t>
            </a:r>
            <a:endParaRPr sz="1400" b="1" kern="100">
              <a:latin typeface="+mn-ea"/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67986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34" y="877170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目标内部差异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E3750E08-3908-4A8B-A649-A1F4CC7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228" y="6229292"/>
            <a:ext cx="7209635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稳定结论属于DQN家族，目标之间没有普遍赢家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523D907-6DA9-45F0-8BCB-9B584939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734" y="1458566"/>
            <a:ext cx="2921960" cy="13255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400" b="1">
                <a:latin typeface="+mn-ea"/>
                <a:ea typeface="+mn-ea"/>
                <a:cs typeface="+mn-ea"/>
              </a:rPr>
              <a:t>Nominal场景中，六种DQN成本为77.66–78.40，MPC-4为90.83。家族内部差异较小并随场景变化。Centered在多个场景中最低，但并非普遍最优。</a:t>
            </a:r>
          </a:p>
        </p:txBody>
      </p:sp>
      <p:pic>
        <p:nvPicPr>
          <p:cNvPr id="29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a492724a44dd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00806" y="1338835"/>
            <a:ext cx="8210456" cy="4813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4909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34" y="877170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敏感性、规划深度与结论边界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E3750E08-3908-4A8B-A649-A1F4CC7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228" y="6229292"/>
            <a:ext cx="7209635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+mn-ea"/>
                <a:ea typeface="+mn-ea"/>
                <a:cs typeface="+mn-ea"/>
              </a:rPr>
              <a:t>结果支持受控合成基准中的长期价值学习，真实任务与硬约束仍需验证</a:t>
            </a:r>
            <a:endParaRPr sz="16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523D907-6DA9-45F0-8BCB-9B584939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734" y="1458566"/>
            <a:ext cx="2921960" cy="13255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400" b="1">
                <a:latin typeface="+mn-ea"/>
                <a:ea typeface="+mn-ea"/>
                <a:cs typeface="+mn-ea"/>
              </a:rPr>
              <a:t>8个参数剖面均支持Centered相对Standard的改善，幅度为0.5%至1.66%。预览统一缩放±15%时，各有3/5场景满足支持判据。精确规划从H=1增至H=6，成本由99.33降至89.35，运行时间由0.13增至42.50 ms。</a:t>
            </a:r>
          </a:p>
        </p:txBody>
      </p:sp>
      <p:pic>
        <p:nvPicPr>
          <p:cNvPr id="29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1459a73c043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10306" y="1338835"/>
            <a:ext cx="8638185" cy="45743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6479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0877100-8DEB-43B5-BEA2-BF23C746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31950"/>
            <a:ext cx="12192000" cy="2566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160">
              <a:alpha val="81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f9f879da14f1c">
            <a:alphaModFix amt="20000"/>
          </a:blip>
          <a:srcRect xmlns:a="http://schemas.openxmlformats.org/drawingml/2006/main" l="712" t="0" r="7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631950"/>
            <a:ext cx="12191999" cy="25543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dist="50800" dir="2520000" algn="ctr" rotWithShape="0">
              <a:srgbClr val="000000"/>
            </a:outerShdw>
            <a:softEdge rad="0"/>
          </a:effectLst>
        </p:spPr>
      </p:pic>
      <p:sp>
        <p:nvSpPr>
          <p:cNvPr id="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4F1CC92-E5CD-4AA0-8BA1-17818C4A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938" y="1946398"/>
            <a:ext cx="8730343" cy="1938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defTabSz="457200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sz="4000" b="1" spc="2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感谢各位聆听！</a:t>
            </a:r>
          </a:p>
          <a:p xmlns:a="http://schemas.openxmlformats.org/drawingml/2006/main"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sz="4000" b="1" spc="2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敬请批评指正！</a:t>
            </a:r>
          </a:p>
        </p:txBody>
      </p:sp>
    </p:spTree>
    <p:extLst>
      <p:ext uri="{BB962C8B-B14F-4D97-AF65-F5344CB8AC3E}">
        <p14:creationId xmlns:p14="http://schemas.microsoft.com/office/powerpoint/2010/main" val="1342689441"/>
      </p:ext>
    </p:extLst>
  </p:cSld>
</p:sld>
</file>

<file path=ppt/theme/theme1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2026-09-10T08:14:44.8470000Z</dcterms:created>
  <dcterms:modified xsi:type="dcterms:W3CDTF">2026-09-10T08:14:44.8470000Z</dcterms:modified>
</coreProperties>
</file>
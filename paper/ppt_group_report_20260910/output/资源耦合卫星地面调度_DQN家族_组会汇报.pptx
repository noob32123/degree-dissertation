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fb140b8b174dcb" /><Relationship Type="http://schemas.openxmlformats.org/officeDocument/2006/relationships/extended-properties" Target="/docProps/app.xml" Id="R2db8925430244a70" /><Relationship Type="http://schemas.openxmlformats.org/officeDocument/2006/relationships/officeDocument" Target="/ppt/presentation.xml" Id="R3c9fb20cf57b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3d196dfc5a4840"/>
  </p:sldMasterIdLst>
  <p:notesMasterIdLst>
    <p:notesMasterId xmlns:r="http://schemas.openxmlformats.org/officeDocument/2006/relationships" r:id="Rff592537077f4a2e"/>
  </p:notesMasterIdLst>
  <p:sldIdLst>
    <p:sldId xmlns:r="http://schemas.openxmlformats.org/officeDocument/2006/relationships" id="256" r:id="R5a1c8eb09cc843ed"/>
    <p:sldId xmlns:r="http://schemas.openxmlformats.org/officeDocument/2006/relationships" id="257" r:id="R43d17bedb51e4c43"/>
    <p:sldId xmlns:r="http://schemas.openxmlformats.org/officeDocument/2006/relationships" id="258" r:id="R6aca7f7ff44a46df"/>
    <p:sldId xmlns:r="http://schemas.openxmlformats.org/officeDocument/2006/relationships" id="259" r:id="Rcfb4e7d614d74993"/>
    <p:sldId xmlns:r="http://schemas.openxmlformats.org/officeDocument/2006/relationships" id="260" r:id="R3467fd216a60405a"/>
    <p:sldId xmlns:r="http://schemas.openxmlformats.org/officeDocument/2006/relationships" id="261" r:id="R36d2bea3f98c42c7"/>
    <p:sldId xmlns:r="http://schemas.openxmlformats.org/officeDocument/2006/relationships" id="262" r:id="R1635f80507df4a31"/>
    <p:sldId xmlns:r="http://schemas.openxmlformats.org/officeDocument/2006/relationships" id="263" r:id="R70f9c01a424d4ec9"/>
    <p:sldId xmlns:r="http://schemas.openxmlformats.org/officeDocument/2006/relationships" id="264" r:id="Ra92d2e31fd584fee"/>
    <p:sldId xmlns:r="http://schemas.openxmlformats.org/officeDocument/2006/relationships" id="265" r:id="Rae99b9c604da4ecc"/>
    <p:sldId xmlns:r="http://schemas.openxmlformats.org/officeDocument/2006/relationships" id="266" r:id="Rc7c92c8f4d644b59"/>
    <p:sldId xmlns:r="http://schemas.openxmlformats.org/officeDocument/2006/relationships" id="267" r:id="R9c09142db1b64da7"/>
    <p:sldId xmlns:r="http://schemas.openxmlformats.org/officeDocument/2006/relationships" id="268" r:id="R99b49a1099cc4b46"/>
    <p:sldId xmlns:r="http://schemas.openxmlformats.org/officeDocument/2006/relationships" id="269" r:id="R62deac8a87f84e83"/>
    <p:sldId xmlns:r="http://schemas.openxmlformats.org/officeDocument/2006/relationships" id="270" r:id="R7ea7c8dd5d31474d"/>
    <p:sldId xmlns:r="http://schemas.openxmlformats.org/officeDocument/2006/relationships" id="271" r:id="R994b2012bb274a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22fdc695034857" /><Relationship Type="http://schemas.openxmlformats.org/officeDocument/2006/relationships/slideMaster" Target="/ppt/slideMasters/slideMaster1.xml" Id="R073d196dfc5a4840" /><Relationship Type="http://schemas.openxmlformats.org/officeDocument/2006/relationships/notesMaster" Target="/ppt/notesMasters/notesMaster1.xml" Id="Rff592537077f4a2e" /><Relationship Type="http://schemas.openxmlformats.org/officeDocument/2006/relationships/presProps" Target="/ppt/presProps.xml" Id="R8619c92b9b28469c" /><Relationship Type="http://schemas.openxmlformats.org/officeDocument/2006/relationships/viewProps" Target="/ppt/viewProps.xml" Id="Ra669472f802845f9" /><Relationship Type="http://schemas.openxmlformats.org/officeDocument/2006/relationships/tableStyles" Target="/ppt/tableStyles.xml" Id="R30774ff82d1b4616" /><Relationship Type="http://schemas.openxmlformats.org/officeDocument/2006/relationships/slide" Target="/ppt/slides/slide1.xml" Id="R5a1c8eb09cc843ed" /><Relationship Type="http://schemas.openxmlformats.org/officeDocument/2006/relationships/slide" Target="/ppt/slides/slide2.xml" Id="R43d17bedb51e4c43" /><Relationship Type="http://schemas.openxmlformats.org/officeDocument/2006/relationships/slide" Target="/ppt/slides/slide3.xml" Id="R6aca7f7ff44a46df" /><Relationship Type="http://schemas.openxmlformats.org/officeDocument/2006/relationships/slide" Target="/ppt/slides/slide4.xml" Id="Rcfb4e7d614d74993" /><Relationship Type="http://schemas.openxmlformats.org/officeDocument/2006/relationships/slide" Target="/ppt/slides/slide5.xml" Id="R3467fd216a60405a" /><Relationship Type="http://schemas.openxmlformats.org/officeDocument/2006/relationships/slide" Target="/ppt/slides/slide6.xml" Id="R36d2bea3f98c42c7" /><Relationship Type="http://schemas.openxmlformats.org/officeDocument/2006/relationships/slide" Target="/ppt/slides/slide7.xml" Id="R1635f80507df4a31" /><Relationship Type="http://schemas.openxmlformats.org/officeDocument/2006/relationships/slide" Target="/ppt/slides/slide8.xml" Id="R70f9c01a424d4ec9" /><Relationship Type="http://schemas.openxmlformats.org/officeDocument/2006/relationships/slide" Target="/ppt/slides/slide9.xml" Id="Ra92d2e31fd584fee" /><Relationship Type="http://schemas.openxmlformats.org/officeDocument/2006/relationships/slide" Target="/ppt/slides/slide10.xml" Id="Rae99b9c604da4ecc" /><Relationship Type="http://schemas.openxmlformats.org/officeDocument/2006/relationships/slide" Target="/ppt/slides/slide11.xml" Id="Rc7c92c8f4d644b59" /><Relationship Type="http://schemas.openxmlformats.org/officeDocument/2006/relationships/slide" Target="/ppt/slides/slide12.xml" Id="R9c09142db1b64da7" /><Relationship Type="http://schemas.openxmlformats.org/officeDocument/2006/relationships/slide" Target="/ppt/slides/slide13.xml" Id="R99b49a1099cc4b46" /><Relationship Type="http://schemas.openxmlformats.org/officeDocument/2006/relationships/slide" Target="/ppt/slides/slide14.xml" Id="R62deac8a87f84e83" /><Relationship Type="http://schemas.openxmlformats.org/officeDocument/2006/relationships/slide" Target="/ppt/slides/slide15.xml" Id="R7ea7c8dd5d31474d" /><Relationship Type="http://schemas.openxmlformats.org/officeDocument/2006/relationships/slide" Target="/ppt/slides/slide16.xml" Id="R994b2012bb274a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8b64096b7b4d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4b04e6260041d5" /><Relationship Type="http://schemas.openxmlformats.org/officeDocument/2006/relationships/notesMaster" Target="/ppt/notesMasters/notesMaster1.xml" Id="R21d265f015ed46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f1d3a7a2d346ba" /><Relationship Type="http://schemas.openxmlformats.org/officeDocument/2006/relationships/notesMaster" Target="/ppt/notesMasters/notesMaster1.xml" Id="Rfc01e13ea0b244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d1ce58c1334f8a" /><Relationship Type="http://schemas.openxmlformats.org/officeDocument/2006/relationships/notesMaster" Target="/ppt/notesMasters/notesMaster1.xml" Id="R965aa4afa1904b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cb95778bf1454d" /><Relationship Type="http://schemas.openxmlformats.org/officeDocument/2006/relationships/notesMaster" Target="/ppt/notesMasters/notesMaster1.xml" Id="R15d512e323d449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66f9c8dcee4337" /><Relationship Type="http://schemas.openxmlformats.org/officeDocument/2006/relationships/notesMaster" Target="/ppt/notesMasters/notesMaster1.xml" Id="Ra0781ad2222049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987e16ab7c49ef" /><Relationship Type="http://schemas.openxmlformats.org/officeDocument/2006/relationships/notesMaster" Target="/ppt/notesMasters/notesMaster1.xml" Id="Rb3fd61453cc743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ee5204eb534a4f" /><Relationship Type="http://schemas.openxmlformats.org/officeDocument/2006/relationships/notesMaster" Target="/ppt/notesMasters/notesMaster1.xml" Id="R3a7af26dc9d747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f5208bf69343ef" /><Relationship Type="http://schemas.openxmlformats.org/officeDocument/2006/relationships/notesMaster" Target="/ppt/notesMasters/notesMaster1.xml" Id="R1602cb515ffc49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8a1c6595754983" /><Relationship Type="http://schemas.openxmlformats.org/officeDocument/2006/relationships/notesMaster" Target="/ppt/notesMasters/notesMaster1.xml" Id="R427d6c8cee5944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3ffc40aa05477c" /><Relationship Type="http://schemas.openxmlformats.org/officeDocument/2006/relationships/notesMaster" Target="/ppt/notesMasters/notesMaster1.xml" Id="R2a12b5df3a4642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52c88f55da452c" /><Relationship Type="http://schemas.openxmlformats.org/officeDocument/2006/relationships/notesMaster" Target="/ppt/notesMasters/notesMaster1.xml" Id="R0171f2c304434b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4bda995390477c" /><Relationship Type="http://schemas.openxmlformats.org/officeDocument/2006/relationships/notesMaster" Target="/ppt/notesMasters/notesMaster1.xml" Id="Rf3888f18286747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d3e7c5423a467c" /><Relationship Type="http://schemas.openxmlformats.org/officeDocument/2006/relationships/notesMaster" Target="/ppt/notesMasters/notesMaster1.xml" Id="R4544fd9d796544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c72f64c070484e" /><Relationship Type="http://schemas.openxmlformats.org/officeDocument/2006/relationships/notesMaster" Target="/ppt/notesMasters/notesMaster1.xml" Id="R2aa377e5d7bf48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593ce36b594d11" /><Relationship Type="http://schemas.openxmlformats.org/officeDocument/2006/relationships/notesMaster" Target="/ppt/notesMasters/notesMaster1.xml" Id="R4a9df1cd597344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28f771c6b3429a" /><Relationship Type="http://schemas.openxmlformats.org/officeDocument/2006/relationships/notesMaster" Target="/ppt/notesMasters/notesMaster1.xml" Id="R1dd4320025f94e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开场：本报告介绍当前论文的核心问题、方法、统计证据与适用边界。题目和作者信息来自 manuscript.tex；视觉风格及标识来自用户指定模板。建议用 30 秒说明研究对象不是一般任务分配，而是带持续资源状态的卫星—地面序贯调度。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汇报分为四部分：先界定资源耦合调度问题，再说明可复现基准与六种 DQN 目标，随后展示跨场景、跨随机种子的统计证据，最后讨论边界和结论。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manuscript.tex 的 System Model 与 Introduction。强调资源是持久状态而不是独立任务属性。三个动作共同作用于六类资源，因此贪心选择可能把代价推迟到后续时段。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Introduction 末尾现版本保留的三项贡献。第四点已按作者要求删除，因此本页不新增额外贡献。讲述时突出“匹配条件”和“联合统计证据”，避免把结论泛化到真实飞行环境。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Fig. 1。上方是 onboard、ground、collaborative 三种动作，下方是动作后持续演化的资源量。建议按从任务输入到动作、再到资源状态的顺序讲图。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对应论文任务生成器审计图。20,000 个独立任务用于检查生成关系，数据量与工作量相关系数为 0.660。需要主动说明：该生成器是可控、可复现的合成基准，不是对真实飞行分布的经验拟合。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DQN Objective Family。Standard 为事实动作 Bellman；Full-action Q、Immediate advantage、Centered 引入不同的全动作辅助；Double 使用解耦选择与评估；Double + centered 组合两者。这里不把辅助监督表述为额外环境交互，因为它来自同一状态下的模型化动作评价。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Experimental Design。五个完全耦合场景是 nominal、burst、link-limited、energy-limited、thermal-stress。每个模型种子在 20 条共享 held-out 轨迹上评测。30 个对比来自 6 个 DQN 目标乘 5 个场景。联合 bootstrap 使用 10,000 次重采样，符号检验按 Holm 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对应论文主结果图。静态和 reduced 场景用于诊断模型在耦合减弱时的行为，主要结论只基于右侧五个 fully coupled regimes。不要把 DQN 在所有七种场景中的排序笼统表述为无条件最优。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核心结论页。差值定义为 DQN 成本减 MPC-4 成本，因此负值表示 DQN 更好。30 个均值差全部为负，且每个配对 95% 区间排除 0。跨全部比较的同时 95% 上界为 −5.03；最不利均值差为 −5.92；Holm 校正符号检验最大 p 值为 5.722e−05。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DQN-family 细分结果。Nominal 下六种目标范围为 77.66–78.40，远小于它们与 MPC-4（90.83）的差距。Centered 在若干场景中最低，但家族内部区间显示差异较小且依场景变化，因此不要宣称 centered 普遍最优。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对应规划深度消融。H=1、2、4、6 的成本分别为 99.33、92.80、90.83、89.35，运行时间为 0.13、0.50、4.82、42.50 ms。该表基于 400 条 held-out 轨迹。必须保留限定：没有在同一硬件和实现条件下测量 DQN 推理延迟，因此不能据此声称 DQN 在墙钟时间上快于 MPC。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左侧参数敏感性覆盖 8 个剖面，Centered 相对 Standard 的改善约 0.50%–1.66%，所有配对区间低于 0。右侧预览误差把规划输入统一缩放为 0.85 或 1.15，两种情况下都只有 3/5 场景满足原支持判据，因此只能称部分稳健，不能称对预览误差完全鲁棒。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对应训练诊断和工程分解。曲线在约 220 episodes 后趋于稳定。与 MPC-4 相比，Standard DQN 在五个 fully coupled regimes 中具有更低的延迟惩罚、建模能耗、时延和传输数据量。两者 clipped energy 都到 0，DQN 最大热状态略高，因此应作为资源权衡而不是全面占优来呈现。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Discussion 和 Data Availability。公开仓库地址来自论文数据可用性声明。边界措辞按当前稿件的审慎表述，不把合成基准结果外推为真实在轨性能。这里可用 45 秒说明后续验证路线。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收束在三点：一是家族相对 MPC-4 的统计优势；二是家族内部没有普遍赢家；三是规划质量与计算代价的权衡。最后邀请讨论真实数据标定、硬约束和在线部署评测。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abcfeeeb14c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227029add4c5f" /><Relationship Type="http://schemas.openxmlformats.org/officeDocument/2006/relationships/image" Target="/ppt/media/image.png" Id="R70e0221e12b0484b" /><Relationship Type="http://schemas.openxmlformats.org/officeDocument/2006/relationships/image" Target="/ppt/media/image2.png" Id="R560e5b67c57f41c8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CB855DD-69EB-E866-D5B9-91F69EA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100"/>
            <a:ext cx="12192000" cy="1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275" cmpd="sng">
            <a:gradFill rotWithShape="1">
              <a:gsLst>
                <a:gs pos="0">
                  <a:srgbClr val="0070C0"/>
                </a:gs>
                <a:gs pos="43000">
                  <a:srgbClr val="4090A7"/>
                </a:gs>
                <a:gs pos="93000">
                  <a:schemeClr val="bg1"/>
                </a:gs>
              </a:gsLst>
              <a:lin ang="0" scaled="1"/>
              <a:tileRect/>
            </a:gra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37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onstantia"/>
              <a:ea typeface="Constantia"/>
              <a:cs typeface="Constantia"/>
            </a:endParaRPr>
          </a:p>
        </p:txBody>
      </p:sp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0221e12b0484b"/>
          <a:srcRect xmlns:a="http://schemas.openxmlformats.org/drawingml/2006/main" l="2734" t="5571" r="72733" b="7404"/>
          <a:stretch xmlns:a="http://schemas.openxmlformats.org/drawingml/2006/main"/>
        </p:blipFill>
        <p:spPr>
          <a:xfrm xmlns:a="http://schemas.openxmlformats.org/drawingml/2006/main">
            <a:off x="11242964" y="46135"/>
            <a:ext cx="834156" cy="720620"/>
          </a:xfrm>
          <a:prstGeom xmlns:a="http://schemas.openxmlformats.org/drawingml/2006/main" prst="rect">
            <a:avLst/>
          </a:prstGeom>
        </p:spPr>
      </p:pic>
      <p:pic>
        <p:nvPicPr>
          <p:cNvPr id="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e5b67c57f41c8"/>
          <a:srcRect xmlns:a="http://schemas.openxmlformats.org/drawingml/2006/main" l="16887" t="12347" r="7013" b="1495"/>
          <a:stretch xmlns:a="http://schemas.openxmlformats.org/drawingml/2006/main"/>
        </p:blipFill>
        <p:spPr>
          <a:xfrm xmlns:a="http://schemas.openxmlformats.org/drawingml/2006/main">
            <a:off x="10418907" y="127682"/>
            <a:ext cx="699943" cy="66982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fc8e1e0cf143bf" /><Relationship Type="http://schemas.openxmlformats.org/officeDocument/2006/relationships/slideLayout" Target="/ppt/slideLayouts/slideLayout1.xml" Id="Rd4105f2c3e1e4b30" /><Relationship Type="http://schemas.openxmlformats.org/officeDocument/2006/relationships/slideLayout" Target="/ppt/slideLayouts/slideLayout2.xml" Id="Ra4524f8e0e4e466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105f2c3e1e4b30"/>
    <p:sldLayoutId xmlns:r="http://schemas.openxmlformats.org/officeDocument/2006/relationships" id="2147483650" r:id="Ra4524f8e0e4e4663"/>
  </p:sldLayoutIdLst>
  <p:txStyles>
    <p:titleStyle>
      <a:lvl1pPr xmlns:a="http://schemas.openxmlformats.org/drawingml/2006/main" algn="l">
        <a:spcBef>
          <a:spcPct val="0"/>
        </a:spcBef>
        <a:buNone/>
        <a:defRPr sz="3600" kern="1200" cap="all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92" indent="-342892" algn="l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742931" indent="-285743" algn="l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142972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057348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e08312bffb457d" /><Relationship Type="http://schemas.openxmlformats.org/officeDocument/2006/relationships/image" Target="/ppt/media/image3.png" Id="R232636b232424356" /><Relationship Type="http://schemas.openxmlformats.org/officeDocument/2006/relationships/image" Target="/ppt/media/image4.png" Id="Reead177985b648b1" /><Relationship Type="http://schemas.openxmlformats.org/officeDocument/2006/relationships/image" Target="/ppt/media/image5.png" Id="R93598565a17043bf" /><Relationship Type="http://schemas.openxmlformats.org/officeDocument/2006/relationships/notesSlide" Target="/ppt/notesSlides/notesSlide1.xml" Id="R1e731eabf3f24e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bc6cc2851b4aaf" /><Relationship Type="http://schemas.openxmlformats.org/officeDocument/2006/relationships/image" Target="/ppt/media/image6.png" Id="Ra3798deb32904f4f" /><Relationship Type="http://schemas.openxmlformats.org/officeDocument/2006/relationships/image" Target="/ppt/media/image7.png" Id="R07d8a959615b488f" /><Relationship Type="http://schemas.openxmlformats.org/officeDocument/2006/relationships/notesSlide" Target="/ppt/notesSlides/notesSlide2.xml" Id="Rd69a714df65540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25e17bba0d4f9b" /><Relationship Type="http://schemas.openxmlformats.org/officeDocument/2006/relationships/image" Target="/ppt/media/image8.png" Id="R21f4ae82b23640ac" /><Relationship Type="http://schemas.openxmlformats.org/officeDocument/2006/relationships/image" Target="/ppt/media/image9.png" Id="R9f19cc2ad8444c17" /><Relationship Type="http://schemas.openxmlformats.org/officeDocument/2006/relationships/notesSlide" Target="/ppt/notesSlides/notesSlide3.xml" Id="Re686469cea9542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b378bc3ec84a0d" /><Relationship Type="http://schemas.openxmlformats.org/officeDocument/2006/relationships/image" Target="/ppt/media/image10.png" Id="R332e1ad9b62946a4" /><Relationship Type="http://schemas.openxmlformats.org/officeDocument/2006/relationships/image" Target="/ppt/media/image11.png" Id="R7a3d3016659e4fd8" /><Relationship Type="http://schemas.openxmlformats.org/officeDocument/2006/relationships/notesSlide" Target="/ppt/notesSlides/notesSlide4.xml" Id="R8283957445a74d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61c0b640b44b9" /><Relationship Type="http://schemas.openxmlformats.org/officeDocument/2006/relationships/image" Target="/ppt/media/image12.png" Id="Rc9451ebbba7b4aa8" /><Relationship Type="http://schemas.openxmlformats.org/officeDocument/2006/relationships/image" Target="/ppt/media/image13.png" Id="Rb419d4c7c0ab4e75" /><Relationship Type="http://schemas.openxmlformats.org/officeDocument/2006/relationships/image" Target="/ppt/media/image14.png" Id="R73bac20191ed4e3d" /><Relationship Type="http://schemas.openxmlformats.org/officeDocument/2006/relationships/notesSlide" Target="/ppt/notesSlides/notesSlide5.xml" Id="R327d91e6af5c48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653d13f6fd4dcf" /><Relationship Type="http://schemas.openxmlformats.org/officeDocument/2006/relationships/image" Target="/ppt/media/image15.png" Id="R8fe555e535b346cc" /><Relationship Type="http://schemas.openxmlformats.org/officeDocument/2006/relationships/image" Target="/ppt/media/image16.png" Id="R3a389e11d45848b5" /><Relationship Type="http://schemas.openxmlformats.org/officeDocument/2006/relationships/image" Target="/ppt/media/image17.png" Id="R48352d1b3b484946" /><Relationship Type="http://schemas.openxmlformats.org/officeDocument/2006/relationships/notesSlide" Target="/ppt/notesSlides/notesSlide6.xml" Id="R8850e2c1b94e4a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25f40f9bef4564" /><Relationship Type="http://schemas.openxmlformats.org/officeDocument/2006/relationships/image" Target="/ppt/media/image18.png" Id="Rc56215cfb06b4827" /><Relationship Type="http://schemas.openxmlformats.org/officeDocument/2006/relationships/image" Target="/ppt/media/image19.png" Id="Rbf799ea92cfb4f27" /><Relationship Type="http://schemas.openxmlformats.org/officeDocument/2006/relationships/notesSlide" Target="/ppt/notesSlides/notesSlide7.xml" Id="Rbe0909734dcc49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0a47f7572d4809" /><Relationship Type="http://schemas.openxmlformats.org/officeDocument/2006/relationships/image" Target="/ppt/media/image20.png" Id="R2f49b60d017d4e48" /><Relationship Type="http://schemas.openxmlformats.org/officeDocument/2006/relationships/image" Target="/ppt/media/image21.png" Id="Rbdcc16fb2f7b458e" /><Relationship Type="http://schemas.openxmlformats.org/officeDocument/2006/relationships/notesSlide" Target="/ppt/notesSlides/notesSlide8.xml" Id="R7594f377e94b49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b99289c97f4c0e" /><Relationship Type="http://schemas.openxmlformats.org/officeDocument/2006/relationships/image" Target="/ppt/media/image22.png" Id="R05ede1379f9f4a3d" /><Relationship Type="http://schemas.openxmlformats.org/officeDocument/2006/relationships/image" Target="/ppt/media/image23.png" Id="R54924ffa129d4042" /><Relationship Type="http://schemas.openxmlformats.org/officeDocument/2006/relationships/image" Target="/ppt/media/image24.png" Id="Rabfa25ccd7cc4106" /><Relationship Type="http://schemas.openxmlformats.org/officeDocument/2006/relationships/notesSlide" Target="/ppt/notesSlides/notesSlide9.xml" Id="Rca0dc68e2fa942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79427213464440" /><Relationship Type="http://schemas.openxmlformats.org/officeDocument/2006/relationships/image" Target="/ppt/media/image25.png" Id="R521ab1f77c4f40ff" /><Relationship Type="http://schemas.openxmlformats.org/officeDocument/2006/relationships/image" Target="/ppt/media/image26.png" Id="R0c0be003a3474e76" /><Relationship Type="http://schemas.openxmlformats.org/officeDocument/2006/relationships/image" Target="/ppt/media/image27.png" Id="Rab26d325e1e845d4" /><Relationship Type="http://schemas.openxmlformats.org/officeDocument/2006/relationships/notesSlide" Target="/ppt/notesSlides/notesSlide10.xml" Id="Rad67161209a946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490b004f724eed" /><Relationship Type="http://schemas.openxmlformats.org/officeDocument/2006/relationships/image" Target="/ppt/media/image28.png" Id="Rbed7731962c84d2c" /><Relationship Type="http://schemas.openxmlformats.org/officeDocument/2006/relationships/image" Target="/ppt/media/image29.png" Id="Racc88d68488a4eca" /><Relationship Type="http://schemas.openxmlformats.org/officeDocument/2006/relationships/image" Target="/ppt/media/image30.png" Id="R77995582686f4aac" /><Relationship Type="http://schemas.openxmlformats.org/officeDocument/2006/relationships/notesSlide" Target="/ppt/notesSlides/notesSlide11.xml" Id="R1ce4b41046b442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226c017f34976" /><Relationship Type="http://schemas.openxmlformats.org/officeDocument/2006/relationships/image" Target="/ppt/media/image31.png" Id="Rf491682256554954" /><Relationship Type="http://schemas.openxmlformats.org/officeDocument/2006/relationships/image" Target="/ppt/media/image32.png" Id="R8521dcab7ae248e5" /><Relationship Type="http://schemas.openxmlformats.org/officeDocument/2006/relationships/notesSlide" Target="/ppt/notesSlides/notesSlide12.xml" Id="Rfba03eb56ade4e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dcff6b851144f7" /><Relationship Type="http://schemas.openxmlformats.org/officeDocument/2006/relationships/image" Target="/ppt/media/image33.png" Id="R5192265903db4094" /><Relationship Type="http://schemas.openxmlformats.org/officeDocument/2006/relationships/image" Target="/ppt/media/image34.png" Id="R0d7cb6e3e7364296" /><Relationship Type="http://schemas.openxmlformats.org/officeDocument/2006/relationships/image" Target="/ppt/media/image35.png" Id="R28db793d373c4b05" /><Relationship Type="http://schemas.openxmlformats.org/officeDocument/2006/relationships/notesSlide" Target="/ppt/notesSlides/notesSlide13.xml" Id="Rc1fad4e501e448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e005b4be3f4446" /><Relationship Type="http://schemas.openxmlformats.org/officeDocument/2006/relationships/image" Target="/ppt/media/image36.png" Id="R9a256058bcf54bb9" /><Relationship Type="http://schemas.openxmlformats.org/officeDocument/2006/relationships/image" Target="/ppt/media/image37.png" Id="R58ee60f1547041d2" /><Relationship Type="http://schemas.openxmlformats.org/officeDocument/2006/relationships/image" Target="/ppt/media/image38.png" Id="R51f6f1f9127e41a7" /><Relationship Type="http://schemas.openxmlformats.org/officeDocument/2006/relationships/notesSlide" Target="/ppt/notesSlides/notesSlide14.xml" Id="R0e3e98de153140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5d02bea7d74c68" /><Relationship Type="http://schemas.openxmlformats.org/officeDocument/2006/relationships/image" Target="/ppt/media/image39.png" Id="Rdbbc09dfe9ad4655" /><Relationship Type="http://schemas.openxmlformats.org/officeDocument/2006/relationships/image" Target="/ppt/media/image40.png" Id="R4c6a406974f44e08" /><Relationship Type="http://schemas.openxmlformats.org/officeDocument/2006/relationships/notesSlide" Target="/ppt/notesSlides/notesSlide15.xml" Id="R30b12e9cbb784c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f809b538cb4dd4" /><Relationship Type="http://schemas.openxmlformats.org/officeDocument/2006/relationships/image" Target="/ppt/media/image41.png" Id="R0977ab960f144d5e" /><Relationship Type="http://schemas.openxmlformats.org/officeDocument/2006/relationships/image" Target="/ppt/media/image42.png" Id="Rc64dc470967349a4" /><Relationship Type="http://schemas.openxmlformats.org/officeDocument/2006/relationships/notesSlide" Target="/ppt/notesSlides/notesSlide16.xml" Id="Ra98c488f650c4f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D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636b232424356"/>
          <a:srcRect xmlns:a="http://schemas.openxmlformats.org/drawingml/2006/main" l="0" t="21381" r="0" b="21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28775"/>
            <a:ext cx="12192000" cy="25622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B57D2-2256-4C5A-A925-35AD601C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28775"/>
            <a:ext cx="12192000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d177985b648b1"/>
          <a:stretch xmlns:a="http://schemas.openxmlformats.org/drawingml/2006/main"/>
        </p:blipFill>
        <p:spPr>
          <a:xfrm xmlns:a="http://schemas.openxmlformats.org/drawingml/2006/main">
            <a:off x="266700" y="267526"/>
            <a:ext cx="2905125" cy="712724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98565a17043bf"/>
          <a:stretch xmlns:a="http://schemas.openxmlformats.org/drawingml/2006/main"/>
        </p:blipFill>
        <p:spPr>
          <a:xfrm xmlns:a="http://schemas.openxmlformats.org/drawingml/2006/main">
            <a:off x="11144250" y="386129"/>
            <a:ext cx="685800" cy="5802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FF94C-EB3F-493C-B19F-3010F9CC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8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卫星数据智能计算技术实验室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66248-44FA-4B3C-93A8-081D13E5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19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资源耦合卫星地面调度中</a:t>
            </a:r>
          </a:p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DQN 家族优势的统计证据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7FBA5-467B-4310-B1E3-D057030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rPr>
              <a:t>Statistical Evidence for a DQN-Family Advantage in a Resource-Coupled Satellite-Ground Scheduling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A6213-52E4-4DA7-9951-0A67886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汇报人：杨博丞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6084E-7629-4EB4-A530-CA51B930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5E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5EFF5"/>
                </a:solidFill>
                <a:latin typeface="Microsoft YaHei"/>
                <a:ea typeface="Microsoft YaHei"/>
                <a:cs typeface="Microsoft YaHei"/>
              </a:rPr>
              <a:t>哈尔滨工业大学（深圳）空天科技学院</a:t>
            </a:r>
          </a:p>
          <a:p xmlns:a="http://schemas.openxmlformats.org/drawingml/2006/main">
            <a:pPr algn="ctr">
              <a:defRPr sz="1575" b="0">
                <a:solidFill>
                  <a:srgbClr val="E5E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5EFF5"/>
                </a:solidFill>
                <a:latin typeface="Microsoft YaHei"/>
                <a:ea typeface="Microsoft YaHei"/>
                <a:cs typeface="Microsoft YaHei"/>
              </a:rPr>
              <a:t>卫星数据智能计算技术实验室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540A6-B19C-4F11-A8A6-7D0F1478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627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AD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ADBE6"/>
                </a:solidFill>
                <a:latin typeface="Microsoft YaHei"/>
                <a:ea typeface="Microsoft YaHei"/>
                <a:cs typeface="Microsoft YaHei"/>
              </a:rPr>
              <a:t>2026.09.10</a:t>
            </a:r>
          </a:p>
        </p:txBody>
      </p:sp>
    </p:spTree>
    <p:extLst>
      <p:ext uri="{BB962C8B-B14F-4D97-AF65-F5344CB8AC3E}">
        <p14:creationId xmlns:p14="http://schemas.microsoft.com/office/powerpoint/2010/main" val="3770149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0AD92-C202-42D4-A799-1AFAB254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汇报提纲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95DA3-85AC-4B90-A14D-9051DB29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18436-CC88-4C90-A09D-95EF426D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98deb32904f4f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a959615b488f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D3A1F-17AB-4601-B0DE-58D3A754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C57FB-2552-4FDD-A493-E6411545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055CC-1887-4070-B634-CFAA1D4C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6210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研究背景与问题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95478-6D70-474F-956B-B80720DA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3365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BD7F8-BE98-4B04-AC73-BEEB09E2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基准与方法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87C09-984F-4915-9A3E-3223165D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EE4A5-794C-41B7-9301-98FBA66E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实验结果与统计证据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A527C-4CDA-40C2-95E5-DE397580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0050C-88D3-4A86-91EC-468C77AF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边界与结论</a:t>
            </a:r>
          </a:p>
        </p:txBody>
      </p:sp>
    </p:spTree>
    <p:extLst>
      <p:ext uri="{BB962C8B-B14F-4D97-AF65-F5344CB8AC3E}">
        <p14:creationId xmlns:p14="http://schemas.microsoft.com/office/powerpoint/2010/main" val="901206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61908B-DB5F-4C73-92FB-04C27F0A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一、研究背景与问题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32F2C-2342-45CE-9D2D-4AB35EA4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一次调度动作会同时改变多个持续资源状态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E46F3-93BB-4889-BA38-5FDC3403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4ae82b23640ac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9cc2ad8444c17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662B5-4B7A-4B5A-9F56-D8DC47D0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8122F-A431-47A4-B18E-5563FE49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F35F0-EC51-46F3-834B-640A9005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关键难点不是单步代价，而是当前动作对后续可行性与累积成本的长期影响。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91E89-317D-4439-9DE0-65E9D2F7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三种处理路径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1E489-3BCC-408B-B124-13777DCC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1905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星上处理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8CB57-FD73-4DD3-9F56-D71C6E7A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onboard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7FB5C-ABA0-4D94-9635-1400688A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1905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地面处理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CF3B0-605B-406D-9F18-AE52541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ground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11D8F-820C-44F7-B237-F96BE7A9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38300"/>
            <a:ext cx="1905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星地协同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D4FAD-FC92-4022-B2D4-47917DDB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collaborative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D186C-9347-416B-88BB-48BBD0FB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持续演化的六类资源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EFE6F-F58C-412F-960B-750003A8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热状态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7946C-FF40-402E-A0CB-F3D4D507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能量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E3B46-A926-43AD-B5FC-2D0DAEAE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337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任务队列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AF9FDC-E903-4BA2-83B9-3456064F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计算利用率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A0CE5-AE23-4CAD-95B4-20A6EF8B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576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链路带宽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C8871-D928-4BA3-BD04-D284020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576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接触时长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67FAB-E27B-4000-AF0F-D2EEC833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3857625" cy="3743325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C3463-3899-4CE1-95BA-BFAFE9AC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资源耦合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0ED97-2C03-4A2D-B1BA-8E3733FE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290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动作会改变热、能量、队列和链路状态；</a:t>
            </a:r>
          </a:p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这些状态又共同决定后续动作的代价。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94F0C-3B87-4A62-8F07-BA0F0902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95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D9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CF8C4-84F0-4BE4-9B59-E7DF897A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905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长期价值学习用于显式处理</a:t>
            </a:r>
          </a:p>
          <a:p xmlns:a="http://schemas.openxmlformats.org/drawingml/2006/main">
            <a:pPr algn="ctr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跨时段影响与软约束惩罚</a:t>
            </a:r>
          </a:p>
        </p:txBody>
      </p:sp>
    </p:spTree>
    <p:extLst>
      <p:ext uri="{BB962C8B-B14F-4D97-AF65-F5344CB8AC3E}">
        <p14:creationId xmlns:p14="http://schemas.microsoft.com/office/powerpoint/2010/main" val="1191655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7680E-F38D-49EB-B35F-3C6BBA57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一、研究背景与问题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E8637-38BA-46F0-82D3-214EE17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研究问题与三项贡献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E366F-E083-4790-A370-21303751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e1ad9b62946a4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d3016659e4fd8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2BAAC-6604-491B-B184-D451FFA4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50C47-30E4-4915-BD8D-5B51F231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59B05-5D48-4E69-BE29-F164BD16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研究目标：在匹配训练预算和交互数据的条件下，检验 DQN 家族相对短视规划的稳定优势。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86C49-3FB0-4FCF-8712-73BFA20D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现有证据缺口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B6D72-107C-4B99-89E9-C968FA52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08585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许多调度研究在算法、训练预算、测试轨迹和统计检验上并不完全可比，</a:t>
            </a:r>
          </a:p>
          <a:p xmlns:a="http://schemas.openxmlformats.org/drawingml/2006/main">
            <a:pPr algn="l">
              <a:def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难以区分“算法优势”与“实验配置优势”。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6631D-D8C0-4812-88EF-FD42D7CD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E256B-4814-4518-B994-71EC6798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可复现资源耦合基准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8EB80-7B68-4DAC-827D-8CF249DA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52750"/>
            <a:ext cx="9677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统一任务生成、资源状态、软约束和评测轨迹。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824FE-5803-478E-A3F1-9EB4E7BD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091AD-9509-4C47-B949-AAECAC94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匹配条件下比较六种 DQN 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07DC3-2F2A-4363-8AB0-4C45A843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43350"/>
            <a:ext cx="9677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共享网络结构、训练交互和测试场景，仅改变学习目标。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BCD2A-77DD-4BDB-A1CF-952A3162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A4FFF-E7BB-41F7-8F08-6549456A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用联合统计证据界定结论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076E0-1856-4DF5-8FD8-C182813D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677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跨 20 个模型种子与共享轨迹，报告联合区间、符号检验与敏感性结果。</a:t>
            </a:r>
          </a:p>
        </p:txBody>
      </p:sp>
    </p:spTree>
    <p:extLst>
      <p:ext uri="{BB962C8B-B14F-4D97-AF65-F5344CB8AC3E}">
        <p14:creationId xmlns:p14="http://schemas.microsoft.com/office/powerpoint/2010/main" val="529276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70CD6-D1AC-4F89-B4EF-12902FAC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0381F-0A48-47D2-ABDD-45AC89B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系统模型：动作路径与六类后置资源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368D-CF12-440C-B491-65F7F262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51ebbba7b4aa8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9d4c7c0ab4e75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B8184-E862-4E23-B8D2-DCE018BD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F0F3F-5E29-44DE-A243-4676AE36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996EE-FD9C-470F-A40A-C6EB892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同一任务在三种处理路径之间选择；每条路径对应不同的资源消耗与后续状态。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ac20191ed4e3d"/>
          <a:stretch xmlns:a="http://schemas.openxmlformats.org/drawingml/2006/main"/>
        </p:blipFill>
        <p:spPr>
          <a:xfrm xmlns:a="http://schemas.openxmlformats.org/drawingml/2006/main">
            <a:off x="2737522" y="1200150"/>
            <a:ext cx="6716957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F34B0-DC1F-4969-AA6E-A097A693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1（manuscript.tex）</a:t>
            </a:r>
          </a:p>
        </p:txBody>
      </p:sp>
    </p:spTree>
    <p:extLst>
      <p:ext uri="{BB962C8B-B14F-4D97-AF65-F5344CB8AC3E}">
        <p14:creationId xmlns:p14="http://schemas.microsoft.com/office/powerpoint/2010/main" val="1841602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A564D-CCCF-4A74-8048-33C66E28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5EB8E-0456-4994-A8BD-EA009F02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合成任务生成器：保留任务属性间的物理一致性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4B983-EA7E-43A4-B32F-A13B4490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555e535b346cc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89e11d45848b5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64E92-FDFA-4010-BA92-910DFAF0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7F352-656B-459E-83D4-D698EB5F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FF217-9365-483F-BAE8-40D7AAEC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生成器用于受控统计比较；它体现一致性约束，但不声称拟合真实在轨任务分布。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52d1b3b484946"/>
          <a:stretch xmlns:a="http://schemas.openxmlformats.org/drawingml/2006/main"/>
        </p:blipFill>
        <p:spPr>
          <a:xfrm xmlns:a="http://schemas.openxmlformats.org/drawingml/2006/main">
            <a:off x="523875" y="1508959"/>
            <a:ext cx="7858125" cy="379245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0F6C7-920A-4CF8-B439-2615392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66875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20,000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CF9C3-9AC6-4F89-A362-C5BF735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独立物理审计任务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4F065-D4D9-473D-9D0E-CAD75ABD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0.660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A1A4C-E093-48C4-A9A2-8655F625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数据量—工作量相关系数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9754B-7CB3-4368-B968-A27E8D95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B5DF0-D81D-4C03-B0CE-36DC7467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238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任务属性相关</a:t>
            </a:r>
          </a:p>
          <a:p xmlns:a="http://schemas.openxmlformats.org/drawingml/2006/main">
            <a:pPr algn="ctr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资源转换可解释</a:t>
            </a:r>
          </a:p>
          <a:p xmlns:a="http://schemas.openxmlformats.org/drawingml/2006/main">
            <a:pPr algn="ctr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随机性可复现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56DB1-8063-4598-A586-1E85214A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2</a:t>
            </a:r>
          </a:p>
        </p:txBody>
      </p:sp>
    </p:spTree>
    <p:extLst>
      <p:ext uri="{BB962C8B-B14F-4D97-AF65-F5344CB8AC3E}">
        <p14:creationId xmlns:p14="http://schemas.microsoft.com/office/powerpoint/2010/main" val="1332107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980C8-7039-49AE-9C22-70D854A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A54DC-00C5-4A65-9E53-46B69BCA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六种 DQN 学习目标及匹配训练条件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84F41-D8B6-45C4-919F-7CED1B5A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215cfb06b4827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99ea92cfb4f27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8F941-84D4-4B2B-8B54-0E418A38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F5415-61E1-40A8-AA97-8379AD5C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4B6DC-39C6-4ED4-A8C4-F68FD4B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统一网络、训练交互和评测轨迹，使差异尽可能归因于目标构造。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76300" y="1381125"/>
          <a:ext xmlns:a="http://schemas.openxmlformats.org/drawingml/2006/main" cx="10439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333625"/>
                <a:gridCol w="2714625"/>
                <a:gridCol w="2247900"/>
              </a:tblGrid>
              <a:tr h="55789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目标变体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事实动作 Bellman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全动作辅助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目标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DQN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Full-action Q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 值监督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Immediate advantage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即时优势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87D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Centered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中心化优势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87D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+ centered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中心化优势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24D2E-584D-43F7-9ACE-4A951332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注：六个变体均使用相同状态、动作、网络容量、训练交互与评测协议。</a:t>
            </a:r>
          </a:p>
        </p:txBody>
      </p:sp>
    </p:spTree>
    <p:extLst>
      <p:ext uri="{BB962C8B-B14F-4D97-AF65-F5344CB8AC3E}">
        <p14:creationId xmlns:p14="http://schemas.microsoft.com/office/powerpoint/2010/main" val="14495344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C9F89-88A0-4E02-8EA1-FFA3AF06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92CE8-D7DB-44AA-8A97-EEADF2C9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评测设计：共享轨迹、独立模型种子与联合推断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7C41A-4A97-47D7-B343-1D135AA3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9b60d017d4e48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c16fb2f7b458e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F509F-BFE3-40BD-B162-B0C9CC47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D10B6-1BA1-461F-9CF6-06482475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B1072-D810-4006-B84D-3106C992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支持判据预先固定：均值差为负、95% 区间排除 0，并报告多重比较校正。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78602-0B19-4FBF-B15E-52723B1B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0FDDD-E445-47F2-B14F-EE984E0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独立模型种子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7767C-FAC6-47E1-A1F5-165B2E1D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81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D9F31-A428-4A49-8009-C9FCB5CD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每种子共享测试轨迹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46598-CA54-4A06-8B0C-AEA02C2B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4428D-3720-484E-8071-382CBF53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完全耦合场景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90868-3616-4054-89F1-9B2E5B6C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81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B81CB-0374-4636-9A37-05BC6A0C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DQN–MPC-4 对比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63E5A-A9C5-4DAC-A46B-8BA5D110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811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FED72-CD87-47AA-900B-01E68C4C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85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联合 bootstrap 重采样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2421D-A71B-4D3B-9ADC-1AC1ACEB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71D13-776B-4020-A67A-CC10D7E1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比较对象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B3B1A-B610-42A9-92C8-F59F94C3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Argmin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872B8-773C-4D9E-90BD-7A341611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MPC-4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2E297-0A20-40CA-9E2E-B522AAF1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Contextual bandit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4A8C1-EA7D-4E24-84BB-F88C1DE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13956-51FF-4187-9E28-88FD230B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6× DQN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CEEC8F-9D92-465F-ABDC-532BBBDF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48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统计证据链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BD4ECD-2E5F-4045-9A2E-21A5C581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A356A-F315-42A3-AEAB-5C657AE5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14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逐对配对均值差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DCD1F-05E2-4804-A65B-A5CC0063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743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1B6F4-D17B-4FC1-BE4C-619D342B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联合 95% 区间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541C5-0E66-4279-83DE-CB17178C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43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7E07EE-A74E-4142-AA53-DA1EED90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Holm 校正符号检验</a:t>
            </a:r>
          </a:p>
        </p:txBody>
      </p:sp>
    </p:spTree>
    <p:extLst>
      <p:ext uri="{BB962C8B-B14F-4D97-AF65-F5344CB8AC3E}">
        <p14:creationId xmlns:p14="http://schemas.microsoft.com/office/powerpoint/2010/main" val="1302375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9802E-1D21-41F0-978E-1692955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EA2C4-1164-4A7B-977C-64571269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七类场景中的总体表现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5F36D-5FF4-4AB3-BC2B-4359547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de1379f9f4a3d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24ffa129d4042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96CAE-A73A-4495-97B7-7C9FF25D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13555-9C28-492A-9D21-41D65A7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7A652-17DC-4466-A7AF-8A362953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在五个完全耦合场景中，DQN 家族均低于所有非 DQN 基线；数值越低越好。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a25ccd7cc4106"/>
          <a:stretch xmlns:a="http://schemas.openxmlformats.org/drawingml/2006/main"/>
        </p:blipFill>
        <p:spPr>
          <a:xfrm xmlns:a="http://schemas.openxmlformats.org/drawingml/2006/main">
            <a:off x="3075312" y="1219200"/>
            <a:ext cx="6022326" cy="4400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34A3B-7883-4B11-9760-0567350F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3；Static 与 Reduced 用于诊断，五个 Full regimes 用于主要结论。</a:t>
            </a:r>
          </a:p>
        </p:txBody>
      </p:sp>
    </p:spTree>
    <p:extLst>
      <p:ext uri="{BB962C8B-B14F-4D97-AF65-F5344CB8AC3E}">
        <p14:creationId xmlns:p14="http://schemas.microsoft.com/office/powerpoint/2010/main" val="21307586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9C8A2-9588-4337-BDDB-086F417E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4CFF1-75E4-4233-B517-0F21AA0F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30/30 个 DQN–MPC-4 对比支持家族优势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76070-725A-4780-8D84-C54CCAC4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ab1f77c4f40ff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be003a3474e76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429B3-625A-417B-94BC-1BFD813E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C593D-9AF4-4CC5-9C93-A57CA63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45ADD-11A7-4C36-99AD-D00A06EA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最不利比较仍为 −5.92；同时 95% 上界为 −5.03，保持在零以下。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6d325e1e845d4"/>
          <a:stretch xmlns:a="http://schemas.openxmlformats.org/drawingml/2006/main"/>
        </p:blipFill>
        <p:spPr>
          <a:xfrm xmlns:a="http://schemas.openxmlformats.org/drawingml/2006/main">
            <a:off x="476250" y="1460657"/>
            <a:ext cx="8001000" cy="404146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C876F-26AD-487A-8467-97B093F3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30 / 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DB032-CA3E-42AD-98A5-3A4A1D46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平均差均低于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77DC2-11D4-4AFB-B3EF-E307F98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241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−5.92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E91D7-4A55-4511-8409-3E603FDD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289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最不利均值差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FD752-30E1-4F01-9E62-FBA76132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86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rPr>
              <a:t>−5.03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E6DC0-2F09-4249-886C-140EBD2C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910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同时 95% 上界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0D6D0-81D2-4589-9053-0AB7BCC1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95875"/>
            <a:ext cx="2667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Holm 校正后最大 p = 5.722×10⁻⁵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E28D4-807F-4FBD-8A79-F7410CA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4</a:t>
            </a:r>
          </a:p>
        </p:txBody>
      </p:sp>
    </p:spTree>
    <p:extLst>
      <p:ext uri="{BB962C8B-B14F-4D97-AF65-F5344CB8AC3E}">
        <p14:creationId xmlns:p14="http://schemas.microsoft.com/office/powerpoint/2010/main" val="3468552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A1C16-81B2-44C4-956A-A9522CBC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52750-C601-47D3-90E5-5ABA80F1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DQN 家族内部差异随场景变化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B0C57-BE71-4BF8-A2C5-313CF4EF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7731962c84d2c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88d68488a4eca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1CB1A-7FFC-4EE5-A5E7-89E84BD8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7D10E-D4B9-43ED-B534-48327F9E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1887A-1D4D-4CCA-A4ED-7ED03C35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证据支持的是“DQN 家族相对 MPC-4”的稳定优势，而非某一目标在所有场景中绝对占优。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95582686f4aac"/>
          <a:stretch xmlns:a="http://schemas.openxmlformats.org/drawingml/2006/main"/>
        </p:blipFill>
        <p:spPr>
          <a:xfrm xmlns:a="http://schemas.openxmlformats.org/drawingml/2006/main">
            <a:off x="934125" y="1257300"/>
            <a:ext cx="7371000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D45EF-EBFB-4D51-A196-E17CC94F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Nominal 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A98DB-B18F-4A0B-99EF-D425FC6B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77.66–78.40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ED0CF-5881-492B-8BD5-B0853992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336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六种 DQN 的成本范围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B12F3-4B0A-470A-8007-7A1221A5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3A715-C113-402D-938A-BFFDA940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718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Centered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8A337-86EF-4A03-92CB-1F505175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10025"/>
            <a:ext cx="2428875" cy="828675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在多个场景中数值最低，</a:t>
            </a:r>
          </a:p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但领先幅度小且并非处处显著。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866C2-B6AF-4474-A726-875457D1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5</a:t>
            </a:r>
          </a:p>
        </p:txBody>
      </p:sp>
    </p:spTree>
    <p:extLst>
      <p:ext uri="{BB962C8B-B14F-4D97-AF65-F5344CB8AC3E}">
        <p14:creationId xmlns:p14="http://schemas.microsoft.com/office/powerpoint/2010/main" val="17502243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5398F-7A07-43CF-BBF6-4E7B5BE7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919BD-D299-49EA-996A-342A4CF4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规划深度：成本下降伴随显著运行时间增长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ED45F-938A-42A9-950C-3BE64C7C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1682256554954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1dcab7ae248e5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D38D1-33B5-4357-8F36-8DF43E41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AE33F-8299-455B-A14A-A44B845D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EA5DE-7D9C-412A-84D7-385B4B60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更深的精确规划继续降低成本，但从 H=1 到 H=6，运行时间增长约 327 倍。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33425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2190750"/>
              </a:tblGrid>
              <a:tr h="6324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规划深度 H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枚举序列数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平均成本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单步运行时间 (ms)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92.80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729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89.35</a:t>
                      </a:r>
                    </a:p>
                  </a:txBody>
                  <a:tcPr marL="91440" marR="91440" marT="45720" marB="45720" anchor="ctr">
                    <a:solidFill>
                      <a:srgbClr val="D9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42.50</a:t>
                      </a:r>
                    </a:p>
                  </a:txBody>
                  <a:tcPr marL="91440" marR="91440" marT="45720" marB="45720" anchor="ctr">
                    <a:solidFill>
                      <a:srgbClr val="F6DED9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BA66A-D714-4817-A83B-1BD5A1F8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B51AE-B3CA-4894-A567-CC2DC8E2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99.33 → 89.35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CEF03-946D-47F1-B6C3-8E1B9440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−10.0%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C0A59-0C9A-441B-8588-B1DDD7F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289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4CEED-1ADB-43F9-BECF-D5026ECB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运行时间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A6507-C222-49E6-BCCD-0E773B45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480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rPr>
              <a:t>0.13 → 42.50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A4664-EBF4-4A95-A760-FBF94337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81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约 327×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5F64E-6686-47F2-9431-694D8315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04298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基于 400 条 held-out 轨迹；本文未进行匹配的 DQN 推理延迟测量。</a:t>
            </a:r>
          </a:p>
        </p:txBody>
      </p:sp>
    </p:spTree>
    <p:extLst>
      <p:ext uri="{BB962C8B-B14F-4D97-AF65-F5344CB8AC3E}">
        <p14:creationId xmlns:p14="http://schemas.microsoft.com/office/powerpoint/2010/main" val="11197351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B8379-267B-4399-AD55-AB2E4EF9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C5D7B-89AE-4CC3-B23D-48769244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参数敏感性与预览误差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EC3F1-6A3C-4D30-A346-2DBBB914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2265903db4094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cb6e3e7364296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552BB-C34D-4108-9CF4-32DABB1A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01193-8219-4CB0-9D1C-37841880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88CC1-86D5-4CC0-A07E-3C4ED4D1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参数剖面支持 8/8；预览缩放 ±15% 时各仅支持 3/5 个场景，应按边界而非失败解读。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b793d373c4b05"/>
          <a:stretch xmlns:a="http://schemas.openxmlformats.org/drawingml/2006/main"/>
        </p:blipFill>
        <p:spPr>
          <a:xfrm xmlns:a="http://schemas.openxmlformats.org/drawingml/2006/main">
            <a:off x="523875" y="1286790"/>
            <a:ext cx="8096250" cy="423679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29180-688C-4F94-9F62-A5082E9C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8 /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48258-65C9-499F-90D2-ACDF9D10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参数剖面区间低于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9C83F-5F06-47EF-BAD4-A144102D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0.50–1.66%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E9E4C-A3FC-4323-AC78-08BEEA03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Centered 相对 Standard 改善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5FC02-321E-438A-B785-D6DFD357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3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预览缩放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05583-E4F7-43E8-BB0F-2C16AF9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25717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0.85：3/5 场景支持</a:t>
            </a:r>
          </a:p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1.15：3/5 场景支持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64875-BFB4-4DE7-9672-C1A6044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6</a:t>
            </a:r>
          </a:p>
        </p:txBody>
      </p:sp>
    </p:spTree>
    <p:extLst>
      <p:ext uri="{BB962C8B-B14F-4D97-AF65-F5344CB8AC3E}">
        <p14:creationId xmlns:p14="http://schemas.microsoft.com/office/powerpoint/2010/main" val="1901921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2E60A-E501-49D2-98F0-C5A993F0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C4300-74E9-4D38-8E26-3696EF7B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训练稳定性与工程指标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DA1EE-1090-4227-9549-B09E3DCB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56058bcf54bb9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e60f1547041d2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0F8E1-0A87-418D-A2E6-0E6FD170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EDA78-2415-4728-AF69-3E7610CC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4C7FC-4FC5-43B9-AC01-F67FF7AF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成本优势主要来自更少的延迟惩罚；工程指标改善伴随热峰值略高这一权衡。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6f1f9127e41a7"/>
          <a:stretch xmlns:a="http://schemas.openxmlformats.org/drawingml/2006/main"/>
        </p:blipFill>
        <p:spPr>
          <a:xfrm xmlns:a="http://schemas.openxmlformats.org/drawingml/2006/main">
            <a:off x="1385573" y="1238250"/>
            <a:ext cx="5668004" cy="4191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220F0-2573-45ED-97FE-F54156AB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5732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约 220 episodes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5FE7C-00BF-4C8C-9183-07BF8FE4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240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Standard 与 Centered 曲线趋于稳定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483F8-8E53-403F-B958-0BAF8A10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24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延迟惩罚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3506D-3BFF-451D-8B51-AAF1E6A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6111F-EC1C-4816-88A3-0287097A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76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建模能耗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FD633-775C-449F-8E64-44F913E6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660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73B48-9C9C-4A0E-962A-CE76E2C6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29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时延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1392A-228B-4FC5-9D60-1396292B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A30F0-29C1-4F1F-9973-160AB1B7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81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传输数据量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DA7D7-8819-42F0-B5AA-2E0F04EC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C273B-7F0B-4E90-89A1-126293E0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429000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EE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rPr>
              <a:t>边界：两者都触及 clipped energy=0；DQN 最大热状态略高。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32607-6B8E-4D2F-BC80-377898B1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7</a:t>
            </a:r>
          </a:p>
        </p:txBody>
      </p:sp>
    </p:spTree>
    <p:extLst>
      <p:ext uri="{BB962C8B-B14F-4D97-AF65-F5344CB8AC3E}">
        <p14:creationId xmlns:p14="http://schemas.microsoft.com/office/powerpoint/2010/main" val="20858228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063D31-2AE7-47E7-99EF-EADF0810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四、边界与结论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C199-B129-4C03-94F3-7962106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适用边界与可复现性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B312C-7679-4B12-B5C1-BB38FA3A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c09dfe9ad4655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a406974f44e08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A3964-B986-4E72-A142-82BE3224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D2AA8-FF7A-47E2-AC3E-53612DA3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9CFEA-7CE3-42FC-AABA-607AF8C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当前结果建立受控基准证据；真实任务标定、硬约束安全性与在轨验证是下一步。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003B8-A851-4D23-93BB-C52D59EE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当前证据边界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04C66-C964-4136-A672-4B47324C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0B7D5-74A6-4494-BF5C-06B070E6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合成任务与固定的无量纲权重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F8FDF-9D74-4C98-8C13-F2DA3D0A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31066-F4A4-4AE3-8034-2F24C1B6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软约束与截断资源状态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20BD7-2EF4-4175-A571-877379C8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AE0F5-52A3-48C8-93D1-E790F592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全部模型在耦合系数 c=1 下训练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8F2E8-87FD-42CA-8DC3-C797E7A5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24095-57BB-42AA-95C6-EAE940F0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规划器使用完美短期预览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9406B-A2E1-4604-B97A-BA6D7C0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AB0A9-286A-47EF-AD34-DC53ABBA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未测量匹配条件下的 DQN 推理延迟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51E14-4920-43DA-845E-EEDD6314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4AF75-CFF2-4AFC-B939-A5D6387B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可复现材料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F3FA3-9C55-4547-85DF-22CB4332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公开代码与结果包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CDBD9-7C97-4C99-BC6F-8CC6B294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286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github.com/noob32123/</a:t>
            </a:r>
          </a:p>
          <a:p xmlns:a="http://schemas.openxmlformats.org/drawingml/2006/main">
            <a:pPr algn="l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dqn_family_satellite_ground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B3D9E-98D4-4C44-ADE4-A3B04FF3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AC430-8B73-41F8-A253-5ECE1BC6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F04A8-E242-4301-A9D2-47174A07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29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真实任务分布标定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17DBF-E30B-42DF-962C-5EA6EC4C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95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927CA-467B-49B3-A580-A7E3855E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624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硬约束与安全屏蔽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FDEEB-C0E5-4D63-A40E-879567BE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CADB34-F21A-4C2F-907C-2FF7335A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不完美预览与分布漂移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9CF361-241A-434E-9F51-D544FABE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62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53390B-B71A-4613-A7AB-48B482A3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291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匹配硬件上的端到端时延</a:t>
            </a:r>
          </a:p>
        </p:txBody>
      </p:sp>
    </p:spTree>
    <p:extLst>
      <p:ext uri="{BB962C8B-B14F-4D97-AF65-F5344CB8AC3E}">
        <p14:creationId xmlns:p14="http://schemas.microsoft.com/office/powerpoint/2010/main" val="1192674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B7B69-0CE5-4AF8-8693-E1EF1CDE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四、边界与结论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326A4-08C7-4DE7-8A68-088F4B47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FE4C2-E806-4E12-8CBB-9197F97F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7ab960f144d5e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dc470967349a4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104FA-A758-40DC-BBDE-5B23A436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A0FFA-8CD6-42EC-8111-B8B15D41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7746D-0F7E-446E-8AFA-D1C62B55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0495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家族级证据稳定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AD5C8-A84E-4FEA-AF0E-81D9B20A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939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五个完全耦合场景中的 30 个 DQN–MPC-4 对比全部支持 DQN 家族。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E4DE4-09F2-4D07-9D20-3AAB77A8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241E6-80F5-4E32-BC80-942D7E4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目标内部差异有限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AA6A1-666C-459B-B4E0-F340CB6D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939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不同 DQN 目标的差异较小且依场景变化，不支持“单一目标普遍最优”。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8E428-BCCD-452A-947B-8E387D0C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6865C-8F3D-4038-9460-1F0BDB68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2905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计算与性能存在权衡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B1D2A-9303-4257-AC47-CA0A7090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939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更深规划继续降低成本，但运行时间快速增长；推理延迟仍需匹配测量。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94B60-36A6-489C-90FE-8EB08010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0175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D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44581-A192-4972-B9F1-0C1C0D66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谢谢聆听 · 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69091027"/>
      </p:ext>
    </p:extLst>
  </p:cSld>
</p:sld>
</file>

<file path=ppt/theme/theme1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2026-09-10T07:18:10.3860000Z</dcterms:created>
  <dcterms:modified xsi:type="dcterms:W3CDTF">2026-09-10T07:18:10.3860000Z</dcterms:modified>
</coreProperties>
</file>
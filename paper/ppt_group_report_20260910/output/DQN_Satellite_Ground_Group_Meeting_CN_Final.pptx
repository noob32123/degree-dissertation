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f9306dbac443e" /><Relationship Type="http://schemas.openxmlformats.org/officeDocument/2006/relationships/extended-properties" Target="/docProps/app.xml" Id="R45a201e373dd4f2e" /><Relationship Type="http://schemas.openxmlformats.org/officeDocument/2006/relationships/officeDocument" Target="/ppt/presentation.xml" Id="Rb9de612fb1b046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8750c67db4440"/>
  </p:sldMasterIdLst>
  <p:notesMasterIdLst>
    <p:notesMasterId xmlns:r="http://schemas.openxmlformats.org/officeDocument/2006/relationships" r:id="R163d0b30744c4ed5"/>
  </p:notesMasterIdLst>
  <p:sldIdLst>
    <p:sldId xmlns:r="http://schemas.openxmlformats.org/officeDocument/2006/relationships" id="256" r:id="Rb24c284835704126"/>
    <p:sldId xmlns:r="http://schemas.openxmlformats.org/officeDocument/2006/relationships" id="257" r:id="Rba2ce0fa49334719"/>
    <p:sldId xmlns:r="http://schemas.openxmlformats.org/officeDocument/2006/relationships" id="258" r:id="R711388e5e132478b"/>
    <p:sldId xmlns:r="http://schemas.openxmlformats.org/officeDocument/2006/relationships" id="259" r:id="R771c1eac37e5485d"/>
    <p:sldId xmlns:r="http://schemas.openxmlformats.org/officeDocument/2006/relationships" id="260" r:id="Rd66e3523cf74457b"/>
    <p:sldId xmlns:r="http://schemas.openxmlformats.org/officeDocument/2006/relationships" id="261" r:id="R72c325e911c14c2d"/>
    <p:sldId xmlns:r="http://schemas.openxmlformats.org/officeDocument/2006/relationships" id="262" r:id="Re1f75bc27b1c44bc"/>
    <p:sldId xmlns:r="http://schemas.openxmlformats.org/officeDocument/2006/relationships" id="263" r:id="Rcde6f69dded34678"/>
    <p:sldId xmlns:r="http://schemas.openxmlformats.org/officeDocument/2006/relationships" id="264" r:id="Rd4584ab0627548cd"/>
    <p:sldId xmlns:r="http://schemas.openxmlformats.org/officeDocument/2006/relationships" id="265" r:id="R0dcaeb910b8b4acb"/>
    <p:sldId xmlns:r="http://schemas.openxmlformats.org/officeDocument/2006/relationships" id="266" r:id="R7b275dd9e1924c20"/>
    <p:sldId xmlns:r="http://schemas.openxmlformats.org/officeDocument/2006/relationships" id="267" r:id="R27f4e1b657ce437c"/>
    <p:sldId xmlns:r="http://schemas.openxmlformats.org/officeDocument/2006/relationships" id="268" r:id="R63f58988c92e43b8"/>
    <p:sldId xmlns:r="http://schemas.openxmlformats.org/officeDocument/2006/relationships" id="269" r:id="R56b3f366ba3c4d6b"/>
    <p:sldId xmlns:r="http://schemas.openxmlformats.org/officeDocument/2006/relationships" id="270" r:id="R4fbcaf0d43304f9b"/>
    <p:sldId xmlns:r="http://schemas.openxmlformats.org/officeDocument/2006/relationships" id="271" r:id="R5313de14aaa24f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4fe3780e35459e" /><Relationship Type="http://schemas.openxmlformats.org/officeDocument/2006/relationships/slideMaster" Target="/ppt/slideMasters/slideMaster1.xml" Id="Rd9a8750c67db4440" /><Relationship Type="http://schemas.openxmlformats.org/officeDocument/2006/relationships/notesMaster" Target="/ppt/notesMasters/notesMaster1.xml" Id="R163d0b30744c4ed5" /><Relationship Type="http://schemas.openxmlformats.org/officeDocument/2006/relationships/presProps" Target="/ppt/presProps.xml" Id="Rc9b3e8eb43f7430c" /><Relationship Type="http://schemas.openxmlformats.org/officeDocument/2006/relationships/viewProps" Target="/ppt/viewProps.xml" Id="Red0849f6c4334c13" /><Relationship Type="http://schemas.openxmlformats.org/officeDocument/2006/relationships/tableStyles" Target="/ppt/tableStyles.xml" Id="Rb7aa8fbc29dd45bd" /><Relationship Type="http://schemas.openxmlformats.org/officeDocument/2006/relationships/slide" Target="/ppt/slides/slide1.xml" Id="Rb24c284835704126" /><Relationship Type="http://schemas.openxmlformats.org/officeDocument/2006/relationships/slide" Target="/ppt/slides/slide2.xml" Id="Rba2ce0fa49334719" /><Relationship Type="http://schemas.openxmlformats.org/officeDocument/2006/relationships/slide" Target="/ppt/slides/slide3.xml" Id="R711388e5e132478b" /><Relationship Type="http://schemas.openxmlformats.org/officeDocument/2006/relationships/slide" Target="/ppt/slides/slide4.xml" Id="R771c1eac37e5485d" /><Relationship Type="http://schemas.openxmlformats.org/officeDocument/2006/relationships/slide" Target="/ppt/slides/slide5.xml" Id="Rd66e3523cf74457b" /><Relationship Type="http://schemas.openxmlformats.org/officeDocument/2006/relationships/slide" Target="/ppt/slides/slide6.xml" Id="R72c325e911c14c2d" /><Relationship Type="http://schemas.openxmlformats.org/officeDocument/2006/relationships/slide" Target="/ppt/slides/slide7.xml" Id="Re1f75bc27b1c44bc" /><Relationship Type="http://schemas.openxmlformats.org/officeDocument/2006/relationships/slide" Target="/ppt/slides/slide8.xml" Id="Rcde6f69dded34678" /><Relationship Type="http://schemas.openxmlformats.org/officeDocument/2006/relationships/slide" Target="/ppt/slides/slide9.xml" Id="Rd4584ab0627548cd" /><Relationship Type="http://schemas.openxmlformats.org/officeDocument/2006/relationships/slide" Target="/ppt/slides/slide10.xml" Id="R0dcaeb910b8b4acb" /><Relationship Type="http://schemas.openxmlformats.org/officeDocument/2006/relationships/slide" Target="/ppt/slides/slide11.xml" Id="R7b275dd9e1924c20" /><Relationship Type="http://schemas.openxmlformats.org/officeDocument/2006/relationships/slide" Target="/ppt/slides/slide12.xml" Id="R27f4e1b657ce437c" /><Relationship Type="http://schemas.openxmlformats.org/officeDocument/2006/relationships/slide" Target="/ppt/slides/slide13.xml" Id="R63f58988c92e43b8" /><Relationship Type="http://schemas.openxmlformats.org/officeDocument/2006/relationships/slide" Target="/ppt/slides/slide14.xml" Id="R56b3f366ba3c4d6b" /><Relationship Type="http://schemas.openxmlformats.org/officeDocument/2006/relationships/slide" Target="/ppt/slides/slide15.xml" Id="R4fbcaf0d43304f9b" /><Relationship Type="http://schemas.openxmlformats.org/officeDocument/2006/relationships/slide" Target="/ppt/slides/slide16.xml" Id="R5313de14aaa2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5d92e5d1c2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3d51dcc774475" /><Relationship Type="http://schemas.openxmlformats.org/officeDocument/2006/relationships/notesMaster" Target="/ppt/notesMasters/notesMaster1.xml" Id="Rf241a807990042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99981fdc2e4fe2" /><Relationship Type="http://schemas.openxmlformats.org/officeDocument/2006/relationships/notesMaster" Target="/ppt/notesMasters/notesMaster1.xml" Id="Rd0c5a637b7c1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9a88d1de844655" /><Relationship Type="http://schemas.openxmlformats.org/officeDocument/2006/relationships/notesMaster" Target="/ppt/notesMasters/notesMaster1.xml" Id="R5747e84bf8ad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4eaa801a6a445d" /><Relationship Type="http://schemas.openxmlformats.org/officeDocument/2006/relationships/notesMaster" Target="/ppt/notesMasters/notesMaster1.xml" Id="R110a1c88e2ec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6d66dc31b341ca" /><Relationship Type="http://schemas.openxmlformats.org/officeDocument/2006/relationships/notesMaster" Target="/ppt/notesMasters/notesMaster1.xml" Id="R1b62577c319c48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f7555cad94495a" /><Relationship Type="http://schemas.openxmlformats.org/officeDocument/2006/relationships/notesMaster" Target="/ppt/notesMasters/notesMaster1.xml" Id="Re9e569c892db42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1572f720d648f6" /><Relationship Type="http://schemas.openxmlformats.org/officeDocument/2006/relationships/notesMaster" Target="/ppt/notesMasters/notesMaster1.xml" Id="Ra6d0a9cd215647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43d0d3f65341af" /><Relationship Type="http://schemas.openxmlformats.org/officeDocument/2006/relationships/notesMaster" Target="/ppt/notesMasters/notesMaster1.xml" Id="R43a15ee481c647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dceed2c15e47d7" /><Relationship Type="http://schemas.openxmlformats.org/officeDocument/2006/relationships/notesMaster" Target="/ppt/notesMasters/notesMaster1.xml" Id="R0537b89954e74d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efc5b841d64513" /><Relationship Type="http://schemas.openxmlformats.org/officeDocument/2006/relationships/notesMaster" Target="/ppt/notesMasters/notesMaster1.xml" Id="R637a198cbc7c4f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58536d33714459" /><Relationship Type="http://schemas.openxmlformats.org/officeDocument/2006/relationships/notesMaster" Target="/ppt/notesMasters/notesMaster1.xml" Id="Rb40a30ad68ca4b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611e797c1a49fc" /><Relationship Type="http://schemas.openxmlformats.org/officeDocument/2006/relationships/notesMaster" Target="/ppt/notesMasters/notesMaster1.xml" Id="Rb0b8da72690c49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f46c75be894226" /><Relationship Type="http://schemas.openxmlformats.org/officeDocument/2006/relationships/notesMaster" Target="/ppt/notesMasters/notesMaster1.xml" Id="Rbf21823b311b4e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2c4dd750494bfe" /><Relationship Type="http://schemas.openxmlformats.org/officeDocument/2006/relationships/notesMaster" Target="/ppt/notesMasters/notesMaster1.xml" Id="R83db5a5f30c840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8e515811a44f62" /><Relationship Type="http://schemas.openxmlformats.org/officeDocument/2006/relationships/notesMaster" Target="/ppt/notesMasters/notesMaster1.xml" Id="R425b30c672c94d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21cbd5fe644c88" /><Relationship Type="http://schemas.openxmlformats.org/officeDocument/2006/relationships/notesMaster" Target="/ppt/notesMasters/notesMaster1.xml" Id="R955e2b3ef1b3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开场：本报告介绍当前论文的核心问题、方法、统计证据与适用边界。题目和作者信息来自 manuscript.tex；视觉风格及标识来自用户指定模板。建议用 30 秒说明研究对象不是一般任务分配，而是带持续资源状态的卫星—地面序贯调度。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汇报分为四部分：先界定资源耦合调度问题，再说明可复现基准与六种 DQN 目标，随后展示跨场景、跨随机种子的统计证据，最后讨论边界和结论。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manuscript.tex 的 System Model 与 Introduction。强调资源是持久状态而不是独立任务属性。三个动作共同作用于六类资源，因此贪心选择可能把代价推迟到后续时段。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Introduction 末尾现版本保留的三项贡献。第四点已按作者要求删除，因此本页不新增额外贡献。讲述时突出“匹配条件”和“联合统计证据”，避免把结论泛化到真实飞行环境。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Fig. 1。上方是 onboard、ground、collaborative 三种动作，下方是动作后持续演化的资源量。建议按从任务输入到动作、再到资源状态的顺序讲图。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对应论文任务生成器审计图。20,000 个独立任务用于检查生成关系，数据量与工作量相关系数为 0.660。需要主动说明：该生成器是可控、可复现的合成基准，不是对真实飞行分布的经验拟合。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DQN Objective Family。Standard 为事实动作 Bellman；Full-action Q、Immediate advantage、Centered 引入不同的全动作辅助；Double 使用解耦选择与评估；Double + centered 组合两者。这里不把辅助监督表述为额外环境交互，因为它来自同一状态下的模型化动作评价。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Experimental Design。五个完全耦合场景是 nominal、burst、link-limited、energy-limited、thermal-stress。每个模型种子在 20 条共享 held-out 轨迹上评测。30 个对比来自 6 个 DQN 目标乘 5 个场景。联合 bootstrap 使用 10,000 次重采样，符号检验按 Holm 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对应论文主结果图。静态和 reduced 场景用于诊断模型在耦合减弱时的行为，主要结论只基于右侧五个 fully coupled regimes。不要把 DQN 在所有七种场景中的排序笼统表述为无条件最优。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核心结论页。差值定义为 DQN 成本减 MPC-4 成本，因此负值表示 DQN 更好。30 个均值差全部为负，且每个配对 95% 区间排除 0。跨全部比较的同时 95% 上界为 −5.03；最不利均值差为 −5.92；Holm 校正符号检验最大 p 值为 5.722e−05。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对应论文 DQN-family 细分结果。Nominal 下六种目标范围为 77.66–78.40，远小于它们与 MPC-4（90.83）的差距。Centered 在若干场景中最低，但家族内部区间显示差异较小且依场景变化，因此不要宣称 centered 普遍最优。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对应规划深度消融。H=1、2、4、6 的成本分别为 99.33、92.80、90.83、89.35，运行时间为 0.13、0.50、4.82、42.50 ms。该表基于 400 条 held-out 轨迹。必须保留限定：没有在同一硬件和实现条件下测量 DQN 推理延迟，因此不能据此声称 DQN 在墙钟时间上快于 MPC。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左侧参数敏感性覆盖 8 个剖面，Centered 相对 Standard 的改善约 0.50%–1.66%，所有配对区间低于 0。右侧预览误差把规划输入统一缩放为 0.85 或 1.15，两种情况下都只有 3/5 场景满足原支持判据，因此只能称部分稳健，不能称对预览误差完全鲁棒。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对应训练诊断和工程分解。曲线在约 220 episodes 后趋于稳定。与 MPC-4 相比，Standard DQN 在五个 fully coupled regimes 中具有更低的延迟惩罚、建模能耗、时延和传输数据量。两者 clipped energy 都到 0，DQN 最大热状态略高，因此应作为资源权衡而不是全面占优来呈现。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Discussion 和 Data Availability。公开仓库地址来自论文数据可用性声明。边界措辞按当前稿件的审慎表述，不把合成基准结果外推为真实在轨性能。这里可用 45 秒说明后续验证路线。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收束在三点：一是家族相对 MPC-4 的统计优势；二是家族内部没有普遍赢家；三是规划质量与计算代价的权衡。最后邀请讨论真实数据标定、硬约束和在线部署评测。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11730b24f4a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7d665bb4848c9" /><Relationship Type="http://schemas.openxmlformats.org/officeDocument/2006/relationships/image" Target="/ppt/media/image.png" Id="R30702709b0644baf" /><Relationship Type="http://schemas.openxmlformats.org/officeDocument/2006/relationships/image" Target="/ppt/media/image2.png" Id="Rfd8827b02aa44bf1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ECB855DD-69EB-E866-D5B9-91F69EA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100"/>
            <a:ext cx="12192000" cy="1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275" cmpd="sng">
            <a:gradFill rotWithShape="1">
              <a:gsLst>
                <a:gs pos="0">
                  <a:srgbClr val="0070C0"/>
                </a:gs>
                <a:gs pos="43000">
                  <a:srgbClr val="4090A7"/>
                </a:gs>
                <a:gs pos="93000">
                  <a:schemeClr val="bg1"/>
                </a:gs>
              </a:gsLst>
              <a:lin ang="0" scaled="1"/>
              <a:tileRect/>
            </a:gra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marL="0" marR="0" lvl="0" indent="0" algn="l" defTabSz="91437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black"/>
              </a:solidFill>
              <a:latin typeface="Constantia"/>
              <a:ea typeface="Constantia"/>
              <a:cs typeface="Constantia"/>
            </a:endParaRPr>
          </a:p>
        </p:txBody>
      </p:sp>
      <p:pic>
        <p:nvPicPr>
          <p:cNvPr id="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02709b0644baf"/>
          <a:srcRect xmlns:a="http://schemas.openxmlformats.org/drawingml/2006/main" l="2734" t="5571" r="72733" b="7404"/>
          <a:stretch xmlns:a="http://schemas.openxmlformats.org/drawingml/2006/main"/>
        </p:blipFill>
        <p:spPr>
          <a:xfrm xmlns:a="http://schemas.openxmlformats.org/drawingml/2006/main">
            <a:off x="11242964" y="46135"/>
            <a:ext cx="834156" cy="720620"/>
          </a:xfrm>
          <a:prstGeom xmlns:a="http://schemas.openxmlformats.org/drawingml/2006/main" prst="rect">
            <a:avLst/>
          </a:prstGeom>
        </p:spPr>
      </p:pic>
      <p:pic>
        <p:nvPicPr>
          <p:cNvPr id="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827b02aa44bf1"/>
          <a:srcRect xmlns:a="http://schemas.openxmlformats.org/drawingml/2006/main" l="16887" t="12347" r="7013" b="1495"/>
          <a:stretch xmlns:a="http://schemas.openxmlformats.org/drawingml/2006/main"/>
        </p:blipFill>
        <p:spPr>
          <a:xfrm xmlns:a="http://schemas.openxmlformats.org/drawingml/2006/main">
            <a:off x="10418907" y="127682"/>
            <a:ext cx="699943" cy="66982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d42438fdb6488c" /><Relationship Type="http://schemas.openxmlformats.org/officeDocument/2006/relationships/slideLayout" Target="/ppt/slideLayouts/slideLayout1.xml" Id="R446ada9502754924" /><Relationship Type="http://schemas.openxmlformats.org/officeDocument/2006/relationships/slideLayout" Target="/ppt/slideLayouts/slideLayout2.xml" Id="R984d8711b92b48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ada9502754924"/>
    <p:sldLayoutId xmlns:r="http://schemas.openxmlformats.org/officeDocument/2006/relationships" id="2147483650" r:id="R984d8711b92b4878"/>
  </p:sldLayoutIdLst>
  <p:txStyles>
    <p:titleStyle>
      <a:lvl1pPr xmlns:a="http://schemas.openxmlformats.org/drawingml/2006/main" algn="l">
        <a:spcBef>
          <a:spcPct val="0"/>
        </a:spcBef>
        <a:buNone/>
        <a:defRPr sz="3600" kern="1200" cap="all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892" indent="-342892" algn="l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742931" indent="-285743" algn="l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142972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057348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428915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8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2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>
        <a:buNone/>
        <a:defRPr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ee0ed2292c4ca8" /><Relationship Type="http://schemas.openxmlformats.org/officeDocument/2006/relationships/image" Target="/ppt/media/image3.png" Id="R4f3e7a4e2b1145ab" /><Relationship Type="http://schemas.openxmlformats.org/officeDocument/2006/relationships/image" Target="/ppt/media/image4.png" Id="R9d0d5cc080f54f9e" /><Relationship Type="http://schemas.openxmlformats.org/officeDocument/2006/relationships/image" Target="/ppt/media/image5.png" Id="R459396ba80a543b2" /><Relationship Type="http://schemas.openxmlformats.org/officeDocument/2006/relationships/notesSlide" Target="/ppt/notesSlides/notesSlide1.xml" Id="Rc05be5d1afa7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186a9e55c4b08" /><Relationship Type="http://schemas.openxmlformats.org/officeDocument/2006/relationships/image" Target="/ppt/media/image6.png" Id="R9023453d5c324f20" /><Relationship Type="http://schemas.openxmlformats.org/officeDocument/2006/relationships/image" Target="/ppt/media/image7.png" Id="R876ff88f6744452d" /><Relationship Type="http://schemas.openxmlformats.org/officeDocument/2006/relationships/notesSlide" Target="/ppt/notesSlides/notesSlide2.xml" Id="Rf4bab6584380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03a9836b6412b" /><Relationship Type="http://schemas.openxmlformats.org/officeDocument/2006/relationships/image" Target="/ppt/media/image8.png" Id="R7381c59192ee447f" /><Relationship Type="http://schemas.openxmlformats.org/officeDocument/2006/relationships/image" Target="/ppt/media/image9.png" Id="R829dc774dd914de8" /><Relationship Type="http://schemas.openxmlformats.org/officeDocument/2006/relationships/notesSlide" Target="/ppt/notesSlides/notesSlide3.xml" Id="R994ebb23545c4a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00a2ebc4374588" /><Relationship Type="http://schemas.openxmlformats.org/officeDocument/2006/relationships/image" Target="/ppt/media/image10.png" Id="R8753304f217848a0" /><Relationship Type="http://schemas.openxmlformats.org/officeDocument/2006/relationships/image" Target="/ppt/media/image11.png" Id="Rfc18ca236e9e4c2a" /><Relationship Type="http://schemas.openxmlformats.org/officeDocument/2006/relationships/notesSlide" Target="/ppt/notesSlides/notesSlide4.xml" Id="R96cc177cc8434f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8d5079949b43bb" /><Relationship Type="http://schemas.openxmlformats.org/officeDocument/2006/relationships/image" Target="/ppt/media/image12.png" Id="R501c9c423ae2406d" /><Relationship Type="http://schemas.openxmlformats.org/officeDocument/2006/relationships/image" Target="/ppt/media/image13.png" Id="R1120c5e3dec945bc" /><Relationship Type="http://schemas.openxmlformats.org/officeDocument/2006/relationships/image" Target="/ppt/media/image14.png" Id="R6d4b90a233624e21" /><Relationship Type="http://schemas.openxmlformats.org/officeDocument/2006/relationships/notesSlide" Target="/ppt/notesSlides/notesSlide5.xml" Id="R15c2f8f2a94c44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e4c4fa777246c5" /><Relationship Type="http://schemas.openxmlformats.org/officeDocument/2006/relationships/image" Target="/ppt/media/image15.png" Id="R66f7ae4dac484848" /><Relationship Type="http://schemas.openxmlformats.org/officeDocument/2006/relationships/image" Target="/ppt/media/image16.png" Id="R4802e27c3e2c4d50" /><Relationship Type="http://schemas.openxmlformats.org/officeDocument/2006/relationships/image" Target="/ppt/media/image17.png" Id="R5b51c20b016d45ed" /><Relationship Type="http://schemas.openxmlformats.org/officeDocument/2006/relationships/notesSlide" Target="/ppt/notesSlides/notesSlide6.xml" Id="R289817b00dfc4c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0822c31074305" /><Relationship Type="http://schemas.openxmlformats.org/officeDocument/2006/relationships/image" Target="/ppt/media/image18.png" Id="R58ea7d70bf264d98" /><Relationship Type="http://schemas.openxmlformats.org/officeDocument/2006/relationships/image" Target="/ppt/media/image19.png" Id="Rba0c967081b84ce7" /><Relationship Type="http://schemas.openxmlformats.org/officeDocument/2006/relationships/notesSlide" Target="/ppt/notesSlides/notesSlide7.xml" Id="R7800c4c88bb943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cceb310914c4b" /><Relationship Type="http://schemas.openxmlformats.org/officeDocument/2006/relationships/image" Target="/ppt/media/image20.png" Id="Rb749a57988b8476d" /><Relationship Type="http://schemas.openxmlformats.org/officeDocument/2006/relationships/image" Target="/ppt/media/image21.png" Id="Ra6436fd261244dce" /><Relationship Type="http://schemas.openxmlformats.org/officeDocument/2006/relationships/notesSlide" Target="/ppt/notesSlides/notesSlide8.xml" Id="R7e7db705318b49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dfa8258aa4480" /><Relationship Type="http://schemas.openxmlformats.org/officeDocument/2006/relationships/image" Target="/ppt/media/image22.png" Id="R02d1caba49de4cdd" /><Relationship Type="http://schemas.openxmlformats.org/officeDocument/2006/relationships/image" Target="/ppt/media/image23.png" Id="R844f37ed25fb4887" /><Relationship Type="http://schemas.openxmlformats.org/officeDocument/2006/relationships/image" Target="/ppt/media/image24.png" Id="Rfca38e85da2c43bf" /><Relationship Type="http://schemas.openxmlformats.org/officeDocument/2006/relationships/notesSlide" Target="/ppt/notesSlides/notesSlide9.xml" Id="R7e5dab04fa5b42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848fd3721d44f5" /><Relationship Type="http://schemas.openxmlformats.org/officeDocument/2006/relationships/image" Target="/ppt/media/image25.png" Id="R3742edee06f640df" /><Relationship Type="http://schemas.openxmlformats.org/officeDocument/2006/relationships/image" Target="/ppt/media/image26.png" Id="Rc71625f1909d4d83" /><Relationship Type="http://schemas.openxmlformats.org/officeDocument/2006/relationships/image" Target="/ppt/media/image27.png" Id="R0ed3efc82d6e4f35" /><Relationship Type="http://schemas.openxmlformats.org/officeDocument/2006/relationships/notesSlide" Target="/ppt/notesSlides/notesSlide10.xml" Id="R283fe324557742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ce9f9d5a44548" /><Relationship Type="http://schemas.openxmlformats.org/officeDocument/2006/relationships/image" Target="/ppt/media/image28.png" Id="R1b881705420b4ac8" /><Relationship Type="http://schemas.openxmlformats.org/officeDocument/2006/relationships/image" Target="/ppt/media/image29.png" Id="Ra371bc1130a74ba9" /><Relationship Type="http://schemas.openxmlformats.org/officeDocument/2006/relationships/image" Target="/ppt/media/image30.png" Id="R339501419bd048c3" /><Relationship Type="http://schemas.openxmlformats.org/officeDocument/2006/relationships/notesSlide" Target="/ppt/notesSlides/notesSlide11.xml" Id="R3f4b9fc27c4d49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c645797d9d443d" /><Relationship Type="http://schemas.openxmlformats.org/officeDocument/2006/relationships/image" Target="/ppt/media/image31.png" Id="R1c8751cfbcec458e" /><Relationship Type="http://schemas.openxmlformats.org/officeDocument/2006/relationships/image" Target="/ppt/media/image32.png" Id="R90dad67b94a746eb" /><Relationship Type="http://schemas.openxmlformats.org/officeDocument/2006/relationships/notesSlide" Target="/ppt/notesSlides/notesSlide12.xml" Id="R9e1b8389caf34c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912ef67f644c0" /><Relationship Type="http://schemas.openxmlformats.org/officeDocument/2006/relationships/image" Target="/ppt/media/image33.png" Id="Rf8b3aeb982a34418" /><Relationship Type="http://schemas.openxmlformats.org/officeDocument/2006/relationships/image" Target="/ppt/media/image34.png" Id="Re86107e8534f44b2" /><Relationship Type="http://schemas.openxmlformats.org/officeDocument/2006/relationships/image" Target="/ppt/media/image35.png" Id="R9a8fca0f92c945d8" /><Relationship Type="http://schemas.openxmlformats.org/officeDocument/2006/relationships/notesSlide" Target="/ppt/notesSlides/notesSlide13.xml" Id="Rca20c328477e4d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cf6e4aa3fe4ec4" /><Relationship Type="http://schemas.openxmlformats.org/officeDocument/2006/relationships/image" Target="/ppt/media/image36.png" Id="R6d0733925085494d" /><Relationship Type="http://schemas.openxmlformats.org/officeDocument/2006/relationships/image" Target="/ppt/media/image37.png" Id="Rc5659dafbcd34557" /><Relationship Type="http://schemas.openxmlformats.org/officeDocument/2006/relationships/image" Target="/ppt/media/image38.png" Id="R8d3e78f6354d4241" /><Relationship Type="http://schemas.openxmlformats.org/officeDocument/2006/relationships/notesSlide" Target="/ppt/notesSlides/notesSlide14.xml" Id="Raba8bddb5c8b4a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94ad2b8e6f44fe" /><Relationship Type="http://schemas.openxmlformats.org/officeDocument/2006/relationships/image" Target="/ppt/media/image39.png" Id="R248a8c2163244db8" /><Relationship Type="http://schemas.openxmlformats.org/officeDocument/2006/relationships/image" Target="/ppt/media/image40.png" Id="Rfcc9a3dace454880" /><Relationship Type="http://schemas.openxmlformats.org/officeDocument/2006/relationships/notesSlide" Target="/ppt/notesSlides/notesSlide15.xml" Id="R9910f6a2cd5e46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1889e60813438e" /><Relationship Type="http://schemas.openxmlformats.org/officeDocument/2006/relationships/image" Target="/ppt/media/image41.png" Id="R5a6fdb224b524d61" /><Relationship Type="http://schemas.openxmlformats.org/officeDocument/2006/relationships/image" Target="/ppt/media/image42.png" Id="R5e73ca6d2587498e" /><Relationship Type="http://schemas.openxmlformats.org/officeDocument/2006/relationships/notesSlide" Target="/ppt/notesSlides/notesSlide16.xml" Id="Raf853911b0be44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D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e7a4e2b1145ab"/>
          <a:srcRect xmlns:a="http://schemas.openxmlformats.org/drawingml/2006/main" l="0" t="21381" r="0" b="21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28775"/>
            <a:ext cx="12192000" cy="25622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8EEC2-787F-4165-93F3-9D0F3C7B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28775"/>
            <a:ext cx="12192000" cy="2562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d5cc080f54f9e"/>
          <a:stretch xmlns:a="http://schemas.openxmlformats.org/drawingml/2006/main"/>
        </p:blipFill>
        <p:spPr>
          <a:xfrm xmlns:a="http://schemas.openxmlformats.org/drawingml/2006/main">
            <a:off x="266700" y="267526"/>
            <a:ext cx="2905125" cy="712724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396ba80a543b2"/>
          <a:stretch xmlns:a="http://schemas.openxmlformats.org/drawingml/2006/main"/>
        </p:blipFill>
        <p:spPr>
          <a:xfrm xmlns:a="http://schemas.openxmlformats.org/drawingml/2006/main">
            <a:off x="11144250" y="386129"/>
            <a:ext cx="685800" cy="5802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C285A-6618-41C8-82A9-59C73CFC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卫星数据智能计算技术实验室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28732-00F5-4258-A49F-8D71F33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资源耦合卫星地面调度中</a:t>
            </a:r>
          </a:p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DQN 家族优势的统计证据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9424A-2884-4AAC-9E52-E818F2B0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48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AF2"/>
                </a:solidFill>
                <a:latin typeface="Microsoft YaHei"/>
                <a:ea typeface="Microsoft YaHei"/>
                <a:cs typeface="Microsoft YaHei"/>
              </a:rPr>
              <a:t>Statistical Evidence for a DQN-Family Advantage in a Resource-Coupled Satellite-Ground Scheduling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EB0A3-74E3-400F-A9F3-F096828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4342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汇报人：杨博丞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92A96-6B03-43CE-BB31-6239DD3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rPr>
              <a:t>哈尔滨工业大学（深圳）空天科技学院</a:t>
            </a:r>
          </a:p>
          <a:p xmlns:a="http://schemas.openxmlformats.org/drawingml/2006/main">
            <a:pPr algn="ctr">
              <a:def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5EFF5"/>
                </a:solidFill>
                <a:latin typeface="Microsoft YaHei"/>
                <a:ea typeface="Microsoft YaHei"/>
                <a:cs typeface="Microsoft YaHei"/>
              </a:rPr>
              <a:t>卫星数据智能计算技术实验室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35F68-85FA-45BE-960A-54EF6DB7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62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AD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ADBE6"/>
                </a:solidFill>
                <a:latin typeface="Microsoft YaHei"/>
                <a:ea typeface="Microsoft YaHei"/>
                <a:cs typeface="Microsoft YaHei"/>
              </a:rPr>
              <a:t>2026.09.10</a:t>
            </a:r>
          </a:p>
        </p:txBody>
      </p:sp>
    </p:spTree>
    <p:extLst>
      <p:ext uri="{BB962C8B-B14F-4D97-AF65-F5344CB8AC3E}">
        <p14:creationId xmlns:p14="http://schemas.microsoft.com/office/powerpoint/2010/main" val="510969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76104-7F2B-4ED0-8AB9-CFB1475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39B76-4BFE-47B8-827D-5A643DAF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7A95E-2B54-4068-94B1-3D5D23B8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3453d5c324f20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ff88f6744452d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B85AF-4147-4F67-8FD8-3818D697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148CE-E511-4E3F-96F8-FFF81C5F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39E4A-6D8D-4801-A3CF-87F6ED9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研究背景与问题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F7945-D786-4E7C-8FEA-52E1475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4A44F-8CF3-4E30-BC21-67A42619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基准与方法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A1D3B-2730-4FA5-8FAC-77BCE34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D2E45-7C9D-4459-BB12-59485DDE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实验结果与统计证据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2F966-AD9B-4936-8E92-E20C1BE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8953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1B231-CA6D-4021-AE1D-B9D14550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523875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边界与结论</a:t>
            </a:r>
          </a:p>
        </p:txBody>
      </p:sp>
    </p:spTree>
    <p:extLst>
      <p:ext uri="{BB962C8B-B14F-4D97-AF65-F5344CB8AC3E}">
        <p14:creationId xmlns:p14="http://schemas.microsoft.com/office/powerpoint/2010/main" val="1215755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E29234-6364-4EF6-B2F1-C0C9946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一、研究背景与问题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056CD-CF8A-4E03-B233-8F28DE23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一次调度动作会同时改变多个持续资源状态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5E8AB-6C81-4011-8025-1281C296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1c59192ee447f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dc774dd914de8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D72C1-663A-40EF-833F-BE314FA4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93D78-F3A9-4D6F-9EB1-299ADC94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B132C-7EED-4F0A-8B22-39662B98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关键难点不是单步代价，而是当前动作对后续可行性与累积成本的长期影响。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20E2E-B11C-4CE8-A7BB-56669300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三种处理路径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F04B8-8C95-4A82-BCF7-5E397B18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星上处理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E01A8-5183-42CD-A5FD-8FCCBAC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onboard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819FC-E51E-4DDD-B3C9-367C5C47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地面处理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7FF09-DB63-4A3A-9348-02F68F1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ground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CE7E8-520E-4F16-99D1-FD56805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38300"/>
            <a:ext cx="1905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星地协同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E8DBD-DD67-48B3-BDA1-3C2B137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collaborative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30791-98A0-4D1F-B568-F8763450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持续演化的六类资源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0C3C1-92A5-49A9-9B91-E8555695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热状态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EDC89-2ACC-496A-AEB1-0D0573C8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能量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78123-389E-402C-B381-925FECA7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337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任务队列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30528-63A4-4E47-8424-43EB900D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计算利用率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B8CDC-B81F-4D85-963D-AE01A84D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链路带宽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BBCD3-EE71-4BA2-9A01-DE649B9A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17716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接触时长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41AFF-19FD-4223-9F63-8ED5DE7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3857625" cy="3743325"/>
          </a:xfrm>
          <a:prstGeom xmlns:a="http://schemas.openxmlformats.org/drawingml/2006/main" prst="roundRect">
            <a:avLst>
              <a:gd name="adj" fmla="val 152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A4713-EFE5-4274-8849-7316BD45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资源耦合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0B02D-8352-4AC7-86A0-37A42E5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90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动作会改变热、能量、队列和链路状态；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这些状态又共同决定后续动作的代价。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B4995-8D2A-4DA2-97B9-91E6FBEE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570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D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CA0EA1-3115-40EF-B236-84685B2E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长期价值学习用于显式处理</a:t>
            </a:r>
          </a:p>
          <a:p xmlns:a="http://schemas.openxmlformats.org/drawingml/2006/main">
            <a:pPr algn="ctr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跨时段影响与软约束惩罚</a:t>
            </a:r>
          </a:p>
        </p:txBody>
      </p:sp>
    </p:spTree>
    <p:extLst>
      <p:ext uri="{BB962C8B-B14F-4D97-AF65-F5344CB8AC3E}">
        <p14:creationId xmlns:p14="http://schemas.microsoft.com/office/powerpoint/2010/main" val="1419503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0B22D-D742-48E3-8644-189320D6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一、研究背景与问题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49937-7CA0-4333-B461-065727BE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研究问题与三项贡献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929D4-AAA0-4ACD-AC3A-75DEBD79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3304f217848a0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8ca236e9e4c2a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1E9CE-EBFA-4B2B-8D0F-941A0183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44555-DB9F-4409-ABB0-6AF79DDA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D81EA-2235-4BFD-9C5A-14F6165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研究目标：在匹配训练预算和交互数据的条件下，检验 DQN 家族相对短视规划的稳定优势。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50886-57AB-48F2-872F-46072977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现有证据缺口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F3C52-64BD-48DA-80B2-A9C8B08D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0858500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7E2E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许多调度研究在算法、训练预算、测试轨迹和统计检验上并不完全可比，</a:t>
            </a:r>
          </a:p>
          <a:p xmlns:a="http://schemas.openxmlformats.org/drawingml/2006/main">
            <a:pPr algn="l">
              <a:def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难以区分“算法优势”与“实验配置优势”。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9903E-5899-46F8-B47F-4F294BB1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8E9E7-07EC-437B-8C6B-393C6F32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可复现资源耦合基准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258BF-4ECD-4E68-A5FD-455DF42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统一任务生成、资源状态、软约束和评测轨迹。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EA28A-9298-4606-9579-56A08335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F0300-D5C2-4422-9C38-D62B0BC4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匹配条件下比较六种 DQN 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AB4E0-E31C-4468-8057-DEE5491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433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共享网络结构、训练交互和测试场景，仅改变学习目标。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837E1-D5EB-45F6-AED2-82F3D7B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87DF6-6F9A-4DD2-9767-17230435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用联合统计证据界定结论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DDFDD-96F6-4B3A-A34F-055ABA58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677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跨 20 个模型种子与共享轨迹，报告联合区间、符号检验与敏感性结果。</a:t>
            </a:r>
          </a:p>
        </p:txBody>
      </p:sp>
    </p:spTree>
    <p:extLst>
      <p:ext uri="{BB962C8B-B14F-4D97-AF65-F5344CB8AC3E}">
        <p14:creationId xmlns:p14="http://schemas.microsoft.com/office/powerpoint/2010/main" val="187259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86764-F577-4B6E-B2AC-ACD293D4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122B5-6E27-49D4-B3AD-25D44CC2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系统模型：动作路径与六类后置资源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6D65C-2E07-4DD9-849D-5ABBC5A4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c9c423ae2406d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0c5e3dec945bc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0DAA6-48B8-4B2F-B869-1B15BB3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2D48D-FD62-4586-9403-E7203BD7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D055D-760A-42EC-82E2-A16290B8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同一任务在三种处理路径之间选择；每条路径对应不同的资源消耗与后续状态。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b90a233624e21"/>
          <a:stretch xmlns:a="http://schemas.openxmlformats.org/drawingml/2006/main"/>
        </p:blipFill>
        <p:spPr>
          <a:xfrm xmlns:a="http://schemas.openxmlformats.org/drawingml/2006/main">
            <a:off x="2737522" y="1200150"/>
            <a:ext cx="6716957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8080B-5BD4-4846-98DB-619D5B8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1（manuscript.tex）</a:t>
            </a:r>
          </a:p>
        </p:txBody>
      </p:sp>
    </p:spTree>
    <p:extLst>
      <p:ext uri="{BB962C8B-B14F-4D97-AF65-F5344CB8AC3E}">
        <p14:creationId xmlns:p14="http://schemas.microsoft.com/office/powerpoint/2010/main" val="2077085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85A79-DABE-4466-90A1-6D33FEC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03E52-EA56-4E1B-909B-225D2338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合成任务生成器：保留任务属性间的物理一致性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75565-9BFE-4CA4-9205-CF0C47B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7ae4dac48484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2e27c3e2c4d50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22081-8DBE-4F9A-A632-B4BDE4B6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1DA3D-9DD7-4FEE-A380-F30044DC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C24A8-BDF9-4722-8352-3412F8DC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生成器用于受控统计比较；它体现一致性约束，但不声称拟合真实在轨任务分布。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1c20b016d45ed"/>
          <a:stretch xmlns:a="http://schemas.openxmlformats.org/drawingml/2006/main"/>
        </p:blipFill>
        <p:spPr>
          <a:xfrm xmlns:a="http://schemas.openxmlformats.org/drawingml/2006/main">
            <a:off x="523875" y="1508959"/>
            <a:ext cx="7858125" cy="379245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00A26-4500-4707-B44E-C5E22EB5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66875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20,000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EEF55-FE00-4F73-997E-5330B05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独立物理审计任务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34B82-7026-463A-BE85-3C16158E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0.660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69AC9-77C3-46BC-8A99-2781CD69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数据量—工作量相关系数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6D804-D5DA-4846-84F4-52D9198C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30F74-7D19-4DF6-9B84-52D1CFE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2383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任务属性相关</a:t>
            </a:r>
          </a:p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资源转换可解释</a:t>
            </a:r>
          </a:p>
          <a:p xmlns:a="http://schemas.openxmlformats.org/drawingml/2006/main">
            <a:pPr algn="ctr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随机性可复现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02EC1-4178-47D9-9217-7DBA0934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2</a:t>
            </a:r>
          </a:p>
        </p:txBody>
      </p:sp>
    </p:spTree>
    <p:extLst>
      <p:ext uri="{BB962C8B-B14F-4D97-AF65-F5344CB8AC3E}">
        <p14:creationId xmlns:p14="http://schemas.microsoft.com/office/powerpoint/2010/main" val="954830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E8258-6380-4E97-8BB1-FFB38B78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E70D3-26EA-41B5-9237-7EF3042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六种 DQN 学习目标及匹配训练条件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2BC52-0694-4316-8166-37A7F2D8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a7d70bf264d9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967081b84ce7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A4E91-B7AE-4E00-9F1A-F6A5B81E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91C9E-14EF-4829-B624-34F0122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7DCE5-C8BD-4742-87DD-96874F0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统一网络、训练交互和评测轨迹，使差异尽可能归因于目标构造。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76300" y="1381125"/>
          <a:ext xmlns:a="http://schemas.openxmlformats.org/drawingml/2006/main" cx="10439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333625"/>
                <a:gridCol w="2714625"/>
                <a:gridCol w="2247900"/>
              </a:tblGrid>
              <a:tr h="55789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目标变体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事实动作 Bellman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全动作辅助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目标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DQN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Full-action Q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 值监督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Immediate advantage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即时优势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D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Centered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中心化优势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D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Double + centered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中心化优势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CD564-8723-4E3F-A571-9E7542CA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注：六个变体均使用相同状态、动作、网络容量、训练交互与评测协议。</a:t>
            </a:r>
          </a:p>
        </p:txBody>
      </p:sp>
    </p:spTree>
    <p:extLst>
      <p:ext uri="{BB962C8B-B14F-4D97-AF65-F5344CB8AC3E}">
        <p14:creationId xmlns:p14="http://schemas.microsoft.com/office/powerpoint/2010/main" val="358780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CDC70-7309-4EE1-A62A-61CD2176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二、基准与方法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F0552-B81F-439B-9669-A24A34FD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评测设计：共享轨迹、独立模型种子与联合推断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A55C9-333D-4F33-BDFE-AAF14D70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a57988b8476d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36fd261244dce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13ED0-94C2-4B38-BADD-8667CA9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F86D-8C1D-41AF-9600-CDC5A72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99111-AB16-4F7C-ABFE-09209C2A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支持判据预先固定：均值差为负、95% 区间排除 0，并报告多重比较校正。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2F7E3-561F-4814-B908-B5ECB19C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2992-3D99-4494-901B-E7F2F8ED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独立模型种子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2FF6A-FFE4-4907-ABEA-B748C180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381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24D71-26C4-48C9-9656-856479BC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每种子共享测试轨迹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17C17-C5A7-4F16-9E31-331085F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ED5F6-EB46-4464-B86F-74C98930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完全耦合场景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7DDFA-112A-4858-8754-6B592FAB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811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4D12-3307-44CF-A7F5-D00D8E7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DQN–MPC-4 对比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0C9B9-3ABA-4A50-8519-16C7DD02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811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5B62B-41B5-45FF-BA55-0CB37B6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联合 bootstrap 重采样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AFB32-1FDC-404F-92ED-34CB0669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3035B-AC4A-453B-AC18-DCC7E8A1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56365-BEED-425A-95B0-5EEE853C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Argmin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34D12-5148-4286-9C34-BE585B9D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MPC-4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FC512-F771-48AF-AB8A-E45FE6E2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Contextual bandit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E3179-3C11-4431-99B3-1EB8E2BD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B6CE9-8526-42D0-B77E-55FA4F0F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1809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6× DQN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39849-47F1-4C16-857D-88AE27E1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统计证据链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05891-92A3-4A1F-8F2A-F9A2C8DD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C448F-04DD-4F6D-AE80-23D7FE0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逐对配对均值差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11C9E3-9B97-4D01-B947-D693A3D6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874592-816D-46A2-82A0-F909431C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联合 95% 区间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D3D87-5DF9-470C-ADD1-63DCCB0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43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C4386-1ED2-4B4E-A9A1-F4B61DAD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Holm 校正符号检验</a:t>
            </a:r>
          </a:p>
        </p:txBody>
      </p:sp>
    </p:spTree>
    <p:extLst>
      <p:ext uri="{BB962C8B-B14F-4D97-AF65-F5344CB8AC3E}">
        <p14:creationId xmlns:p14="http://schemas.microsoft.com/office/powerpoint/2010/main" val="137131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097E2-4E33-4BD9-8DBD-8AD2C01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743CE-A57C-401E-B179-55E703F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七类场景中的总体表现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76910-8EDF-4636-99D8-647716ED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1caba49de4cdd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f37ed25fb4887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2FCF5-3F96-44D1-9F71-DCF0B30C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EFBF5-6877-4E5F-91F3-96C26F9F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27C16-7317-4B26-899A-1A5CB31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在五个完全耦合场景中，DQN 家族均低于所有非 DQN 基线；数值越低越好。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38e85da2c43bf"/>
          <a:stretch xmlns:a="http://schemas.openxmlformats.org/drawingml/2006/main"/>
        </p:blipFill>
        <p:spPr>
          <a:xfrm xmlns:a="http://schemas.openxmlformats.org/drawingml/2006/main">
            <a:off x="3075312" y="1219200"/>
            <a:ext cx="6022326" cy="4400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76266-3C51-4980-85DA-B7781554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3；Static 与 Reduced 用于诊断，五个 Full regimes 用于主要结论。</a:t>
            </a:r>
          </a:p>
        </p:txBody>
      </p:sp>
    </p:spTree>
    <p:extLst>
      <p:ext uri="{BB962C8B-B14F-4D97-AF65-F5344CB8AC3E}">
        <p14:creationId xmlns:p14="http://schemas.microsoft.com/office/powerpoint/2010/main" val="289634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07697-FC17-498B-A44D-DB94C27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0E5C0-91B3-47C9-84CA-8EDA4C97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30/30 个 DQN–MPC-4 对比支持家族优势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02689-7668-4A56-908E-FB97E4F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2edee06f640df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625f1909d4d83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B8084-1D79-44C3-B67F-78964FB2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4FF10-1997-4671-A221-F619F496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C58B2-B740-45CA-864C-6625D215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最不利比较仍为 −5.92；同时 95% 上界为 −5.03，保持在零以下。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3efc82d6e4f35"/>
          <a:stretch xmlns:a="http://schemas.openxmlformats.org/drawingml/2006/main"/>
        </p:blipFill>
        <p:spPr>
          <a:xfrm xmlns:a="http://schemas.openxmlformats.org/drawingml/2006/main">
            <a:off x="476250" y="1460657"/>
            <a:ext cx="8001000" cy="404146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13BF8-541E-454F-9CBA-1164C550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62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30 /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F3598-7504-451B-A0FD-1118C04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669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平均差均低于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8E271-74F4-4E69-97FB-368B50C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−5.92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4492E-9CCA-48A9-8A86-2F1089D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289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最不利均值差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79A28-BAAE-4D3A-874B-978F9EA5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86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−5.03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633EC-E595-40DE-8C68-F8181F76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91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同时 95% 上界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D308E-04DE-484F-91C7-D81D8CAE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95875"/>
            <a:ext cx="2667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Holm 校正后最大 p = 5.722×10⁻⁵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D9CEF-D7C9-4073-8BCC-D7D6E73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4</a:t>
            </a:r>
          </a:p>
        </p:txBody>
      </p:sp>
    </p:spTree>
    <p:extLst>
      <p:ext uri="{BB962C8B-B14F-4D97-AF65-F5344CB8AC3E}">
        <p14:creationId xmlns:p14="http://schemas.microsoft.com/office/powerpoint/2010/main" val="5171919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5F97F-027C-4211-9776-4E3D8B54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FB98B-88D2-4DEB-8D55-73E06F96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DQN 家族内部差异随场景变化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1D56B-FE02-4182-A640-DA1CA42F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81705420b4ac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1bc1130a74ba9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89A22-7887-4503-9BB4-F63CAAF6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81191-C459-48BA-8D79-E86FBCEF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F354C-1B4C-40CE-82A1-3B1BBAF3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证据支持的是“DQN 家族相对 MPC-4”的稳定优势，而非某一目标在所有场景中绝对占优。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501419bd048c3"/>
          <a:stretch xmlns:a="http://schemas.openxmlformats.org/drawingml/2006/main"/>
        </p:blipFill>
        <p:spPr>
          <a:xfrm xmlns:a="http://schemas.openxmlformats.org/drawingml/2006/main">
            <a:off x="934125" y="1257300"/>
            <a:ext cx="7371000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A9D9E-B4D2-4DAA-A7E4-4BF6319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Nominal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91C7F-6D54-4C2D-AD23-1F680A45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77.66–78.40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FCA60-B689-44F9-9B97-5039744D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336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六种 DQN 的成本范围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A3ADE-A46D-4079-93B5-AC62734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6B8C6-1322-4A3F-80A8-0207F33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Centered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191B2-4ADA-4425-BB38-B204612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10025"/>
            <a:ext cx="2428875" cy="828675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在多个场景中数值最低，</a:t>
            </a:r>
          </a:p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但领先幅度小且并非处处显著。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3F0C8-2B90-478D-9406-076A0D1D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5</a:t>
            </a:r>
          </a:p>
        </p:txBody>
      </p:sp>
    </p:spTree>
    <p:extLst>
      <p:ext uri="{BB962C8B-B14F-4D97-AF65-F5344CB8AC3E}">
        <p14:creationId xmlns:p14="http://schemas.microsoft.com/office/powerpoint/2010/main" val="1060770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BE963-2EA9-41A7-992D-7B43F0E0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E7FAF-7A25-4840-BA49-DD866A4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规划深度：成本下降伴随显著运行时间增长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ED6A5-05EC-436C-A388-DB8A3853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751cfbcec458e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ad67b94a746eb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E31B9-B946-4317-9285-6125DA6D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4C135-04A2-4892-BFDE-4AD80BF3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46F3-D97C-462C-AFCA-FAAD361D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更深的精确规划继续降低成本，但从 H=1 到 H=6，运行时间增长约 327 倍。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33425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2190750"/>
              </a:tblGrid>
              <a:tr h="6324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规划深度 H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枚举序列数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平均成本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单步运行时间 (ms)</a:t>
                      </a:r>
                    </a:p>
                  </a:txBody>
                  <a:tcPr marL="91440" marR="91440" marT="45720" marB="45720" anchor="ctr">
                    <a:solidFill>
                      <a:srgbClr val="244D77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92.80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729</a:t>
                      </a:r>
                    </a:p>
                  </a:txBody>
                  <a:tcPr marL="91440" marR="91440" marT="45720" marB="4572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89.35</a:t>
                      </a:r>
                    </a:p>
                  </a:txBody>
                  <a:tcPr marL="91440" marR="91440" marT="45720" marB="45720" anchor="ctr">
                    <a:solidFill>
                      <a:srgbClr val="D9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42.50</a:t>
                      </a:r>
                    </a:p>
                  </a:txBody>
                  <a:tcPr marL="91440" marR="91440" marT="45720" marB="45720" anchor="ctr">
                    <a:solidFill>
                      <a:srgbClr val="F6DED9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8BBB-5E43-4F32-9D8D-DF8B7698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4FF28-8E65-4DAD-939B-EA7CCDD0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99.33 → 89.35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433F7-D4A8-4F78-86EC-258DE9C7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−10.0%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B15B0-C4B4-4CB3-B814-4652C536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289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AA52A-4285-4033-A7A4-55816E8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运行时间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9D248-D74C-4C80-A805-772DFAE0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480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0.13 → 42.50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1A819-B2CD-4F69-B5AA-01F684B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81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约 327×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CFA92-C21A-437B-9318-2837ECB4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4298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基于 400 条 held-out 轨迹；本文未进行匹配的 DQN 推理延迟测量。</a:t>
            </a:r>
          </a:p>
        </p:txBody>
      </p:sp>
    </p:spTree>
    <p:extLst>
      <p:ext uri="{BB962C8B-B14F-4D97-AF65-F5344CB8AC3E}">
        <p14:creationId xmlns:p14="http://schemas.microsoft.com/office/powerpoint/2010/main" val="13683632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2D757-1E0C-4311-AE66-87970819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8C19D-BB59-42CA-80BD-9F456D24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参数敏感性与预览误差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6A504-01E2-41F5-B250-A0F61B1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3aeb982a3441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107e8534f44b2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8D4B2-ED92-43EA-9657-8D6B0B4A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AAD2A-4ACE-4FE5-BCEF-C18485BB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7ED09-AC5C-45B4-B5F1-97DEF7F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参数剖面支持 8/8；预览缩放 ±15% 时各仅支持 3/5 个场景，应按边界而非失败解读。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fca0f92c945d8"/>
          <a:stretch xmlns:a="http://schemas.openxmlformats.org/drawingml/2006/main"/>
        </p:blipFill>
        <p:spPr>
          <a:xfrm xmlns:a="http://schemas.openxmlformats.org/drawingml/2006/main">
            <a:off x="523875" y="1286790"/>
            <a:ext cx="8096250" cy="423679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A8B09-83AD-4AFF-87AD-675EDD0A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F354-2365-4DE5-A9CD-6F21F85C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参数剖面区间低于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A0C31-F7F4-4969-B46A-1CB6F1E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0.50–1.66%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A6817-D843-42BD-8693-E7519B9D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Centered 相对 Standard 改善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19489-D01D-4C5F-B952-DDD375C3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预览缩放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4DE5C-E891-466E-863C-D22B223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5717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0.85：3/5 场景支持</a:t>
            </a:r>
          </a:p>
          <a:p xmlns:a="http://schemas.openxmlformats.org/drawingml/2006/main">
            <a:pPr algn="ctr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1.15：3/5 场景支持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1C83C-173F-4609-B73D-D4B7B86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6</a:t>
            </a:r>
          </a:p>
        </p:txBody>
      </p:sp>
    </p:spTree>
    <p:extLst>
      <p:ext uri="{BB962C8B-B14F-4D97-AF65-F5344CB8AC3E}">
        <p14:creationId xmlns:p14="http://schemas.microsoft.com/office/powerpoint/2010/main" val="869856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35021-CA10-44CB-B57B-3A04643D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三、实验结果与统计证据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35840-7899-4912-9C5A-72E8951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训练稳定性与工程指标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4EDDB-8333-4BBC-B6E6-7F08EA71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733925085494d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59dafbcd34557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2E2B-BFB2-4A90-8FC0-A30DC429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ED0C6-4B54-4396-924C-D22B279E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36458-B938-4188-B0B0-387F8968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成本优势主要来自更少的延迟惩罚；工程指标改善伴随热峰值略高这一权衡。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e78f6354d4241"/>
          <a:stretch xmlns:a="http://schemas.openxmlformats.org/drawingml/2006/main"/>
        </p:blipFill>
        <p:spPr>
          <a:xfrm xmlns:a="http://schemas.openxmlformats.org/drawingml/2006/main">
            <a:off x="1385573" y="1238250"/>
            <a:ext cx="5668004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B3CA0-0DDD-4044-833C-E2FBAEAA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5732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约 220 episodes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785BA-61D4-4434-90ED-F713C7E4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Standard 与 Centered 曲线趋于稳定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2A88A-024D-4CD0-84EE-3C8A5DB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24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延迟惩罚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B47CC-51A1-412F-82B3-908812B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DDC87-4957-4A5A-BC8D-E65ADA9E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76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建模能耗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323AB-BE93-4903-8809-65364F5F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6E219-A993-46CA-9D38-E4F8F21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29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时延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8105D-6536-419A-9820-292DA04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D7761-A324-4230-AA76-AFD47334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81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传输数据量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D5F78-B6D8-4641-A895-117DE7F7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0"/>
            <a:ext cx="100012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更低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FF093-8143-40AC-9CC0-E0BC32ED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4290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3324"/>
                </a:solidFill>
                <a:latin typeface="Microsoft YaHei"/>
                <a:ea typeface="Microsoft YaHei"/>
                <a:cs typeface="Microsoft YaHei"/>
              </a:rPr>
              <a:t>边界：两者都触及 clipped energy=0；DQN 最大热状态略高。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628DC-1A07-4E26-A886-D9F0D09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图源：论文 Fig. 7</a:t>
            </a:r>
          </a:p>
        </p:txBody>
      </p:sp>
    </p:spTree>
    <p:extLst>
      <p:ext uri="{BB962C8B-B14F-4D97-AF65-F5344CB8AC3E}">
        <p14:creationId xmlns:p14="http://schemas.microsoft.com/office/powerpoint/2010/main" val="8910819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5C367-FC93-4FBB-AD2B-D6AA42CE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四、边界与结论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A4290-90AA-45A3-B155-8ABC4BE6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适用边界与可复现性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97583-121C-4199-ABCA-6920E20C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a8c2163244db8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9a3dace454880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D028D-2E57-459C-8DE5-19FB77E5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3E426-CC85-4A42-8B4F-B8B1478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83058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B83324"/>
          </a:solidFill>
          <a:ln xmlns:a="http://schemas.openxmlformats.org/drawingml/2006/main" w="0">
            <a:solidFill>
              <a:srgbClr val="B833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DC67B-F3BA-463E-8E24-321EA052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53150"/>
            <a:ext cx="807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当前结果建立受控基准证据；真实任务标定、硬约束安全性与在轨验证是下一步。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E03B3-678C-4BA6-AEEE-D47127EC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当前证据边界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B3CA6-AFBC-46E1-9A44-C2D3ADA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C27E0-4310-47B7-9999-4BA3FF0F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合成任务与固定的无量纲权重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27355-23B8-4867-9DA5-E8AE4C70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24C69-1FF5-4F98-9874-0085F9B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软约束与截断资源状态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3EC84-2C32-4B7A-BDFB-5C1B56B4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BC25C-CD63-4ADC-AFA4-C379FFAF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全部模型在耦合系数 c=1 下训练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C1CC9-B447-4144-94CC-6E8B056C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FAF8A-D4F8-4DF1-BE16-FD7AAB71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规划器使用完美短期预览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CAD9F-9C10-40ED-A8D3-4006727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61925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244D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C9BBA-34E5-4172-9795-8604F83D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未测量匹配条件下的 DQN 推理延迟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9793F-8F79-46C9-A072-38D4806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8112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26862-6F8E-453B-A2B3-0FBD2D8B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可复现材料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0D557-3C70-4470-9AFE-4B3BAC06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公开代码与结果包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01C65-1BCE-4599-A2CE-C40362A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2862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github.com/noob32123/</a:t>
            </a:r>
          </a:p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dqn_family_satellite_ground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401E0-FD3C-4D5D-A48F-0BF493E1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153C-A4E2-45B9-B57D-664F72C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5EABC-2087-4C5A-AD58-BA7F4E2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29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真实任务分布标定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2FDB5-704D-42BD-B62E-8A1B6C1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95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9DB93-BAEE-406E-B8E0-FC456AB1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624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硬约束与安全屏蔽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C18DB-D84D-40A0-A9D5-0B7C698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4C11D-E324-4380-8D56-1AD3462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不完美预览与分布漂移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8CC95-96EA-46D9-9F8B-1A01A53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62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B91C8E-EBC7-4D8A-B6A8-D921120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291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匹配硬件上的端到端时延</a:t>
            </a:r>
          </a:p>
        </p:txBody>
      </p:sp>
    </p:spTree>
    <p:extLst>
      <p:ext uri="{BB962C8B-B14F-4D97-AF65-F5344CB8AC3E}">
        <p14:creationId xmlns:p14="http://schemas.microsoft.com/office/powerpoint/2010/main" val="723340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D64A7-B19E-4439-8299-08721C8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D96"/>
                </a:solidFill>
                <a:latin typeface="Microsoft YaHei"/>
                <a:ea typeface="Microsoft YaHei"/>
                <a:cs typeface="Microsoft YaHei"/>
              </a:rPr>
              <a:t>四、边界与结论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91D23-C0F2-41A9-9AE3-13BAEBE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CD8E4-249A-4641-954F-04D42D2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D9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fdb224b524d61"/>
          <a:stretch xmlns:a="http://schemas.openxmlformats.org/drawingml/2006/main"/>
        </p:blipFill>
        <p:spPr>
          <a:xfrm xmlns:a="http://schemas.openxmlformats.org/drawingml/2006/main">
            <a:off x="10401300" y="202223"/>
            <a:ext cx="523875" cy="44327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3ca6d2587498e"/>
          <a:stretch xmlns:a="http://schemas.openxmlformats.org/drawingml/2006/main"/>
        </p:blipFill>
        <p:spPr>
          <a:xfrm xmlns:a="http://schemas.openxmlformats.org/drawingml/2006/main">
            <a:off x="10982325" y="274587"/>
            <a:ext cx="828675" cy="2033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D564A-6A56-44A7-AA18-1124DF6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7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37ADB-A03A-41CF-A1AE-EF99A11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E84CF-C324-4FDB-B005-034BDA5A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049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家族级证据稳定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C6D52-16C7-4BAF-9384-B942D43D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五个完全耦合场景中的 30 个 DQN–MPC-4 对比全部支持 DQN 家族。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B4BFF-6D47-46BC-B26C-A3AFA2C4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938D3-009D-4503-9B14-5B21C255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目标内部差异有限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72162-E6DF-4737-B9D3-D6A4034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不同 DQN 目标的差异较小且依场景变化，不支持“单一目标普遍最优”。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E3B97-61FD-427B-B913-CF970C3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1912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87D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A4683-13CF-4CCE-9634-77990EF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290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计算与性能存在权衡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4B0CA-435A-4503-9006-120ADF5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939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更深规划继续降低成本，但运行时间快速增长；推理延迟仍需匹配测量。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B5B43-895B-427F-8261-6BE985B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0175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D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500CE-2ED2-434C-B90F-6FBCA2F7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4D77"/>
                </a:solidFill>
                <a:latin typeface="Microsoft YaHei"/>
                <a:ea typeface="Microsoft YaHei"/>
                <a:cs typeface="Microsoft YaHei"/>
              </a:rPr>
              <a:t>谢谢聆听 · 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853574271"/>
      </p:ext>
    </p:extLst>
  </p:cSld>
</p:sld>
</file>

<file path=ppt/theme/theme1.xml><?xml version="1.0" encoding="utf-8"?>
<a:theme xmlns:a="http://schemas.openxmlformats.org/drawingml/2006/main" name="1_跋涉">
  <a:themeElements>
    <a:clrScheme name="凸显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纸张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>
          <a:solidFill>
            <a:schemeClr val="phClr"/>
          </a:solidFill>
          <a:prstDash val="solid"/>
        </a:ln>
        <a:ln w="40000">
          <a:solidFill>
            <a:schemeClr val="phClr"/>
          </a:solidFill>
          <a:prstDash val="solid"/>
        </a:ln>
        <a:ln w="318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2026-09-10T07:16:09.9380000Z</dcterms:created>
  <dcterms:modified xsi:type="dcterms:W3CDTF">2026-09-10T07:16:09.9380000Z</dcterms:modified>
</coreProperties>
</file>
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8">
  <p:sldMasterIdLst>
    <p:sldMasterId id="2147483702" r:id="rId1"/>
  </p:sldMasterIdLst>
  <p:notesMasterIdLst>
    <p:notesMasterId r:id="rId14"/>
  </p:notesMasterIdLst>
  <p:handoutMasterIdLst>
    <p:handoutMasterId r:id="rId15"/>
  </p:handoutMasterIdLst>
  <p:sldIdLst>
    <p:sldId id="1061" r:id="rId2"/>
    <p:sldId id="1092" r:id="rId3"/>
    <p:sldId id="1241" r:id="rId4"/>
    <p:sldId id="1248" r:id="rId5"/>
    <p:sldId id="1237" r:id="rId6"/>
    <p:sldId id="1249" r:id="rId7"/>
    <p:sldId id="1196" r:id="rId8"/>
    <p:sldId id="1251" r:id="rId9"/>
    <p:sldId id="1250" r:id="rId10"/>
    <p:sldId id="1252" r:id="rId11"/>
    <p:sldId id="1253" r:id="rId12"/>
    <p:sldId id="1247" r:id="rId13"/>
  </p:sldIdLst>
  <p:sldSz cx="12192000" cy="6858000"/>
  <p:notesSz cx="6400800" cy="117316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min zhang" initials="yz" lastIdx="1" clrIdx="0">
    <p:extLst>
      <p:ext uri="{19B8F6BF-5375-455C-9EA6-DF929625EA0E}">
        <p15:presenceInfo xmlns:p15="http://schemas.microsoft.com/office/powerpoint/2012/main" userId="3eaf0d433552b0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090A7"/>
    <a:srgbClr val="006282"/>
    <a:srgbClr val="DAE3F3"/>
    <a:srgbClr val="3666A2"/>
    <a:srgbClr val="CC0000"/>
    <a:srgbClr val="008CD7"/>
    <a:srgbClr val="FE8C02"/>
    <a:srgbClr val="1D232B"/>
    <a:srgbClr val="4472C4"/>
    <a:srgbClr val="030F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3" autoAdjust="0"/>
    <p:restoredTop sz="90150" autoAdjust="0"/>
  </p:normalViewPr>
  <p:slideViewPr>
    <p:cSldViewPr snapToGrid="0">
      <p:cViewPr varScale="1">
        <p:scale>
          <a:sx n="113" d="100"/>
          <a:sy n="113" d="100"/>
        </p:scale>
        <p:origin x="396" y="96"/>
      </p:cViewPr>
      <p:guideLst>
        <p:guide orient="horz" pos="2183"/>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773680" cy="58861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625640" y="1"/>
            <a:ext cx="2773680" cy="588619"/>
          </a:xfrm>
          <a:prstGeom prst="rect">
            <a:avLst/>
          </a:prstGeom>
        </p:spPr>
        <p:txBody>
          <a:bodyPr vert="horz" lIns="91440" tIns="45720" rIns="91440" bIns="45720" rtlCol="0"/>
          <a:lstStyle>
            <a:lvl1pPr algn="r">
              <a:defRPr sz="1200"/>
            </a:lvl1pPr>
          </a:lstStyle>
          <a:p>
            <a:fld id="{90CF1293-8DAA-4FDD-8F18-A606BB1240D4}" type="datetimeFigureOut">
              <a:rPr lang="zh-CN" altLang="en-US" smtClean="0"/>
              <a:pPr/>
              <a:t>2026/7/5</a:t>
            </a:fld>
            <a:endParaRPr lang="zh-CN" altLang="en-US"/>
          </a:p>
        </p:txBody>
      </p:sp>
      <p:sp>
        <p:nvSpPr>
          <p:cNvPr id="4" name="页脚占位符 3"/>
          <p:cNvSpPr>
            <a:spLocks noGrp="1"/>
          </p:cNvSpPr>
          <p:nvPr>
            <p:ph type="ftr" sz="quarter" idx="2"/>
          </p:nvPr>
        </p:nvSpPr>
        <p:spPr>
          <a:xfrm>
            <a:off x="0" y="11143008"/>
            <a:ext cx="2773680" cy="58861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625640" y="11143008"/>
            <a:ext cx="2773680" cy="588618"/>
          </a:xfrm>
          <a:prstGeom prst="rect">
            <a:avLst/>
          </a:prstGeom>
        </p:spPr>
        <p:txBody>
          <a:bodyPr vert="horz" lIns="91440" tIns="45720" rIns="91440" bIns="45720" rtlCol="0" anchor="b"/>
          <a:lstStyle>
            <a:lvl1pPr algn="r">
              <a:defRPr sz="1200"/>
            </a:lvl1pPr>
          </a:lstStyle>
          <a:p>
            <a:fld id="{9BDE2914-2188-4A3B-B2FB-4533FF537614}" type="slidenum">
              <a:rPr lang="zh-CN" altLang="en-US" smtClean="0"/>
              <a:pPr/>
              <a:t>‹#›</a:t>
            </a:fld>
            <a:endParaRPr lang="zh-CN" altLang="en-US"/>
          </a:p>
        </p:txBody>
      </p:sp>
    </p:spTree>
    <p:extLst>
      <p:ext uri="{BB962C8B-B14F-4D97-AF65-F5344CB8AC3E}">
        <p14:creationId xmlns:p14="http://schemas.microsoft.com/office/powerpoint/2010/main" val="40721118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773680" cy="58861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625640" y="1"/>
            <a:ext cx="2773680" cy="588619"/>
          </a:xfrm>
          <a:prstGeom prst="rect">
            <a:avLst/>
          </a:prstGeom>
        </p:spPr>
        <p:txBody>
          <a:bodyPr vert="horz" lIns="91440" tIns="45720" rIns="91440" bIns="45720" rtlCol="0"/>
          <a:lstStyle>
            <a:lvl1pPr algn="r">
              <a:defRPr sz="1200"/>
            </a:lvl1pPr>
          </a:lstStyle>
          <a:p>
            <a:fld id="{16C3D1D1-D296-4DA5-B9B0-F2161ADE8491}" type="datetimeFigureOut">
              <a:rPr lang="zh-CN" altLang="en-US" smtClean="0"/>
              <a:pPr/>
              <a:t>2026/7/5</a:t>
            </a:fld>
            <a:endParaRPr lang="zh-CN" altLang="en-US"/>
          </a:p>
        </p:txBody>
      </p:sp>
      <p:sp>
        <p:nvSpPr>
          <p:cNvPr id="4" name="幻灯片图像占位符 3"/>
          <p:cNvSpPr>
            <a:spLocks noGrp="1" noRot="1" noChangeAspect="1"/>
          </p:cNvSpPr>
          <p:nvPr>
            <p:ph type="sldImg" idx="2"/>
          </p:nvPr>
        </p:nvSpPr>
        <p:spPr>
          <a:xfrm>
            <a:off x="-317500" y="1466850"/>
            <a:ext cx="7035800" cy="39592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40080" y="5645844"/>
            <a:ext cx="5120640" cy="4619327"/>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11143008"/>
            <a:ext cx="2773680" cy="58861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625640" y="11143008"/>
            <a:ext cx="2773680" cy="588618"/>
          </a:xfrm>
          <a:prstGeom prst="rect">
            <a:avLst/>
          </a:prstGeom>
        </p:spPr>
        <p:txBody>
          <a:bodyPr vert="horz" lIns="91440" tIns="45720" rIns="91440" bIns="45720" rtlCol="0" anchor="b"/>
          <a:lstStyle>
            <a:lvl1pPr algn="r">
              <a:defRPr sz="1200"/>
            </a:lvl1pPr>
          </a:lstStyle>
          <a:p>
            <a:fld id="{0309CAAE-2135-4991-A662-AD134CE8F36B}" type="slidenum">
              <a:rPr lang="zh-CN" altLang="en-US" smtClean="0"/>
              <a:pPr/>
              <a:t>‹#›</a:t>
            </a:fld>
            <a:endParaRPr lang="zh-CN" altLang="en-US"/>
          </a:p>
        </p:txBody>
      </p:sp>
    </p:spTree>
    <p:extLst>
      <p:ext uri="{BB962C8B-B14F-4D97-AF65-F5344CB8AC3E}">
        <p14:creationId xmlns:p14="http://schemas.microsoft.com/office/powerpoint/2010/main" val="2157335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0768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3" name="直接连接符 2">
            <a:extLst>
              <a:ext uri="{FF2B5EF4-FFF2-40B4-BE49-F238E27FC236}">
                <a16:creationId xmlns:a16="http://schemas.microsoft.com/office/drawing/2014/main" id="{ECB855DD-69EB-E866-D5B9-91F69EAA2FC0}"/>
              </a:ext>
            </a:extLst>
          </p:cNvPr>
          <p:cNvSpPr>
            <a:spLocks noChangeShapeType="1"/>
          </p:cNvSpPr>
          <p:nvPr userDrawn="1"/>
        </p:nvSpPr>
        <p:spPr bwMode="auto">
          <a:xfrm>
            <a:off x="0" y="805100"/>
            <a:ext cx="12192000" cy="15379"/>
          </a:xfrm>
          <a:prstGeom prst="line">
            <a:avLst/>
          </a:prstGeom>
          <a:noFill/>
          <a:ln w="41275" cap="flat" cmpd="sng" algn="ctr">
            <a:gradFill flip="none" rotWithShape="1">
              <a:gsLst>
                <a:gs pos="0">
                  <a:srgbClr val="0070C0"/>
                </a:gs>
                <a:gs pos="43000">
                  <a:srgbClr val="4090A7"/>
                </a:gs>
                <a:gs pos="93000">
                  <a:schemeClr val="bg1"/>
                </a:gs>
              </a:gsLst>
              <a:lin ang="0" scaled="1"/>
              <a:tileRect/>
            </a:gradFill>
            <a:prstDash val="solid"/>
            <a:round/>
            <a:headEnd type="none" w="med" len="med"/>
            <a:tailEnd type="none" w="med" len="med"/>
          </a:ln>
          <a:effectLst/>
        </p:spPr>
        <p:txBody>
          <a:bodyPr vert="horz" wrap="square" lIns="91440" tIns="45720" rIns="91440" bIns="45720" anchor="t" compatLnSpc="1"/>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pic>
        <p:nvPicPr>
          <p:cNvPr id="4" name="图片 3">
            <a:extLst>
              <a:ext uri="{FF2B5EF4-FFF2-40B4-BE49-F238E27FC236}">
                <a16:creationId xmlns:a16="http://schemas.microsoft.com/office/drawing/2014/main" id="{B2123596-1179-B400-6280-7C44C8734849}"/>
              </a:ext>
            </a:extLst>
          </p:cNvPr>
          <p:cNvPicPr>
            <a:picLocks noChangeAspect="1"/>
          </p:cNvPicPr>
          <p:nvPr userDrawn="1"/>
        </p:nvPicPr>
        <p:blipFill>
          <a:blip r:embed="rId2"/>
          <a:srcRect l="2734" t="5571" r="72733" b="7404"/>
          <a:stretch/>
        </p:blipFill>
        <p:spPr>
          <a:xfrm>
            <a:off x="11242964" y="46135"/>
            <a:ext cx="834156" cy="720620"/>
          </a:xfrm>
          <a:prstGeom prst="rect">
            <a:avLst/>
          </a:prstGeom>
        </p:spPr>
      </p:pic>
      <p:pic>
        <p:nvPicPr>
          <p:cNvPr id="2" name="图片 1">
            <a:extLst>
              <a:ext uri="{FF2B5EF4-FFF2-40B4-BE49-F238E27FC236}">
                <a16:creationId xmlns:a16="http://schemas.microsoft.com/office/drawing/2014/main" id="{8899F822-2932-B0D0-F90A-7F2958C6794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6887" t="12347" r="7013" b="1495"/>
          <a:stretch/>
        </p:blipFill>
        <p:spPr>
          <a:xfrm>
            <a:off x="10418907" y="127682"/>
            <a:ext cx="699943" cy="669829"/>
          </a:xfrm>
          <a:prstGeom prst="rect">
            <a:avLst/>
          </a:prstGeom>
        </p:spPr>
      </p:pic>
    </p:spTree>
    <p:extLst>
      <p:ext uri="{BB962C8B-B14F-4D97-AF65-F5344CB8AC3E}">
        <p14:creationId xmlns:p14="http://schemas.microsoft.com/office/powerpoint/2010/main" val="14073370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358330"/>
      </p:ext>
    </p:extLst>
  </p:cSld>
  <p:clrMap bg1="lt1" tx1="dk1" bg2="lt2" tx2="dk2" accent1="accent1" accent2="accent2" accent3="accent3" accent4="accent4" accent5="accent5" accent6="accent6" hlink="hlink" folHlink="folHlink"/>
  <p:sldLayoutIdLst>
    <p:sldLayoutId id="2147483704" r:id="rId1"/>
    <p:sldLayoutId id="2147483728" r:id="rId2"/>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892" indent="-342892"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31" indent="-285743"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972" indent="-228594"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160" indent="-228594"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348" indent="-228594"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537" indent="-228594"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726" indent="-228594"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915" indent="-228594"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103" indent="-228594"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89" algn="l" rtl="0" eaLnBrk="1" latinLnBrk="0" hangingPunct="1">
        <a:defRPr kumimoji="0" kern="1200">
          <a:solidFill>
            <a:schemeClr val="tx1"/>
          </a:solidFill>
          <a:latin typeface="+mn-lt"/>
          <a:ea typeface="+mn-ea"/>
          <a:cs typeface="+mn-cs"/>
        </a:defRPr>
      </a:lvl2pPr>
      <a:lvl3pPr marL="914378" algn="l" rtl="0" eaLnBrk="1" latinLnBrk="0" hangingPunct="1">
        <a:defRPr kumimoji="0" kern="1200">
          <a:solidFill>
            <a:schemeClr val="tx1"/>
          </a:solidFill>
          <a:latin typeface="+mn-lt"/>
          <a:ea typeface="+mn-ea"/>
          <a:cs typeface="+mn-cs"/>
        </a:defRPr>
      </a:lvl3pPr>
      <a:lvl4pPr marL="1371566" algn="l" rtl="0" eaLnBrk="1" latinLnBrk="0" hangingPunct="1">
        <a:defRPr kumimoji="0" kern="1200">
          <a:solidFill>
            <a:schemeClr val="tx1"/>
          </a:solidFill>
          <a:latin typeface="+mn-lt"/>
          <a:ea typeface="+mn-ea"/>
          <a:cs typeface="+mn-cs"/>
        </a:defRPr>
      </a:lvl4pPr>
      <a:lvl5pPr marL="1828754" algn="l" rtl="0" eaLnBrk="1" latinLnBrk="0" hangingPunct="1">
        <a:defRPr kumimoji="0" kern="1200">
          <a:solidFill>
            <a:schemeClr val="tx1"/>
          </a:solidFill>
          <a:latin typeface="+mn-lt"/>
          <a:ea typeface="+mn-ea"/>
          <a:cs typeface="+mn-cs"/>
        </a:defRPr>
      </a:lvl5pPr>
      <a:lvl6pPr marL="2285943" algn="l" rtl="0" eaLnBrk="1" latinLnBrk="0" hangingPunct="1">
        <a:defRPr kumimoji="0" kern="1200">
          <a:solidFill>
            <a:schemeClr val="tx1"/>
          </a:solidFill>
          <a:latin typeface="+mn-lt"/>
          <a:ea typeface="+mn-ea"/>
          <a:cs typeface="+mn-cs"/>
        </a:defRPr>
      </a:lvl6pPr>
      <a:lvl7pPr marL="2743132" algn="l" rtl="0" eaLnBrk="1" latinLnBrk="0" hangingPunct="1">
        <a:defRPr kumimoji="0" kern="1200">
          <a:solidFill>
            <a:schemeClr val="tx1"/>
          </a:solidFill>
          <a:latin typeface="+mn-lt"/>
          <a:ea typeface="+mn-ea"/>
          <a:cs typeface="+mn-cs"/>
        </a:defRPr>
      </a:lvl7pPr>
      <a:lvl8pPr marL="3200320" algn="l" rtl="0" eaLnBrk="1" latinLnBrk="0" hangingPunct="1">
        <a:defRPr kumimoji="0" kern="1200">
          <a:solidFill>
            <a:schemeClr val="tx1"/>
          </a:solidFill>
          <a:latin typeface="+mn-lt"/>
          <a:ea typeface="+mn-ea"/>
          <a:cs typeface="+mn-cs"/>
        </a:defRPr>
      </a:lvl8pPr>
      <a:lvl9pPr marL="3657509"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00AB80B-E20B-2618-7429-820B158BA6CE}"/>
              </a:ext>
            </a:extLst>
          </p:cNvPr>
          <p:cNvSpPr txBox="1"/>
          <p:nvPr/>
        </p:nvSpPr>
        <p:spPr>
          <a:xfrm>
            <a:off x="1517872" y="4376893"/>
            <a:ext cx="9150128" cy="738664"/>
          </a:xfrm>
          <a:prstGeom prst="rect">
            <a:avLst/>
          </a:prstGeom>
          <a:noFill/>
        </p:spPr>
        <p:txBody>
          <a:bodyPr wrap="square">
            <a:spAutoFit/>
          </a:bodyPr>
          <a:lstStyle/>
          <a:p>
            <a:pPr algn="ctr" fontAlgn="ctr">
              <a:lnSpc>
                <a:spcPct val="150000"/>
              </a:lnSpc>
            </a:pPr>
            <a:r>
              <a:rPr lang="zh-CN" altLang="en-US" sz="2800" b="1" dirty="0">
                <a:latin typeface="+mj-ea"/>
                <a:ea typeface="+mj-ea"/>
              </a:rPr>
              <a:t>汇报人：杨博丞</a:t>
            </a:r>
            <a:endParaRPr lang="en-US" altLang="zh-CN" sz="2800" b="1" dirty="0">
              <a:latin typeface="+mj-ea"/>
              <a:ea typeface="+mj-ea"/>
            </a:endParaRPr>
          </a:p>
        </p:txBody>
      </p:sp>
      <p:sp>
        <p:nvSpPr>
          <p:cNvPr id="3" name="矩形 2">
            <a:extLst>
              <a:ext uri="{FF2B5EF4-FFF2-40B4-BE49-F238E27FC236}">
                <a16:creationId xmlns:a16="http://schemas.microsoft.com/office/drawing/2014/main" id="{C2669D39-E82B-0B66-E943-B60AE443731F}"/>
              </a:ext>
            </a:extLst>
          </p:cNvPr>
          <p:cNvSpPr/>
          <p:nvPr/>
        </p:nvSpPr>
        <p:spPr>
          <a:xfrm>
            <a:off x="0" y="1631950"/>
            <a:ext cx="12192000" cy="2566628"/>
          </a:xfrm>
          <a:prstGeom prst="rect">
            <a:avLst/>
          </a:prstGeom>
          <a:solidFill>
            <a:srgbClr val="083160">
              <a:alpha val="81000"/>
            </a:srgb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0AB55A5E-17BF-F27A-EAD6-4D705987DD94}"/>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harpenSoften amount="4000"/>
                    </a14:imgEffect>
                    <a14:imgEffect>
                      <a14:colorTemperature colorTemp="6859"/>
                    </a14:imgEffect>
                    <a14:imgEffect>
                      <a14:saturation sat="195000"/>
                    </a14:imgEffect>
                    <a14:imgEffect>
                      <a14:brightnessContrast bright="15000" contrast="15000"/>
                    </a14:imgEffect>
                  </a14:imgLayer>
                </a14:imgProps>
              </a:ext>
            </a:extLst>
          </a:blip>
          <a:srcRect l="712" r="763"/>
          <a:stretch/>
        </p:blipFill>
        <p:spPr>
          <a:xfrm>
            <a:off x="0" y="1631950"/>
            <a:ext cx="12191999" cy="2554383"/>
          </a:xfrm>
          <a:prstGeom prst="rect">
            <a:avLst/>
          </a:prstGeom>
          <a:ln>
            <a:noFill/>
          </a:ln>
          <a:effectLst>
            <a:outerShdw dist="50800" dir="2520000" algn="ctr" rotWithShape="0">
              <a:srgbClr val="000000"/>
            </a:outerShdw>
            <a:softEdge rad="0"/>
          </a:effectLst>
        </p:spPr>
      </p:pic>
      <p:sp>
        <p:nvSpPr>
          <p:cNvPr id="5" name="文本框 14">
            <a:extLst>
              <a:ext uri="{FF2B5EF4-FFF2-40B4-BE49-F238E27FC236}">
                <a16:creationId xmlns:a16="http://schemas.microsoft.com/office/drawing/2014/main" id="{415082DE-1CDD-EEA4-4CA4-2D1FE07FB743}"/>
              </a:ext>
            </a:extLst>
          </p:cNvPr>
          <p:cNvSpPr txBox="1">
            <a:spLocks noChangeArrowheads="1"/>
          </p:cNvSpPr>
          <p:nvPr/>
        </p:nvSpPr>
        <p:spPr bwMode="auto">
          <a:xfrm>
            <a:off x="1381517" y="2548929"/>
            <a:ext cx="9422837"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4572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4572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4572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lnSpc>
                <a:spcPct val="150000"/>
              </a:lnSpc>
              <a:spcBef>
                <a:spcPct val="0"/>
              </a:spcBef>
              <a:buFontTx/>
              <a:buNone/>
            </a:pPr>
            <a:r>
              <a:rPr lang="zh-CN" altLang="en-US" b="1" spc="200" dirty="0">
                <a:solidFill>
                  <a:schemeClr val="bg1"/>
                </a:solidFill>
                <a:latin typeface="黑体" panose="02010609060101010101" pitchFamily="49" charset="-122"/>
                <a:ea typeface="黑体" panose="02010609060101010101" pitchFamily="49" charset="-122"/>
              </a:rPr>
              <a:t>面向城市场景的低空无人机零样本视觉语言导航</a:t>
            </a:r>
            <a:endParaRPr lang="en-US" altLang="zh-CN" b="1" spc="200" dirty="0">
              <a:solidFill>
                <a:schemeClr val="bg1"/>
              </a:solidFill>
              <a:latin typeface="黑体" panose="02010609060101010101" pitchFamily="49" charset="-122"/>
              <a:ea typeface="黑体" panose="02010609060101010101" pitchFamily="49" charset="-122"/>
            </a:endParaRPr>
          </a:p>
        </p:txBody>
      </p:sp>
      <p:sp>
        <p:nvSpPr>
          <p:cNvPr id="21" name="文本框 20">
            <a:extLst>
              <a:ext uri="{FF2B5EF4-FFF2-40B4-BE49-F238E27FC236}">
                <a16:creationId xmlns:a16="http://schemas.microsoft.com/office/drawing/2014/main" id="{65DE8D11-5457-CDB3-0F1B-539A3D8B1C97}"/>
              </a:ext>
            </a:extLst>
          </p:cNvPr>
          <p:cNvSpPr txBox="1"/>
          <p:nvPr/>
        </p:nvSpPr>
        <p:spPr>
          <a:xfrm>
            <a:off x="1517872" y="5360655"/>
            <a:ext cx="9150129" cy="1015663"/>
          </a:xfrm>
          <a:prstGeom prst="rect">
            <a:avLst/>
          </a:prstGeom>
          <a:noFill/>
        </p:spPr>
        <p:txBody>
          <a:bodyPr wrap="square">
            <a:spAutoFit/>
          </a:bodyPr>
          <a:lstStyle/>
          <a:p>
            <a:pPr algn="ctr" fontAlgn="ctr">
              <a:lnSpc>
                <a:spcPct val="150000"/>
              </a:lnSpc>
            </a:pPr>
            <a:r>
              <a:rPr lang="zh-CN" altLang="en-US" sz="2000" b="1" dirty="0">
                <a:solidFill>
                  <a:srgbClr val="444444"/>
                </a:solidFill>
                <a:latin typeface="+mj-ea"/>
                <a:ea typeface="+mj-ea"/>
              </a:rPr>
              <a:t>哈尔滨工业大学（深圳）</a:t>
            </a:r>
            <a:r>
              <a:rPr lang="en-US" altLang="zh-CN" sz="2000" b="1" dirty="0">
                <a:solidFill>
                  <a:srgbClr val="444444"/>
                </a:solidFill>
                <a:latin typeface="+mj-ea"/>
                <a:ea typeface="+mj-ea"/>
              </a:rPr>
              <a:t>  </a:t>
            </a:r>
            <a:r>
              <a:rPr lang="zh-CN" altLang="en-US" sz="2000" b="1" dirty="0">
                <a:solidFill>
                  <a:srgbClr val="444444"/>
                </a:solidFill>
                <a:latin typeface="+mj-ea"/>
                <a:ea typeface="+mj-ea"/>
              </a:rPr>
              <a:t>空天科技学院</a:t>
            </a:r>
            <a:endParaRPr lang="en-US" altLang="zh-CN" sz="2000" b="1" dirty="0">
              <a:solidFill>
                <a:srgbClr val="444444"/>
              </a:solidFill>
              <a:latin typeface="+mj-ea"/>
              <a:ea typeface="+mj-ea"/>
            </a:endParaRPr>
          </a:p>
          <a:p>
            <a:pPr algn="ctr" fontAlgn="ctr">
              <a:lnSpc>
                <a:spcPct val="150000"/>
              </a:lnSpc>
            </a:pPr>
            <a:r>
              <a:rPr lang="zh-CN" altLang="en-US" sz="2000" b="1" dirty="0">
                <a:solidFill>
                  <a:srgbClr val="444444"/>
                </a:solidFill>
                <a:latin typeface="+mj-ea"/>
                <a:ea typeface="+mj-ea"/>
              </a:rPr>
              <a:t>卫星数据智能计算技术实验室</a:t>
            </a:r>
          </a:p>
        </p:txBody>
      </p:sp>
      <p:pic>
        <p:nvPicPr>
          <p:cNvPr id="23" name="图片 22">
            <a:extLst>
              <a:ext uri="{FF2B5EF4-FFF2-40B4-BE49-F238E27FC236}">
                <a16:creationId xmlns:a16="http://schemas.microsoft.com/office/drawing/2014/main" id="{EE6356A1-934B-4650-8D06-9C86CCBB8284}"/>
              </a:ext>
            </a:extLst>
          </p:cNvPr>
          <p:cNvPicPr>
            <a:picLocks noChangeAspect="1"/>
          </p:cNvPicPr>
          <p:nvPr/>
        </p:nvPicPr>
        <p:blipFill>
          <a:blip r:embed="rId4"/>
          <a:stretch>
            <a:fillRect/>
          </a:stretch>
        </p:blipFill>
        <p:spPr>
          <a:xfrm>
            <a:off x="71501" y="645677"/>
            <a:ext cx="3509025" cy="863724"/>
          </a:xfrm>
          <a:prstGeom prst="rect">
            <a:avLst/>
          </a:prstGeom>
        </p:spPr>
      </p:pic>
      <p:pic>
        <p:nvPicPr>
          <p:cNvPr id="6" name="图片 5">
            <a:extLst>
              <a:ext uri="{FF2B5EF4-FFF2-40B4-BE49-F238E27FC236}">
                <a16:creationId xmlns:a16="http://schemas.microsoft.com/office/drawing/2014/main" id="{5FE81C15-B40B-E3B6-49F3-7A8A10AF3E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67621" y="755320"/>
            <a:ext cx="935583" cy="815356"/>
          </a:xfrm>
          <a:prstGeom prst="rect">
            <a:avLst/>
          </a:prstGeom>
        </p:spPr>
      </p:pic>
      <p:sp>
        <p:nvSpPr>
          <p:cNvPr id="9" name="文本框 8">
            <a:extLst>
              <a:ext uri="{FF2B5EF4-FFF2-40B4-BE49-F238E27FC236}">
                <a16:creationId xmlns:a16="http://schemas.microsoft.com/office/drawing/2014/main" id="{9593C41F-F141-3541-EC37-CCA074358B65}"/>
              </a:ext>
            </a:extLst>
          </p:cNvPr>
          <p:cNvSpPr txBox="1"/>
          <p:nvPr/>
        </p:nvSpPr>
        <p:spPr>
          <a:xfrm>
            <a:off x="7684077" y="986742"/>
            <a:ext cx="3638122" cy="400110"/>
          </a:xfrm>
          <a:prstGeom prst="rect">
            <a:avLst/>
          </a:prstGeom>
          <a:noFill/>
        </p:spPr>
        <p:txBody>
          <a:bodyPr wrap="square">
            <a:spAutoFit/>
          </a:bodyPr>
          <a:lstStyle/>
          <a:p>
            <a:pPr algn="ctr"/>
            <a:r>
              <a:rPr lang="zh-CN" altLang="en-US" sz="2000" b="1" dirty="0"/>
              <a:t>卫星数据智能计算技术实验室</a:t>
            </a:r>
          </a:p>
        </p:txBody>
      </p:sp>
    </p:spTree>
    <p:extLst>
      <p:ext uri="{BB962C8B-B14F-4D97-AF65-F5344CB8AC3E}">
        <p14:creationId xmlns:p14="http://schemas.microsoft.com/office/powerpoint/2010/main" val="41429202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1B58AE4-E742-12B0-9B0B-4E1CBF894844}"/>
              </a:ext>
            </a:extLst>
          </p:cNvPr>
          <p:cNvSpPr/>
          <p:nvPr/>
        </p:nvSpPr>
        <p:spPr>
          <a:xfrm>
            <a:off x="1524001" y="175207"/>
            <a:ext cx="9143999" cy="584775"/>
          </a:xfrm>
          <a:prstGeom prst="rect">
            <a:avLst/>
          </a:prstGeom>
        </p:spPr>
        <p:txBody>
          <a:bodyPr wrap="square">
            <a:spAutoFit/>
          </a:bodyPr>
          <a:lstStyle/>
          <a:p>
            <a:pPr algn="ctr"/>
            <a:r>
              <a:rPr lang="zh-CN" altLang="en-US" sz="3200" b="1" dirty="0">
                <a:solidFill>
                  <a:srgbClr val="000000">
                    <a:lumMod val="85000"/>
                    <a:lumOff val="15000"/>
                  </a:srgbClr>
                </a:solidFill>
                <a:latin typeface="微软雅黑" pitchFamily="34" charset="-122"/>
                <a:ea typeface="微软雅黑" pitchFamily="34" charset="-122"/>
                <a:cs typeface="Times New Roman" panose="02020603050405020304" pitchFamily="18" charset="0"/>
              </a:rPr>
              <a:t>目     录</a:t>
            </a:r>
          </a:p>
        </p:txBody>
      </p:sp>
      <p:sp>
        <p:nvSpPr>
          <p:cNvPr id="5" name="任意多边形 17">
            <a:extLst>
              <a:ext uri="{FF2B5EF4-FFF2-40B4-BE49-F238E27FC236}">
                <a16:creationId xmlns:a16="http://schemas.microsoft.com/office/drawing/2014/main" id="{144C1845-8A53-EE57-9703-2DE28B3F811B}"/>
              </a:ext>
            </a:extLst>
          </p:cNvPr>
          <p:cNvSpPr/>
          <p:nvPr>
            <p:custDataLst>
              <p:tags r:id="rId1"/>
            </p:custDataLst>
          </p:nvPr>
        </p:nvSpPr>
        <p:spPr>
          <a:xfrm>
            <a:off x="4221442" y="2404344"/>
            <a:ext cx="4810073" cy="664865"/>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chemeClr val="bg1">
              <a:lumMod val="95000"/>
              <a:alpha val="89804"/>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a:lnSpc>
                <a:spcPct val="130000"/>
              </a:lnSpc>
              <a:defRPr/>
            </a:pPr>
            <a:r>
              <a:rPr lang="zh-CN" altLang="en-US" sz="2800" b="1" dirty="0">
                <a:latin typeface="黑体" panose="02010609060101010101" pitchFamily="49" charset="-122"/>
                <a:ea typeface="黑体" panose="02010609060101010101" pitchFamily="49" charset="-122"/>
              </a:rPr>
              <a:t>  研究背景与意义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6" name="任意多边形 18">
            <a:extLst>
              <a:ext uri="{FF2B5EF4-FFF2-40B4-BE49-F238E27FC236}">
                <a16:creationId xmlns:a16="http://schemas.microsoft.com/office/drawing/2014/main" id="{439703B5-0A6F-5755-AC65-3F9DBE83CE6C}"/>
              </a:ext>
            </a:extLst>
          </p:cNvPr>
          <p:cNvSpPr/>
          <p:nvPr>
            <p:custDataLst>
              <p:tags r:id="rId2"/>
            </p:custDataLst>
          </p:nvPr>
        </p:nvSpPr>
        <p:spPr>
          <a:xfrm>
            <a:off x="3218130" y="2376423"/>
            <a:ext cx="1229155" cy="725941"/>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204570"/>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600" dirty="0">
                <a:solidFill>
                  <a:srgbClr val="FFFFFF"/>
                </a:solidFill>
                <a:latin typeface="微软雅黑" panose="020B0503020204020204" pitchFamily="34" charset="-122"/>
                <a:ea typeface="微软雅黑" panose="020B0503020204020204" pitchFamily="34" charset="-122"/>
              </a:rPr>
              <a:t>1</a:t>
            </a:r>
            <a:endParaRPr lang="zh-CN" altLang="en-US" sz="3600" dirty="0">
              <a:solidFill>
                <a:srgbClr val="FFFFFF"/>
              </a:solidFill>
              <a:latin typeface="微软雅黑" panose="020B0503020204020204" pitchFamily="34" charset="-122"/>
              <a:ea typeface="微软雅黑" panose="020B0503020204020204" pitchFamily="34" charset="-122"/>
            </a:endParaRPr>
          </a:p>
        </p:txBody>
      </p:sp>
      <p:sp>
        <p:nvSpPr>
          <p:cNvPr id="9" name="任意多边形 22">
            <a:extLst>
              <a:ext uri="{FF2B5EF4-FFF2-40B4-BE49-F238E27FC236}">
                <a16:creationId xmlns:a16="http://schemas.microsoft.com/office/drawing/2014/main" id="{64502C42-4200-8793-B8C9-F47A0C71D87D}"/>
              </a:ext>
            </a:extLst>
          </p:cNvPr>
          <p:cNvSpPr/>
          <p:nvPr>
            <p:custDataLst>
              <p:tags r:id="rId3"/>
            </p:custDataLst>
          </p:nvPr>
        </p:nvSpPr>
        <p:spPr>
          <a:xfrm>
            <a:off x="4221442" y="3247753"/>
            <a:ext cx="4810073" cy="666610"/>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chemeClr val="bg1">
              <a:lumMod val="95000"/>
              <a:alpha val="89804"/>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a:lnSpc>
                <a:spcPct val="130000"/>
              </a:lnSpc>
            </a:pPr>
            <a:r>
              <a:rPr lang="zh-CN" altLang="en-US" sz="2800" b="1" dirty="0">
                <a:latin typeface="黑体" panose="02010609060101010101" pitchFamily="49" charset="-122"/>
                <a:ea typeface="黑体" panose="02010609060101010101" pitchFamily="49" charset="-122"/>
              </a:rPr>
              <a:t>  研究思路与内容</a:t>
            </a:r>
          </a:p>
        </p:txBody>
      </p:sp>
      <p:sp>
        <p:nvSpPr>
          <p:cNvPr id="10" name="任意多边形 23">
            <a:extLst>
              <a:ext uri="{FF2B5EF4-FFF2-40B4-BE49-F238E27FC236}">
                <a16:creationId xmlns:a16="http://schemas.microsoft.com/office/drawing/2014/main" id="{94B16F55-9837-DE9A-8F1F-B28B292AC316}"/>
              </a:ext>
            </a:extLst>
          </p:cNvPr>
          <p:cNvSpPr/>
          <p:nvPr>
            <p:custDataLst>
              <p:tags r:id="rId4"/>
            </p:custDataLst>
          </p:nvPr>
        </p:nvSpPr>
        <p:spPr>
          <a:xfrm>
            <a:off x="3218130" y="3221577"/>
            <a:ext cx="1229155" cy="724197"/>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204570"/>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600" dirty="0">
                <a:solidFill>
                  <a:srgbClr val="FFFFFF"/>
                </a:solidFill>
                <a:latin typeface="微软雅黑" panose="020B0503020204020204" pitchFamily="34" charset="-122"/>
                <a:ea typeface="微软雅黑" panose="020B0503020204020204" pitchFamily="34" charset="-122"/>
              </a:rPr>
              <a:t>2</a:t>
            </a:r>
            <a:endParaRPr lang="zh-CN" altLang="en-US" sz="3600" dirty="0">
              <a:solidFill>
                <a:srgbClr val="FFFFFF"/>
              </a:solidFill>
              <a:latin typeface="微软雅黑" panose="020B0503020204020204" pitchFamily="34" charset="-122"/>
              <a:ea typeface="微软雅黑" panose="020B0503020204020204" pitchFamily="34" charset="-122"/>
            </a:endParaRPr>
          </a:p>
        </p:txBody>
      </p:sp>
      <p:sp>
        <p:nvSpPr>
          <p:cNvPr id="11" name="任意多边形 24">
            <a:extLst>
              <a:ext uri="{FF2B5EF4-FFF2-40B4-BE49-F238E27FC236}">
                <a16:creationId xmlns:a16="http://schemas.microsoft.com/office/drawing/2014/main" id="{5138FE40-7002-E744-369F-71BF0DD4586E}"/>
              </a:ext>
            </a:extLst>
          </p:cNvPr>
          <p:cNvSpPr/>
          <p:nvPr>
            <p:custDataLst>
              <p:tags r:id="rId5"/>
            </p:custDataLst>
          </p:nvPr>
        </p:nvSpPr>
        <p:spPr>
          <a:xfrm>
            <a:off x="4221442" y="4102828"/>
            <a:ext cx="4810073" cy="666610"/>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chemeClr val="bg1">
              <a:lumMod val="95000"/>
              <a:alpha val="89804"/>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a:lnSpc>
                <a:spcPct val="130000"/>
              </a:lnSpc>
            </a:pPr>
            <a:r>
              <a:rPr lang="zh-CN" altLang="en-US" sz="2800" b="1" dirty="0">
                <a:latin typeface="黑体" panose="02010609060101010101" pitchFamily="49" charset="-122"/>
                <a:ea typeface="黑体" panose="02010609060101010101" pitchFamily="49" charset="-122"/>
              </a:rPr>
              <a:t>  实验结果与分析</a:t>
            </a:r>
          </a:p>
        </p:txBody>
      </p:sp>
      <p:sp>
        <p:nvSpPr>
          <p:cNvPr id="12" name="任意多边形 25">
            <a:extLst>
              <a:ext uri="{FF2B5EF4-FFF2-40B4-BE49-F238E27FC236}">
                <a16:creationId xmlns:a16="http://schemas.microsoft.com/office/drawing/2014/main" id="{262CF5D0-7092-E66A-7C52-5C27F9FB17A2}"/>
              </a:ext>
            </a:extLst>
          </p:cNvPr>
          <p:cNvSpPr/>
          <p:nvPr>
            <p:custDataLst>
              <p:tags r:id="rId6"/>
            </p:custDataLst>
          </p:nvPr>
        </p:nvSpPr>
        <p:spPr>
          <a:xfrm>
            <a:off x="3218130" y="4074906"/>
            <a:ext cx="1229155" cy="725941"/>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204570"/>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3600" dirty="0">
                <a:solidFill>
                  <a:srgbClr val="FFFFFF"/>
                </a:solidFill>
                <a:latin typeface="微软雅黑" panose="020B0503020204020204" pitchFamily="34" charset="-122"/>
                <a:ea typeface="微软雅黑" panose="020B0503020204020204" pitchFamily="34" charset="-122"/>
              </a:rPr>
              <a:t>3</a:t>
            </a:r>
            <a:endParaRPr lang="zh-CN" altLang="en-US" sz="3600"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9357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D4F3F-9942-E4B8-98C5-9F0A4104A102}"/>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DE0E0B27-0694-4BEA-A3A1-1FAFF7FC38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300" y="1656743"/>
            <a:ext cx="5456237" cy="2839713"/>
          </a:xfrm>
          <a:prstGeom prst="rect">
            <a:avLst/>
          </a:prstGeom>
        </p:spPr>
      </p:pic>
      <p:sp>
        <p:nvSpPr>
          <p:cNvPr id="6" name="文本框 5">
            <a:extLst>
              <a:ext uri="{FF2B5EF4-FFF2-40B4-BE49-F238E27FC236}">
                <a16:creationId xmlns:a16="http://schemas.microsoft.com/office/drawing/2014/main" id="{BFC51B37-B5E2-748D-6121-F4E878F381CE}"/>
              </a:ext>
            </a:extLst>
          </p:cNvPr>
          <p:cNvSpPr txBox="1"/>
          <p:nvPr/>
        </p:nvSpPr>
        <p:spPr>
          <a:xfrm>
            <a:off x="2244161" y="6112888"/>
            <a:ext cx="7703673" cy="369332"/>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b="1" dirty="0">
                <a:latin typeface="微软雅黑" panose="020B0503020204020204" pitchFamily="34" charset="-122"/>
                <a:ea typeface="微软雅黑" panose="020B0503020204020204" pitchFamily="34" charset="-122"/>
              </a:rPr>
              <a:t>传统无人机导航技术无法在</a:t>
            </a:r>
            <a:r>
              <a:rPr lang="en-US" altLang="zh-CN" b="1" dirty="0">
                <a:latin typeface="微软雅黑" panose="020B0503020204020204" pitchFamily="34" charset="-122"/>
                <a:ea typeface="微软雅黑" panose="020B0503020204020204" pitchFamily="34" charset="-122"/>
              </a:rPr>
              <a:t>GNSS</a:t>
            </a:r>
            <a:r>
              <a:rPr lang="zh-CN" altLang="en-US" b="1" dirty="0">
                <a:latin typeface="微软雅黑" panose="020B0503020204020204" pitchFamily="34" charset="-122"/>
                <a:ea typeface="微软雅黑" panose="020B0503020204020204" pitchFamily="34" charset="-122"/>
              </a:rPr>
              <a:t>信号衰退时实现可靠导航控制</a:t>
            </a:r>
          </a:p>
        </p:txBody>
      </p:sp>
      <p:sp>
        <p:nvSpPr>
          <p:cNvPr id="20" name="矩形 19">
            <a:extLst>
              <a:ext uri="{FF2B5EF4-FFF2-40B4-BE49-F238E27FC236}">
                <a16:creationId xmlns:a16="http://schemas.microsoft.com/office/drawing/2014/main" id="{03687C8C-6F56-840C-6EED-4AE603385E50}"/>
              </a:ext>
            </a:extLst>
          </p:cNvPr>
          <p:cNvSpPr/>
          <p:nvPr/>
        </p:nvSpPr>
        <p:spPr>
          <a:xfrm>
            <a:off x="368300" y="954902"/>
            <a:ext cx="11557000" cy="581057"/>
          </a:xfrm>
          <a:prstGeom prst="rect">
            <a:avLst/>
          </a:prstGeom>
        </p:spPr>
        <p:txBody>
          <a:bodyPr wrap="square">
            <a:spAutoFit/>
          </a:bodyPr>
          <a:lstStyle/>
          <a:p>
            <a:pPr marL="342900" indent="-342900" fontAlgn="base">
              <a:lnSpc>
                <a:spcPct val="150000"/>
              </a:lnSpc>
              <a:spcBef>
                <a:spcPct val="20000"/>
              </a:spcBef>
              <a:spcAft>
                <a:spcPct val="0"/>
              </a:spcAft>
              <a:buClr>
                <a:srgbClr val="002060"/>
              </a:buClr>
              <a:buFont typeface="Wingdings" panose="05000000000000000000" pitchFamily="2" charset="2"/>
              <a:buChar char="Ø"/>
            </a:pPr>
            <a:endPar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endParaRPr>
          </a:p>
        </p:txBody>
      </p:sp>
      <p:sp>
        <p:nvSpPr>
          <p:cNvPr id="3" name="文本框 2">
            <a:extLst>
              <a:ext uri="{FF2B5EF4-FFF2-40B4-BE49-F238E27FC236}">
                <a16:creationId xmlns:a16="http://schemas.microsoft.com/office/drawing/2014/main" id="{773BA106-C5C9-4CF5-EEDD-BF58B395BF98}"/>
              </a:ext>
            </a:extLst>
          </p:cNvPr>
          <p:cNvSpPr txBox="1"/>
          <p:nvPr/>
        </p:nvSpPr>
        <p:spPr>
          <a:xfrm>
            <a:off x="368300" y="38101"/>
            <a:ext cx="5913437" cy="715581"/>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一、研究背景与意义</a:t>
            </a:r>
            <a:endParaRPr lang="en-US" altLang="zh-CN" dirty="0"/>
          </a:p>
        </p:txBody>
      </p:sp>
      <p:sp>
        <p:nvSpPr>
          <p:cNvPr id="2" name="文本框 1">
            <a:extLst>
              <a:ext uri="{FF2B5EF4-FFF2-40B4-BE49-F238E27FC236}">
                <a16:creationId xmlns:a16="http://schemas.microsoft.com/office/drawing/2014/main" id="{80E35AFE-ABD4-2DC1-3EC2-F10015D26A91}"/>
              </a:ext>
            </a:extLst>
          </p:cNvPr>
          <p:cNvSpPr txBox="1"/>
          <p:nvPr/>
        </p:nvSpPr>
        <p:spPr>
          <a:xfrm>
            <a:off x="224761" y="4541274"/>
            <a:ext cx="5871237" cy="1526796"/>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zh-CN" altLang="en-US" sz="1600" b="1" kern="100" dirty="0">
                <a:latin typeface="+mn-ea"/>
                <a:ea typeface="微软雅黑" panose="020B0503020204020204" pitchFamily="34" charset="-122"/>
                <a:cs typeface="Times New Roman" panose="02020603050405020304" pitchFamily="18" charset="0"/>
                <a:sym typeface="+mn-ea"/>
              </a:rPr>
              <a:t>传统无人机导航技术依赖</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GNSS/</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惯导组合导航技术</a:t>
            </a:r>
            <a:r>
              <a:rPr lang="zh-CN" altLang="en-US" sz="1600" b="1" kern="100" dirty="0">
                <a:latin typeface="+mn-ea"/>
                <a:ea typeface="微软雅黑" panose="020B0503020204020204" pitchFamily="34" charset="-122"/>
                <a:cs typeface="Times New Roman" panose="02020603050405020304" pitchFamily="18" charset="0"/>
                <a:sym typeface="+mn-ea"/>
              </a:rPr>
              <a:t>和预设航线的策略，在较为开阔的环境下可实现连续、稳定、低延迟的导航控制，但非常</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依赖稳定连续的</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GNSS</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信号</a:t>
            </a:r>
            <a:r>
              <a:rPr lang="zh-CN" altLang="en-US" sz="1600" b="1" kern="100" dirty="0">
                <a:latin typeface="+mn-ea"/>
                <a:ea typeface="微软雅黑" panose="020B0503020204020204" pitchFamily="34" charset="-122"/>
                <a:cs typeface="Times New Roman" panose="02020603050405020304" pitchFamily="18" charset="0"/>
                <a:sym typeface="+mn-ea"/>
              </a:rPr>
              <a:t>。</a:t>
            </a:r>
            <a:endParaRPr lang="en-US" altLang="zh-CN" sz="1600" b="1" kern="100" dirty="0">
              <a:latin typeface="+mn-ea"/>
              <a:ea typeface="微软雅黑" panose="020B0503020204020204" pitchFamily="34" charset="-122"/>
              <a:cs typeface="Times New Roman" panose="02020603050405020304" pitchFamily="18" charset="0"/>
              <a:sym typeface="+mn-ea"/>
            </a:endParaRPr>
          </a:p>
        </p:txBody>
      </p:sp>
      <p:sp>
        <p:nvSpPr>
          <p:cNvPr id="12" name="矩形 11">
            <a:extLst>
              <a:ext uri="{FF2B5EF4-FFF2-40B4-BE49-F238E27FC236}">
                <a16:creationId xmlns:a16="http://schemas.microsoft.com/office/drawing/2014/main" id="{A9283502-1DD8-41B7-B187-905237BA6658}"/>
              </a:ext>
            </a:extLst>
          </p:cNvPr>
          <p:cNvSpPr/>
          <p:nvPr/>
        </p:nvSpPr>
        <p:spPr>
          <a:xfrm>
            <a:off x="503237" y="1059609"/>
            <a:ext cx="11557000" cy="581057"/>
          </a:xfrm>
          <a:prstGeom prst="rect">
            <a:avLst/>
          </a:prstGeom>
        </p:spPr>
        <p:txBody>
          <a:bodyPr wrap="square">
            <a:spAutoFit/>
          </a:bodyPr>
          <a:lstStyle/>
          <a:p>
            <a:pPr marL="342900" indent="-342900" fontAlgn="base">
              <a:lnSpc>
                <a:spcPct val="150000"/>
              </a:lnSpc>
              <a:spcBef>
                <a:spcPct val="20000"/>
              </a:spcBef>
              <a:spcAft>
                <a:spcPct val="0"/>
              </a:spcAft>
              <a:buClr>
                <a:srgbClr val="002060"/>
              </a:buClr>
              <a:buFont typeface="Wingdings" panose="05000000000000000000" pitchFamily="2" charset="2"/>
              <a:buChar char="Ø"/>
            </a:pP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现有技术的概况</a:t>
            </a:r>
          </a:p>
        </p:txBody>
      </p:sp>
      <p:pic>
        <p:nvPicPr>
          <p:cNvPr id="13" name="图片 12">
            <a:extLst>
              <a:ext uri="{FF2B5EF4-FFF2-40B4-BE49-F238E27FC236}">
                <a16:creationId xmlns:a16="http://schemas.microsoft.com/office/drawing/2014/main" id="{DA70CBA8-9482-4A40-8940-61EF5A6DDD9B}"/>
              </a:ext>
            </a:extLst>
          </p:cNvPr>
          <p:cNvPicPr>
            <a:picLocks noChangeAspect="1"/>
          </p:cNvPicPr>
          <p:nvPr/>
        </p:nvPicPr>
        <p:blipFill>
          <a:blip r:embed="rId3"/>
          <a:stretch>
            <a:fillRect/>
          </a:stretch>
        </p:blipFill>
        <p:spPr>
          <a:xfrm>
            <a:off x="6367465" y="1350137"/>
            <a:ext cx="4855633" cy="2962835"/>
          </a:xfrm>
          <a:prstGeom prst="rect">
            <a:avLst/>
          </a:prstGeom>
        </p:spPr>
      </p:pic>
      <p:sp>
        <p:nvSpPr>
          <p:cNvPr id="16" name="文本框 15">
            <a:extLst>
              <a:ext uri="{FF2B5EF4-FFF2-40B4-BE49-F238E27FC236}">
                <a16:creationId xmlns:a16="http://schemas.microsoft.com/office/drawing/2014/main" id="{A00A0A7F-B537-43F5-9411-04CE34180CCD}"/>
              </a:ext>
            </a:extLst>
          </p:cNvPr>
          <p:cNvSpPr txBox="1"/>
          <p:nvPr/>
        </p:nvSpPr>
        <p:spPr>
          <a:xfrm>
            <a:off x="6103934" y="4509333"/>
            <a:ext cx="5871237" cy="1526796"/>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zh-CN" altLang="en-US" sz="1600" b="1" kern="100" dirty="0">
                <a:latin typeface="+mn-ea"/>
                <a:ea typeface="微软雅黑" panose="020B0503020204020204" pitchFamily="34" charset="-122"/>
                <a:cs typeface="Times New Roman" panose="02020603050405020304" pitchFamily="18" charset="0"/>
                <a:sym typeface="+mn-ea"/>
              </a:rPr>
              <a:t>当前多数方案尝试引入</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视觉语言大模型</a:t>
            </a:r>
            <a:r>
              <a:rPr lang="zh-CN" altLang="en-US" sz="1600" b="1" kern="100" dirty="0">
                <a:latin typeface="+mn-ea"/>
                <a:ea typeface="微软雅黑" panose="020B0503020204020204" pitchFamily="34" charset="-122"/>
                <a:cs typeface="Times New Roman" panose="02020603050405020304" pitchFamily="18" charset="0"/>
                <a:sym typeface="+mn-ea"/>
              </a:rPr>
              <a:t>（</a:t>
            </a:r>
            <a:r>
              <a:rPr lang="en-US" altLang="zh-CN" sz="1600" b="1" kern="100" dirty="0">
                <a:latin typeface="+mn-ea"/>
                <a:ea typeface="微软雅黑" panose="020B0503020204020204" pitchFamily="34" charset="-122"/>
                <a:cs typeface="Times New Roman" panose="02020603050405020304" pitchFamily="18" charset="0"/>
                <a:sym typeface="+mn-ea"/>
              </a:rPr>
              <a:t>VLM</a:t>
            </a:r>
            <a:r>
              <a:rPr lang="zh-CN" altLang="en-US" sz="1600" b="1" kern="100" dirty="0">
                <a:latin typeface="+mn-ea"/>
                <a:ea typeface="微软雅黑" panose="020B0503020204020204" pitchFamily="34" charset="-122"/>
                <a:cs typeface="Times New Roman" panose="02020603050405020304" pitchFamily="18" charset="0"/>
                <a:sym typeface="+mn-ea"/>
              </a:rPr>
              <a:t>），以替代</a:t>
            </a:r>
            <a:r>
              <a:rPr lang="en-US" altLang="zh-CN" sz="1600" b="1" kern="100" dirty="0">
                <a:latin typeface="+mn-ea"/>
                <a:ea typeface="微软雅黑" panose="020B0503020204020204" pitchFamily="34" charset="-122"/>
                <a:cs typeface="Times New Roman" panose="02020603050405020304" pitchFamily="18" charset="0"/>
                <a:sym typeface="+mn-ea"/>
              </a:rPr>
              <a:t>GNSS</a:t>
            </a:r>
            <a:r>
              <a:rPr lang="zh-CN" altLang="en-US" sz="1600" b="1" kern="100" dirty="0">
                <a:latin typeface="+mn-ea"/>
                <a:ea typeface="微软雅黑" panose="020B0503020204020204" pitchFamily="34" charset="-122"/>
                <a:cs typeface="Times New Roman" panose="02020603050405020304" pitchFamily="18" charset="0"/>
                <a:sym typeface="+mn-ea"/>
              </a:rPr>
              <a:t>完成安全、自主的导航任务。这一场景下的导航目标是由</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自然语言</a:t>
            </a:r>
            <a:r>
              <a:rPr lang="zh-CN" altLang="en-US" sz="1600" b="1" kern="100" dirty="0">
                <a:latin typeface="+mn-ea"/>
                <a:ea typeface="微软雅黑" panose="020B0503020204020204" pitchFamily="34" charset="-122"/>
                <a:cs typeface="Times New Roman" panose="02020603050405020304" pitchFamily="18" charset="0"/>
                <a:sym typeface="+mn-ea"/>
              </a:rPr>
              <a:t>给出，例如“前方橘白色条纹遮阳伞附近”、“河对岸的餐厅门口附近”或“前方艺术雕塑附近”。</a:t>
            </a:r>
          </a:p>
        </p:txBody>
      </p:sp>
    </p:spTree>
    <p:extLst>
      <p:ext uri="{BB962C8B-B14F-4D97-AF65-F5344CB8AC3E}">
        <p14:creationId xmlns:p14="http://schemas.microsoft.com/office/powerpoint/2010/main" val="1667110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D4F3F-9942-E4B8-98C5-9F0A4104A102}"/>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BFC51B37-B5E2-748D-6121-F4E878F381CE}"/>
              </a:ext>
            </a:extLst>
          </p:cNvPr>
          <p:cNvSpPr txBox="1"/>
          <p:nvPr/>
        </p:nvSpPr>
        <p:spPr>
          <a:xfrm>
            <a:off x="2220430" y="6315986"/>
            <a:ext cx="7621265" cy="369332"/>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b="1" dirty="0">
                <a:latin typeface="微软雅黑" panose="020B0503020204020204" pitchFamily="34" charset="-122"/>
                <a:ea typeface="微软雅黑" panose="020B0503020204020204" pitchFamily="34" charset="-122"/>
              </a:rPr>
              <a:t>‘语义过载’导致幻觉，用于无人机导航的多模态大模型需要幻觉抑制</a:t>
            </a:r>
          </a:p>
        </p:txBody>
      </p:sp>
      <p:sp>
        <p:nvSpPr>
          <p:cNvPr id="20" name="矩形 19">
            <a:extLst>
              <a:ext uri="{FF2B5EF4-FFF2-40B4-BE49-F238E27FC236}">
                <a16:creationId xmlns:a16="http://schemas.microsoft.com/office/drawing/2014/main" id="{03687C8C-6F56-840C-6EED-4AE603385E50}"/>
              </a:ext>
            </a:extLst>
          </p:cNvPr>
          <p:cNvSpPr/>
          <p:nvPr/>
        </p:nvSpPr>
        <p:spPr>
          <a:xfrm>
            <a:off x="317500" y="753682"/>
            <a:ext cx="11557000" cy="581057"/>
          </a:xfrm>
          <a:prstGeom prst="rect">
            <a:avLst/>
          </a:prstGeom>
        </p:spPr>
        <p:txBody>
          <a:bodyPr wrap="square">
            <a:spAutoFit/>
          </a:bodyPr>
          <a:lstStyle/>
          <a:p>
            <a:pPr marL="342900" indent="-342900" fontAlgn="base">
              <a:lnSpc>
                <a:spcPct val="150000"/>
              </a:lnSpc>
              <a:spcBef>
                <a:spcPct val="20000"/>
              </a:spcBef>
              <a:spcAft>
                <a:spcPct val="0"/>
              </a:spcAft>
              <a:buClr>
                <a:srgbClr val="002060"/>
              </a:buClr>
              <a:buFont typeface="Wingdings" panose="05000000000000000000" pitchFamily="2" charset="2"/>
              <a:buChar char="Ø"/>
            </a:pP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多模态大模型的幻觉</a:t>
            </a:r>
          </a:p>
        </p:txBody>
      </p:sp>
      <p:sp>
        <p:nvSpPr>
          <p:cNvPr id="3" name="文本框 2">
            <a:extLst>
              <a:ext uri="{FF2B5EF4-FFF2-40B4-BE49-F238E27FC236}">
                <a16:creationId xmlns:a16="http://schemas.microsoft.com/office/drawing/2014/main" id="{773BA106-C5C9-4CF5-EEDD-BF58B395BF98}"/>
              </a:ext>
            </a:extLst>
          </p:cNvPr>
          <p:cNvSpPr txBox="1"/>
          <p:nvPr/>
        </p:nvSpPr>
        <p:spPr>
          <a:xfrm>
            <a:off x="368300" y="38101"/>
            <a:ext cx="5913437" cy="715581"/>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一、研究背景与意义</a:t>
            </a:r>
            <a:endParaRPr lang="en-US" altLang="zh-CN" dirty="0"/>
          </a:p>
        </p:txBody>
      </p:sp>
      <p:sp>
        <p:nvSpPr>
          <p:cNvPr id="2" name="文本框 1">
            <a:extLst>
              <a:ext uri="{FF2B5EF4-FFF2-40B4-BE49-F238E27FC236}">
                <a16:creationId xmlns:a16="http://schemas.microsoft.com/office/drawing/2014/main" id="{80E35AFE-ABD4-2DC1-3EC2-F10015D26A91}"/>
              </a:ext>
            </a:extLst>
          </p:cNvPr>
          <p:cNvSpPr txBox="1"/>
          <p:nvPr/>
        </p:nvSpPr>
        <p:spPr>
          <a:xfrm>
            <a:off x="985092" y="4797455"/>
            <a:ext cx="10154378" cy="1306863"/>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zh-CN" altLang="en-US" b="1" kern="100" dirty="0">
                <a:latin typeface="+mn-ea"/>
                <a:ea typeface="微软雅黑" panose="020B0503020204020204" pitchFamily="34" charset="-122"/>
                <a:cs typeface="Times New Roman" panose="02020603050405020304" pitchFamily="18" charset="0"/>
                <a:sym typeface="+mn-ea"/>
              </a:rPr>
              <a:t>在低空城市环境中，画面包含建筑、树木、道路、遮阳伞等</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高密度视觉干扰</a:t>
            </a:r>
            <a:r>
              <a:rPr lang="zh-CN" altLang="en-US" b="1" kern="100" dirty="0">
                <a:latin typeface="+mn-ea"/>
                <a:ea typeface="微软雅黑" panose="020B0503020204020204" pitchFamily="34" charset="-122"/>
                <a:cs typeface="Times New Roman" panose="02020603050405020304" pitchFamily="18" charset="0"/>
                <a:sym typeface="+mn-ea"/>
              </a:rPr>
              <a:t>，而导航目标通常只占一部分像素区域。大模型由于缺乏外部先验引导，</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注意力容易被任务无关的显著区域分散</a:t>
            </a:r>
            <a:r>
              <a:rPr lang="zh-CN" altLang="en-US" b="1" kern="100" dirty="0">
                <a:latin typeface="+mn-ea"/>
                <a:ea typeface="微软雅黑" panose="020B0503020204020204" pitchFamily="34" charset="-122"/>
                <a:cs typeface="Times New Roman" panose="02020603050405020304" pitchFamily="18" charset="0"/>
                <a:sym typeface="+mn-ea"/>
              </a:rPr>
              <a:t>，导致输出的方向决策出现</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严重抖动</a:t>
            </a:r>
            <a:r>
              <a:rPr lang="zh-CN" altLang="en-US" b="1" kern="100" dirty="0">
                <a:latin typeface="+mn-ea"/>
                <a:ea typeface="微软雅黑" panose="020B0503020204020204" pitchFamily="34" charset="-122"/>
                <a:cs typeface="Times New Roman" panose="02020603050405020304" pitchFamily="18" charset="0"/>
                <a:sym typeface="+mn-ea"/>
              </a:rPr>
              <a:t>、</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循环绕飞</a:t>
            </a:r>
            <a:r>
              <a:rPr lang="zh-CN" altLang="en-US" b="1" kern="100" dirty="0">
                <a:latin typeface="+mn-ea"/>
                <a:ea typeface="微软雅黑" panose="020B0503020204020204" pitchFamily="34" charset="-122"/>
                <a:cs typeface="Times New Roman" panose="02020603050405020304" pitchFamily="18" charset="0"/>
                <a:sym typeface="+mn-ea"/>
              </a:rPr>
              <a:t>或</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早停</a:t>
            </a:r>
            <a:r>
              <a:rPr lang="zh-CN" altLang="en-US" b="1" kern="100" dirty="0">
                <a:latin typeface="+mn-ea"/>
                <a:ea typeface="微软雅黑" panose="020B0503020204020204" pitchFamily="34" charset="-122"/>
                <a:cs typeface="Times New Roman" panose="02020603050405020304" pitchFamily="18" charset="0"/>
                <a:sym typeface="+mn-ea"/>
              </a:rPr>
              <a:t>等严重的</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“幻觉”行为</a:t>
            </a:r>
            <a:r>
              <a:rPr lang="zh-CN" altLang="en-US" b="1" kern="100" dirty="0">
                <a:latin typeface="+mn-ea"/>
                <a:ea typeface="微软雅黑" panose="020B0503020204020204" pitchFamily="34" charset="-122"/>
                <a:cs typeface="Times New Roman" panose="02020603050405020304" pitchFamily="18" charset="0"/>
                <a:sym typeface="+mn-ea"/>
              </a:rPr>
              <a:t>。</a:t>
            </a:r>
          </a:p>
        </p:txBody>
      </p:sp>
      <p:pic>
        <p:nvPicPr>
          <p:cNvPr id="9" name="图片 8">
            <a:extLst>
              <a:ext uri="{FF2B5EF4-FFF2-40B4-BE49-F238E27FC236}">
                <a16:creationId xmlns:a16="http://schemas.microsoft.com/office/drawing/2014/main" id="{5F64B2E0-136D-4903-99EB-A814371F1A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7887" y="1684321"/>
            <a:ext cx="3687616" cy="2763552"/>
          </a:xfrm>
          <a:prstGeom prst="rect">
            <a:avLst/>
          </a:prstGeom>
        </p:spPr>
      </p:pic>
      <p:pic>
        <p:nvPicPr>
          <p:cNvPr id="5" name="图片 4">
            <a:extLst>
              <a:ext uri="{FF2B5EF4-FFF2-40B4-BE49-F238E27FC236}">
                <a16:creationId xmlns:a16="http://schemas.microsoft.com/office/drawing/2014/main" id="{9AC247E2-D252-41EC-BF2F-BB60332B9D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497" y="1334739"/>
            <a:ext cx="7113856" cy="3523250"/>
          </a:xfrm>
          <a:prstGeom prst="rect">
            <a:avLst/>
          </a:prstGeom>
        </p:spPr>
      </p:pic>
    </p:spTree>
    <p:extLst>
      <p:ext uri="{BB962C8B-B14F-4D97-AF65-F5344CB8AC3E}">
        <p14:creationId xmlns:p14="http://schemas.microsoft.com/office/powerpoint/2010/main" val="2447299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4F0EB57-D5DC-3B8B-2438-52331101676A}"/>
              </a:ext>
            </a:extLst>
          </p:cNvPr>
          <p:cNvSpPr txBox="1"/>
          <p:nvPr/>
        </p:nvSpPr>
        <p:spPr>
          <a:xfrm>
            <a:off x="368300" y="38101"/>
            <a:ext cx="5913437" cy="743986"/>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二、研究思路与内容</a:t>
            </a:r>
            <a:endParaRPr lang="en-US" altLang="zh-CN" dirty="0"/>
          </a:p>
        </p:txBody>
      </p:sp>
      <p:sp>
        <p:nvSpPr>
          <p:cNvPr id="3" name="矩形 2">
            <a:extLst>
              <a:ext uri="{FF2B5EF4-FFF2-40B4-BE49-F238E27FC236}">
                <a16:creationId xmlns:a16="http://schemas.microsoft.com/office/drawing/2014/main" id="{56C075E2-464A-8479-BC0E-43339C87DD44}"/>
              </a:ext>
            </a:extLst>
          </p:cNvPr>
          <p:cNvSpPr/>
          <p:nvPr/>
        </p:nvSpPr>
        <p:spPr>
          <a:xfrm>
            <a:off x="274864" y="943830"/>
            <a:ext cx="11642271" cy="581057"/>
          </a:xfrm>
          <a:prstGeom prst="rect">
            <a:avLst/>
          </a:prstGeom>
        </p:spPr>
        <p:txBody>
          <a:bodyPr wrap="square">
            <a:spAutoFit/>
          </a:bodyPr>
          <a:lstStyle/>
          <a:p>
            <a:pPr marL="342900" indent="-342900" fontAlgn="base">
              <a:lnSpc>
                <a:spcPct val="150000"/>
              </a:lnSpc>
              <a:spcBef>
                <a:spcPct val="20000"/>
              </a:spcBef>
              <a:spcAft>
                <a:spcPct val="0"/>
              </a:spcAft>
              <a:buClr>
                <a:srgbClr val="002060"/>
              </a:buClr>
              <a:buFont typeface="Wingdings" panose="05000000000000000000" pitchFamily="2" charset="2"/>
              <a:buChar char="Ø"/>
            </a:pPr>
            <a:r>
              <a:rPr lang="en-US" altLang="zh-CN" sz="2400" b="1" dirty="0">
                <a:solidFill>
                  <a:srgbClr val="006282"/>
                </a:solidFill>
                <a:latin typeface="微软雅黑" panose="020B0503020204020204" pitchFamily="34" charset="-122"/>
                <a:ea typeface="微软雅黑" panose="020B0503020204020204" pitchFamily="34" charset="-122"/>
                <a:cs typeface="Times New Roman" pitchFamily="18" charset="0"/>
              </a:rPr>
              <a:t>CLIQ-Nav——</a:t>
            </a: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整体架构</a:t>
            </a:r>
          </a:p>
        </p:txBody>
      </p:sp>
      <p:sp>
        <p:nvSpPr>
          <p:cNvPr id="8" name="文本框 7">
            <a:extLst>
              <a:ext uri="{FF2B5EF4-FFF2-40B4-BE49-F238E27FC236}">
                <a16:creationId xmlns:a16="http://schemas.microsoft.com/office/drawing/2014/main" id="{548C13AE-EE9B-5F50-9385-06F5B04F02E6}"/>
              </a:ext>
            </a:extLst>
          </p:cNvPr>
          <p:cNvSpPr txBox="1"/>
          <p:nvPr/>
        </p:nvSpPr>
        <p:spPr>
          <a:xfrm>
            <a:off x="7183334" y="1255086"/>
            <a:ext cx="4683978" cy="3474628"/>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en-US" altLang="zh-CN" sz="1600" b="1" kern="100" dirty="0">
                <a:latin typeface="+mn-ea"/>
                <a:ea typeface="微软雅黑" panose="020B0503020204020204" pitchFamily="34" charset="-122"/>
                <a:cs typeface="Times New Roman" panose="02020603050405020304" pitchFamily="18" charset="0"/>
                <a:sym typeface="+mn-ea"/>
              </a:rPr>
              <a:t>1</a:t>
            </a:r>
            <a:r>
              <a:rPr lang="zh-CN" altLang="en-US" sz="1600" b="1" kern="100" dirty="0">
                <a:latin typeface="+mn-ea"/>
                <a:ea typeface="微软雅黑" panose="020B0503020204020204" pitchFamily="34" charset="-122"/>
                <a:cs typeface="Times New Roman" panose="02020603050405020304" pitchFamily="18" charset="0"/>
                <a:sym typeface="+mn-ea"/>
              </a:rPr>
              <a:t>、城市低空</a:t>
            </a:r>
            <a:r>
              <a:rPr lang="en-US" altLang="zh-CN" sz="1600" b="1" kern="100" dirty="0">
                <a:latin typeface="+mn-ea"/>
                <a:ea typeface="微软雅黑" panose="020B0503020204020204" pitchFamily="34" charset="-122"/>
                <a:cs typeface="Times New Roman" panose="02020603050405020304" pitchFamily="18" charset="0"/>
                <a:sym typeface="+mn-ea"/>
              </a:rPr>
              <a:t>GNSS</a:t>
            </a:r>
            <a:r>
              <a:rPr lang="zh-CN" altLang="en-US" sz="1600" b="1" kern="100" dirty="0">
                <a:latin typeface="+mn-ea"/>
                <a:ea typeface="微软雅黑" panose="020B0503020204020204" pitchFamily="34" charset="-122"/>
                <a:cs typeface="Times New Roman" panose="02020603050405020304" pitchFamily="18" charset="0"/>
                <a:sym typeface="+mn-ea"/>
              </a:rPr>
              <a:t>衰退下</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基于历史航迹的加权航向预测</a:t>
            </a:r>
            <a:r>
              <a:rPr lang="zh-CN" altLang="en-US" sz="1600" b="1" kern="100" dirty="0">
                <a:latin typeface="+mn-ea"/>
                <a:ea typeface="微软雅黑" panose="020B0503020204020204" pitchFamily="34" charset="-122"/>
                <a:cs typeface="Times New Roman" panose="02020603050405020304" pitchFamily="18" charset="0"/>
                <a:sym typeface="+mn-ea"/>
              </a:rPr>
              <a:t>，解决无人机在</a:t>
            </a:r>
            <a:r>
              <a:rPr lang="en-US" altLang="zh-CN" sz="1600" b="1" kern="100" dirty="0">
                <a:latin typeface="+mn-ea"/>
                <a:ea typeface="微软雅黑" panose="020B0503020204020204" pitchFamily="34" charset="-122"/>
                <a:cs typeface="Times New Roman" panose="02020603050405020304" pitchFamily="18" charset="0"/>
                <a:sym typeface="+mn-ea"/>
              </a:rPr>
              <a:t>GNSS</a:t>
            </a:r>
            <a:r>
              <a:rPr lang="zh-CN" altLang="en-US" sz="1600" b="1" kern="100" dirty="0">
                <a:latin typeface="+mn-ea"/>
                <a:ea typeface="微软雅黑" panose="020B0503020204020204" pitchFamily="34" charset="-122"/>
                <a:cs typeface="Times New Roman" panose="02020603050405020304" pitchFamily="18" charset="0"/>
                <a:sym typeface="+mn-ea"/>
              </a:rPr>
              <a:t>信号丢失后丧失绝对定位参考、无法判断目标方位的问题；</a:t>
            </a:r>
            <a:endParaRPr lang="en-US" altLang="zh-CN" sz="1600" b="1" kern="100" dirty="0">
              <a:latin typeface="+mn-ea"/>
              <a:ea typeface="微软雅黑" panose="020B0503020204020204" pitchFamily="34" charset="-122"/>
              <a:cs typeface="Times New Roman" panose="02020603050405020304" pitchFamily="18" charset="0"/>
              <a:sym typeface="+mn-ea"/>
            </a:endParaRPr>
          </a:p>
          <a:p>
            <a:pPr marL="285750" indent="-285750" algn="just">
              <a:lnSpc>
                <a:spcPct val="150000"/>
              </a:lnSpc>
              <a:buFont typeface="Wingdings" panose="05000000000000000000" charset="0"/>
              <a:buChar char="p"/>
            </a:pPr>
            <a:endParaRPr lang="en-US" altLang="zh-CN" sz="1600" b="1" kern="100" dirty="0">
              <a:latin typeface="+mn-ea"/>
              <a:ea typeface="微软雅黑" panose="020B0503020204020204" pitchFamily="34" charset="-122"/>
              <a:cs typeface="Times New Roman" panose="02020603050405020304" pitchFamily="18" charset="0"/>
              <a:sym typeface="+mn-ea"/>
            </a:endParaRPr>
          </a:p>
          <a:p>
            <a:pPr marL="285750" indent="-285750" algn="just">
              <a:lnSpc>
                <a:spcPct val="150000"/>
              </a:lnSpc>
              <a:buFont typeface="Wingdings" panose="05000000000000000000" charset="0"/>
              <a:buChar char="p"/>
            </a:pPr>
            <a:r>
              <a:rPr lang="en-US" altLang="zh-CN" sz="1600" b="1" kern="100" dirty="0">
                <a:latin typeface="+mn-ea"/>
                <a:ea typeface="微软雅黑" panose="020B0503020204020204" pitchFamily="34" charset="-122"/>
                <a:cs typeface="Times New Roman" panose="02020603050405020304" pitchFamily="18" charset="0"/>
                <a:sym typeface="+mn-ea"/>
              </a:rPr>
              <a:t>2</a:t>
            </a:r>
            <a:r>
              <a:rPr lang="zh-CN" altLang="en-US" sz="1600" b="1" kern="100" dirty="0">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基于</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CLIP</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的语义区域提示与大模型幻觉抑制</a:t>
            </a:r>
            <a:r>
              <a:rPr lang="zh-CN" altLang="en-US" sz="1600" b="1" kern="100" dirty="0">
                <a:latin typeface="+mn-ea"/>
                <a:ea typeface="微软雅黑" panose="020B0503020204020204" pitchFamily="34" charset="-122"/>
                <a:cs typeface="Times New Roman" panose="02020603050405020304" pitchFamily="18" charset="0"/>
                <a:sym typeface="+mn-ea"/>
              </a:rPr>
              <a:t>，解决多模态大模型在整图端到端决策时因</a:t>
            </a:r>
            <a:r>
              <a:rPr lang="en-US" altLang="zh-CN" sz="1600" b="1" kern="100" dirty="0">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语义过载</a:t>
            </a:r>
            <a:r>
              <a:rPr lang="en-US" altLang="zh-CN" sz="1600" b="1" kern="100" dirty="0">
                <a:latin typeface="+mn-ea"/>
                <a:ea typeface="微软雅黑" panose="020B0503020204020204" pitchFamily="34" charset="-122"/>
                <a:cs typeface="Times New Roman" panose="02020603050405020304" pitchFamily="18" charset="0"/>
                <a:sym typeface="+mn-ea"/>
              </a:rPr>
              <a:t>'</a:t>
            </a:r>
            <a:r>
              <a:rPr lang="zh-CN" altLang="en-US" sz="1600" b="1" kern="100" dirty="0">
                <a:latin typeface="+mn-ea"/>
                <a:ea typeface="微软雅黑" panose="020B0503020204020204" pitchFamily="34" charset="-122"/>
                <a:cs typeface="Times New Roman" panose="02020603050405020304" pitchFamily="18" charset="0"/>
                <a:sym typeface="+mn-ea"/>
              </a:rPr>
              <a:t>产生</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方向误判</a:t>
            </a:r>
            <a:r>
              <a:rPr lang="zh-CN" altLang="en-US" sz="1600" b="1" kern="100" dirty="0">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循环绕飞</a:t>
            </a:r>
            <a:r>
              <a:rPr lang="zh-CN" altLang="en-US" sz="1600" b="1" kern="100" dirty="0">
                <a:latin typeface="+mn-ea"/>
                <a:ea typeface="微软雅黑" panose="020B0503020204020204" pitchFamily="34" charset="-122"/>
                <a:cs typeface="Times New Roman" panose="02020603050405020304" pitchFamily="18" charset="0"/>
                <a:sym typeface="+mn-ea"/>
              </a:rPr>
              <a:t>等幻觉行为的问题；</a:t>
            </a:r>
            <a:endParaRPr lang="en-US" altLang="zh-CN" sz="1600" b="1" kern="100" dirty="0">
              <a:latin typeface="+mn-ea"/>
              <a:ea typeface="微软雅黑" panose="020B0503020204020204" pitchFamily="34" charset="-122"/>
              <a:cs typeface="Times New Roman" panose="02020603050405020304" pitchFamily="18" charset="0"/>
              <a:sym typeface="+mn-ea"/>
            </a:endParaRPr>
          </a:p>
          <a:p>
            <a:pPr marL="285750" indent="-285750" algn="just">
              <a:lnSpc>
                <a:spcPct val="150000"/>
              </a:lnSpc>
              <a:buFont typeface="Wingdings" panose="05000000000000000000" charset="0"/>
              <a:buChar char="p"/>
            </a:pPr>
            <a:endParaRPr lang="en-US" altLang="zh-CN" sz="1600" b="1" kern="100" dirty="0">
              <a:latin typeface="+mn-ea"/>
              <a:ea typeface="微软雅黑" panose="020B0503020204020204" pitchFamily="34" charset="-122"/>
              <a:cs typeface="Times New Roman" panose="02020603050405020304" pitchFamily="18" charset="0"/>
              <a:sym typeface="+mn-ea"/>
            </a:endParaRPr>
          </a:p>
          <a:p>
            <a:pPr marL="285750" indent="-285750" algn="just">
              <a:lnSpc>
                <a:spcPct val="150000"/>
              </a:lnSpc>
              <a:buFont typeface="Wingdings" panose="05000000000000000000" charset="0"/>
              <a:buChar char="p"/>
            </a:pPr>
            <a:r>
              <a:rPr lang="en-US" altLang="zh-CN" sz="1600" b="1" kern="100" dirty="0">
                <a:latin typeface="+mn-ea"/>
                <a:ea typeface="微软雅黑" panose="020B0503020204020204" pitchFamily="34" charset="-122"/>
                <a:cs typeface="Times New Roman" panose="02020603050405020304" pitchFamily="18" charset="0"/>
                <a:sym typeface="+mn-ea"/>
              </a:rPr>
              <a:t>3</a:t>
            </a:r>
            <a:r>
              <a:rPr lang="zh-CN" altLang="en-US" sz="1600" b="1" kern="100" dirty="0">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“动作</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幅度”</a:t>
            </a:r>
            <a:r>
              <a:rPr lang="zh-CN" altLang="en-US" sz="1600" b="1" kern="100" dirty="0">
                <a:latin typeface="+mn-ea"/>
                <a:ea typeface="微软雅黑" panose="020B0503020204020204" pitchFamily="34" charset="-122"/>
                <a:cs typeface="Times New Roman" panose="02020603050405020304" pitchFamily="18" charset="0"/>
                <a:sym typeface="+mn-ea"/>
              </a:rPr>
              <a:t>的无人机动作集合，解决大模型自由文本输出无法直接、可靠地转换为飞控系统确定性控制指令的</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跨模态映射</a:t>
            </a:r>
            <a:r>
              <a:rPr lang="zh-CN" altLang="en-US" sz="1600" b="1" kern="100" dirty="0">
                <a:latin typeface="+mn-ea"/>
                <a:ea typeface="微软雅黑" panose="020B0503020204020204" pitchFamily="34" charset="-122"/>
                <a:cs typeface="Times New Roman" panose="02020603050405020304" pitchFamily="18" charset="0"/>
                <a:sym typeface="+mn-ea"/>
              </a:rPr>
              <a:t>问题；</a:t>
            </a:r>
          </a:p>
        </p:txBody>
      </p:sp>
      <p:sp>
        <p:nvSpPr>
          <p:cNvPr id="9" name="文本框 8">
            <a:extLst>
              <a:ext uri="{FF2B5EF4-FFF2-40B4-BE49-F238E27FC236}">
                <a16:creationId xmlns:a16="http://schemas.microsoft.com/office/drawing/2014/main" id="{4667591E-27E5-5DFF-C40F-0358C9DAB296}"/>
              </a:ext>
            </a:extLst>
          </p:cNvPr>
          <p:cNvSpPr txBox="1"/>
          <p:nvPr/>
        </p:nvSpPr>
        <p:spPr>
          <a:xfrm>
            <a:off x="859823" y="6241116"/>
            <a:ext cx="9735317" cy="369332"/>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b="1" dirty="0">
                <a:latin typeface="微软雅黑" panose="020B0503020204020204" pitchFamily="34" charset="-122"/>
                <a:ea typeface="微软雅黑" panose="020B0503020204020204" pitchFamily="34" charset="-122"/>
              </a:rPr>
              <a:t>搭建了一套基于仿真的面向城市场景的低空无人机零样本视觉语言导航</a:t>
            </a:r>
          </a:p>
        </p:txBody>
      </p:sp>
      <p:pic>
        <p:nvPicPr>
          <p:cNvPr id="6" name="图片 5">
            <a:extLst>
              <a:ext uri="{FF2B5EF4-FFF2-40B4-BE49-F238E27FC236}">
                <a16:creationId xmlns:a16="http://schemas.microsoft.com/office/drawing/2014/main" id="{2583B741-B2B0-4C1C-B660-907D0C7186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983" y="1772336"/>
            <a:ext cx="6953528" cy="3725980"/>
          </a:xfrm>
          <a:prstGeom prst="rect">
            <a:avLst/>
          </a:prstGeom>
        </p:spPr>
      </p:pic>
    </p:spTree>
    <p:extLst>
      <p:ext uri="{BB962C8B-B14F-4D97-AF65-F5344CB8AC3E}">
        <p14:creationId xmlns:p14="http://schemas.microsoft.com/office/powerpoint/2010/main" val="3658943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4F0EB57-D5DC-3B8B-2438-52331101676A}"/>
              </a:ext>
            </a:extLst>
          </p:cNvPr>
          <p:cNvSpPr txBox="1"/>
          <p:nvPr/>
        </p:nvSpPr>
        <p:spPr>
          <a:xfrm>
            <a:off x="368300" y="38101"/>
            <a:ext cx="5913437" cy="743986"/>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二、研究思路与内容</a:t>
            </a:r>
            <a:endParaRPr lang="en-US" altLang="zh-CN" dirty="0"/>
          </a:p>
        </p:txBody>
      </p:sp>
      <p:sp>
        <p:nvSpPr>
          <p:cNvPr id="3" name="矩形 2">
            <a:extLst>
              <a:ext uri="{FF2B5EF4-FFF2-40B4-BE49-F238E27FC236}">
                <a16:creationId xmlns:a16="http://schemas.microsoft.com/office/drawing/2014/main" id="{56C075E2-464A-8479-BC0E-43339C87DD44}"/>
              </a:ext>
            </a:extLst>
          </p:cNvPr>
          <p:cNvSpPr/>
          <p:nvPr/>
        </p:nvSpPr>
        <p:spPr>
          <a:xfrm>
            <a:off x="274864" y="943830"/>
            <a:ext cx="11642271" cy="581057"/>
          </a:xfrm>
          <a:prstGeom prst="rect">
            <a:avLst/>
          </a:prstGeom>
        </p:spPr>
        <p:txBody>
          <a:bodyPr wrap="square">
            <a:spAutoFit/>
          </a:bodyPr>
          <a:lstStyle/>
          <a:p>
            <a:pPr marL="342900" indent="-342900" fontAlgn="base">
              <a:lnSpc>
                <a:spcPct val="150000"/>
              </a:lnSpc>
              <a:spcBef>
                <a:spcPct val="20000"/>
              </a:spcBef>
              <a:spcAft>
                <a:spcPct val="0"/>
              </a:spcAft>
              <a:buClr>
                <a:srgbClr val="002060"/>
              </a:buClr>
              <a:buFont typeface="Wingdings" panose="05000000000000000000" pitchFamily="2" charset="2"/>
              <a:buChar char="Ø"/>
            </a:pPr>
            <a:r>
              <a:rPr lang="en-US" altLang="zh-CN" sz="2400" b="1" dirty="0">
                <a:solidFill>
                  <a:srgbClr val="006282"/>
                </a:solidFill>
                <a:latin typeface="微软雅黑" panose="020B0503020204020204" pitchFamily="34" charset="-122"/>
                <a:ea typeface="微软雅黑" panose="020B0503020204020204" pitchFamily="34" charset="-122"/>
                <a:cs typeface="Times New Roman" pitchFamily="18" charset="0"/>
              </a:rPr>
              <a:t>CLIQ-Nav——</a:t>
            </a: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幻觉抑制</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48C13AE-EE9B-5F50-9385-06F5B04F02E6}"/>
                  </a:ext>
                </a:extLst>
              </p:cNvPr>
              <p:cNvSpPr txBox="1"/>
              <p:nvPr/>
            </p:nvSpPr>
            <p:spPr>
              <a:xfrm>
                <a:off x="6941252" y="1394272"/>
                <a:ext cx="4572568" cy="3474628"/>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en-US" altLang="zh-CN" b="1" kern="100" dirty="0">
                    <a:latin typeface="+mn-ea"/>
                    <a:ea typeface="微软雅黑" panose="020B0503020204020204" pitchFamily="34" charset="-122"/>
                    <a:cs typeface="Times New Roman" panose="02020603050405020304" pitchFamily="18" charset="0"/>
                    <a:sym typeface="+mn-ea"/>
                  </a:rPr>
                  <a:t>CLIP</a:t>
                </a:r>
                <a:r>
                  <a:rPr lang="zh-CN" altLang="en-US" b="1" kern="100" dirty="0">
                    <a:latin typeface="+mn-ea"/>
                    <a:ea typeface="微软雅黑" panose="020B0503020204020204" pitchFamily="34" charset="-122"/>
                    <a:cs typeface="Times New Roman" panose="02020603050405020304" pitchFamily="18" charset="0"/>
                    <a:sym typeface="+mn-ea"/>
                  </a:rPr>
                  <a:t>模型分别计算每个图像块与目标文本之间的</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图文相似度</a:t>
                </a:r>
                <a:r>
                  <a:rPr lang="zh-CN" altLang="en-US" b="1" kern="100" dirty="0">
                    <a:latin typeface="+mn-ea"/>
                    <a:ea typeface="微软雅黑" panose="020B0503020204020204" pitchFamily="34" charset="-122"/>
                    <a:cs typeface="Times New Roman" panose="02020603050405020304" pitchFamily="18" charset="0"/>
                    <a:sym typeface="+mn-ea"/>
                  </a:rPr>
                  <a:t>，选取得分最高的图像块，并将其方位转化为</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语言提示</a:t>
                </a:r>
                <a:r>
                  <a:rPr lang="zh-CN" altLang="en-US" b="1" kern="100" dirty="0">
                    <a:latin typeface="+mn-ea"/>
                    <a:ea typeface="微软雅黑" panose="020B0503020204020204" pitchFamily="34" charset="-122"/>
                    <a:cs typeface="Times New Roman" panose="02020603050405020304" pitchFamily="18" charset="0"/>
                    <a:sym typeface="+mn-ea"/>
                  </a:rPr>
                  <a:t>，例如“导航目标有很大的可能性在你的前方偏右”。该提示</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不直接替代大模型决策</a:t>
                </a:r>
                <a:r>
                  <a:rPr lang="zh-CN" altLang="en-US" b="1" kern="100" dirty="0">
                    <a:latin typeface="+mn-ea"/>
                    <a:ea typeface="微软雅黑" panose="020B0503020204020204" pitchFamily="34" charset="-122"/>
                    <a:cs typeface="Times New Roman" panose="02020603050405020304" pitchFamily="18" charset="0"/>
                    <a:sym typeface="+mn-ea"/>
                  </a:rPr>
                  <a:t>，而是作为</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视觉注意力先验</a:t>
                </a:r>
                <a:r>
                  <a:rPr lang="zh-CN" altLang="en-US" b="1" kern="100" dirty="0">
                    <a:latin typeface="+mn-ea"/>
                    <a:ea typeface="微软雅黑" panose="020B0503020204020204" pitchFamily="34" charset="-122"/>
                    <a:cs typeface="Times New Roman" panose="02020603050405020304" pitchFamily="18" charset="0"/>
                    <a:sym typeface="+mn-ea"/>
                  </a:rPr>
                  <a:t>，帮助大模型把推理重点集中在最可能包含目标的</a:t>
                </a:r>
                <a:r>
                  <a:rPr lang="zh-CN" altLang="en-US" b="1" kern="100" dirty="0">
                    <a:solidFill>
                      <a:srgbClr val="FF0000"/>
                    </a:solidFill>
                    <a:latin typeface="+mn-ea"/>
                    <a:ea typeface="微软雅黑" panose="020B0503020204020204" pitchFamily="34" charset="-122"/>
                    <a:cs typeface="Times New Roman" panose="02020603050405020304" pitchFamily="18" charset="0"/>
                    <a:sym typeface="+mn-ea"/>
                  </a:rPr>
                  <a:t>局部区域</a:t>
                </a:r>
                <a:r>
                  <a:rPr lang="zh-CN" altLang="en-US" b="1" kern="100" dirty="0">
                    <a:latin typeface="+mn-ea"/>
                    <a:ea typeface="微软雅黑" panose="020B0503020204020204" pitchFamily="34" charset="-122"/>
                    <a:cs typeface="Times New Roman" panose="02020603050405020304" pitchFamily="18" charset="0"/>
                    <a:sym typeface="+mn-ea"/>
                  </a:rPr>
                  <a:t>。具体如下：</a:t>
                </a:r>
                <a:endParaRPr lang="en-US" altLang="zh-CN" b="1" kern="100" dirty="0">
                  <a:latin typeface="+mn-ea"/>
                  <a:ea typeface="微软雅黑" panose="020B0503020204020204" pitchFamily="34" charset="-122"/>
                  <a:cs typeface="Times New Roman" panose="02020603050405020304" pitchFamily="18" charset="0"/>
                  <a:sym typeface="+mn-ea"/>
                </a:endParaRPr>
              </a:p>
              <a:p>
                <a:pPr algn="ctr">
                  <a:lnSpc>
                    <a:spcPct val="150000"/>
                  </a:lnSpc>
                </a:pPr>
                <a14:m>
                  <m:oMath xmlns:m="http://schemas.openxmlformats.org/officeDocument/2006/math">
                    <m:sSub>
                      <m:sSubPr>
                        <m:ctrlPr>
                          <a:rPr lang="zh-CN" altLang="zh-CN" i="1" smtClean="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仿宋" panose="02010609060101010101" pitchFamily="49" charset="-122"/>
                            <a:cs typeface="Times New Roman" panose="02020603050405020304" pitchFamily="18" charset="0"/>
                          </a:rPr>
                          <m:t>𝑆</m:t>
                        </m:r>
                      </m:e>
                      <m:sub>
                        <m:r>
                          <m:rPr>
                            <m:nor/>
                          </m:rPr>
                          <a:rPr lang="en-US" altLang="zh-CN" kern="100">
                            <a:effectLst/>
                            <a:latin typeface="Cambria Math" panose="02040503050406030204" pitchFamily="18" charset="0"/>
                            <a:ea typeface="仿宋" panose="02010609060101010101" pitchFamily="49" charset="-122"/>
                            <a:cs typeface="Times New Roman" panose="02020603050405020304" pitchFamily="18" charset="0"/>
                          </a:rPr>
                          <m:t>best</m:t>
                        </m:r>
                      </m:sub>
                    </m:sSub>
                    <m:r>
                      <a:rPr lang="en-US" altLang="zh-CN" i="1" kern="100">
                        <a:effectLst/>
                        <a:latin typeface="Cambria Math" panose="02040503050406030204" pitchFamily="18" charset="0"/>
                        <a:ea typeface="仿宋" panose="02010609060101010101" pitchFamily="49" charset="-122"/>
                        <a:cs typeface="Times New Roman" panose="02020603050405020304" pitchFamily="18" charset="0"/>
                      </a:rPr>
                      <m:t>=</m:t>
                    </m:r>
                    <m:func>
                      <m:funcPr>
                        <m:ctrlPr>
                          <a:rPr lang="zh-CN" altLang="zh-CN" i="1">
                            <a:effectLst/>
                            <a:latin typeface="Cambria Math" panose="02040503050406030204" pitchFamily="18" charset="0"/>
                            <a:ea typeface="Cambria Math" panose="02040503050406030204" pitchFamily="18" charset="0"/>
                          </a:rPr>
                        </m:ctrlPr>
                      </m:funcPr>
                      <m:fName>
                        <m:limUpp>
                          <m:limUppPr>
                            <m:ctrlPr>
                              <a:rPr lang="zh-CN" altLang="zh-CN" i="1">
                                <a:effectLst/>
                                <a:latin typeface="Cambria Math" panose="02040503050406030204" pitchFamily="18" charset="0"/>
                                <a:ea typeface="Cambria Math" panose="02040503050406030204" pitchFamily="18" charset="0"/>
                              </a:rPr>
                            </m:ctrlPr>
                          </m:limUppPr>
                          <m:e>
                            <m:limLow>
                              <m:limLowPr>
                                <m:ctrlPr>
                                  <a:rPr lang="zh-CN" altLang="zh-CN" i="1">
                                    <a:effectLst/>
                                    <a:latin typeface="Cambria Math" panose="02040503050406030204" pitchFamily="18" charset="0"/>
                                    <a:ea typeface="Cambria Math" panose="02040503050406030204" pitchFamily="18" charset="0"/>
                                  </a:rPr>
                                </m:ctrlPr>
                              </m:limLowPr>
                              <m:e>
                                <m:r>
                                  <m:rPr>
                                    <m:sty m:val="p"/>
                                  </m:rPr>
                                  <a:rPr lang="en-US" altLang="zh-CN" kern="100">
                                    <a:effectLst/>
                                    <a:latin typeface="Cambria Math" panose="02040503050406030204" pitchFamily="18" charset="0"/>
                                    <a:ea typeface="仿宋" panose="02010609060101010101" pitchFamily="49" charset="-122"/>
                                    <a:cs typeface="Times New Roman" panose="02020603050405020304" pitchFamily="18" charset="0"/>
                                  </a:rPr>
                                  <m:t>max</m:t>
                                </m:r>
                              </m:e>
                              <m:lim>
                                <m:r>
                                  <a:rPr lang="en-US" altLang="zh-CN" i="1" kern="100">
                                    <a:effectLst/>
                                    <a:latin typeface="Cambria Math" panose="02040503050406030204" pitchFamily="18" charset="0"/>
                                    <a:ea typeface="仿宋" panose="02010609060101010101" pitchFamily="49" charset="-122"/>
                                    <a:cs typeface="Times New Roman" panose="02020603050405020304" pitchFamily="18" charset="0"/>
                                  </a:rPr>
                                  <m:t>𝑖</m:t>
                                </m:r>
                                <m:r>
                                  <a:rPr lang="en-US" altLang="zh-CN" i="1" kern="100">
                                    <a:effectLst/>
                                    <a:latin typeface="Cambria Math" panose="02040503050406030204" pitchFamily="18" charset="0"/>
                                    <a:ea typeface="仿宋" panose="02010609060101010101" pitchFamily="49" charset="-122"/>
                                    <a:cs typeface="Times New Roman" panose="02020603050405020304" pitchFamily="18" charset="0"/>
                                  </a:rPr>
                                  <m:t>=1</m:t>
                                </m:r>
                              </m:lim>
                            </m:limLow>
                          </m:e>
                          <m:lim>
                            <m:r>
                              <a:rPr lang="en-US" altLang="zh-CN" i="1" kern="100">
                                <a:effectLst/>
                                <a:latin typeface="Cambria Math" panose="02040503050406030204" pitchFamily="18" charset="0"/>
                                <a:ea typeface="仿宋" panose="02010609060101010101" pitchFamily="49" charset="-122"/>
                                <a:cs typeface="Times New Roman" panose="02020603050405020304" pitchFamily="18" charset="0"/>
                              </a:rPr>
                              <m:t>9</m:t>
                            </m:r>
                          </m:lim>
                        </m:limUpp>
                      </m:fName>
                      <m:e>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仿宋" panose="02010609060101010101" pitchFamily="49" charset="-122"/>
                                <a:cs typeface="Times New Roman" panose="02020603050405020304" pitchFamily="18" charset="0"/>
                              </a:rPr>
                              <m:t>𝑠</m:t>
                            </m:r>
                          </m:e>
                          <m:sub>
                            <m:r>
                              <a:rPr lang="en-US" altLang="zh-CN" i="1" kern="100">
                                <a:effectLst/>
                                <a:latin typeface="Cambria Math" panose="02040503050406030204" pitchFamily="18" charset="0"/>
                                <a:ea typeface="仿宋" panose="02010609060101010101" pitchFamily="49" charset="-122"/>
                                <a:cs typeface="Times New Roman" panose="02020603050405020304" pitchFamily="18" charset="0"/>
                              </a:rPr>
                              <m:t>𝑖</m:t>
                            </m:r>
                          </m:sub>
                        </m:sSub>
                      </m:e>
                    </m:func>
                  </m:oMath>
                </a14:m>
                <a:r>
                  <a:rPr lang="en-US" altLang="zh-CN" kern="100" dirty="0">
                    <a:effectLst/>
                    <a:latin typeface="Times New Roman" panose="02020603050405020304" pitchFamily="18" charset="0"/>
                    <a:ea typeface="仿宋" panose="02010609060101010101" pitchFamily="49" charset="-122"/>
                  </a:rPr>
                  <a:t> </a:t>
                </a:r>
                <a:endParaRPr lang="en-US" altLang="zh-CN" b="1" kern="100" dirty="0">
                  <a:latin typeface="+mn-ea"/>
                  <a:ea typeface="微软雅黑" panose="020B0503020204020204" pitchFamily="34" charset="-122"/>
                  <a:cs typeface="Times New Roman" panose="02020603050405020304" pitchFamily="18" charset="0"/>
                  <a:sym typeface="+mn-ea"/>
                </a:endParaRPr>
              </a:p>
              <a:p>
                <a:pPr marL="285750" indent="-285750" algn="just">
                  <a:lnSpc>
                    <a:spcPct val="150000"/>
                  </a:lnSpc>
                  <a:buFont typeface="Wingdings" panose="05000000000000000000" charset="0"/>
                  <a:buChar char="p"/>
                </a:pPr>
                <a:endParaRPr lang="zh-CN" altLang="en-US" sz="1400" b="1" kern="100" dirty="0">
                  <a:latin typeface="+mn-ea"/>
                  <a:ea typeface="微软雅黑" panose="020B0503020204020204" pitchFamily="34" charset="-122"/>
                  <a:cs typeface="Times New Roman" panose="02020603050405020304" pitchFamily="18" charset="0"/>
                  <a:sym typeface="+mn-ea"/>
                </a:endParaRPr>
              </a:p>
            </p:txBody>
          </p:sp>
        </mc:Choice>
        <mc:Fallback xmlns="">
          <p:sp>
            <p:nvSpPr>
              <p:cNvPr id="8" name="文本框 7">
                <a:extLst>
                  <a:ext uri="{FF2B5EF4-FFF2-40B4-BE49-F238E27FC236}">
                    <a16:creationId xmlns:a16="http://schemas.microsoft.com/office/drawing/2014/main" id="{548C13AE-EE9B-5F50-9385-06F5B04F02E6}"/>
                  </a:ext>
                </a:extLst>
              </p:cNvPr>
              <p:cNvSpPr txBox="1">
                <a:spLocks noRot="1" noChangeAspect="1" noMove="1" noResize="1" noEditPoints="1" noAdjustHandles="1" noChangeArrowheads="1" noChangeShapeType="1" noTextEdit="1"/>
              </p:cNvSpPr>
              <p:nvPr/>
            </p:nvSpPr>
            <p:spPr>
              <a:xfrm>
                <a:off x="6941252" y="1394272"/>
                <a:ext cx="4572568" cy="3474628"/>
              </a:xfrm>
              <a:prstGeom prst="rect">
                <a:avLst/>
              </a:prstGeom>
              <a:blipFill>
                <a:blip r:embed="rId2"/>
                <a:stretch>
                  <a:fillRect l="-933" r="-1067" b="-13684"/>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4667591E-27E5-5DFF-C40F-0358C9DAB296}"/>
              </a:ext>
            </a:extLst>
          </p:cNvPr>
          <p:cNvSpPr txBox="1"/>
          <p:nvPr/>
        </p:nvSpPr>
        <p:spPr>
          <a:xfrm>
            <a:off x="1228340" y="6105562"/>
            <a:ext cx="9735317" cy="338554"/>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将大模型的视觉注意力从全图收缩至目标高概率区域，从信息结构源头削弱</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语义过载</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进而抑制幻觉。</a:t>
            </a:r>
          </a:p>
        </p:txBody>
      </p:sp>
      <p:pic>
        <p:nvPicPr>
          <p:cNvPr id="5" name="图片 4">
            <a:extLst>
              <a:ext uri="{FF2B5EF4-FFF2-40B4-BE49-F238E27FC236}">
                <a16:creationId xmlns:a16="http://schemas.microsoft.com/office/drawing/2014/main" id="{14C832D7-B98D-4BC7-A00A-92A7CC3587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946" y="2207052"/>
            <a:ext cx="6758225" cy="2661848"/>
          </a:xfrm>
          <a:prstGeom prst="rect">
            <a:avLst/>
          </a:prstGeom>
        </p:spPr>
      </p:pic>
    </p:spTree>
    <p:extLst>
      <p:ext uri="{BB962C8B-B14F-4D97-AF65-F5344CB8AC3E}">
        <p14:creationId xmlns:p14="http://schemas.microsoft.com/office/powerpoint/2010/main" val="1670333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05E33B6-39E0-F1D3-4A2C-5FC300325884}"/>
              </a:ext>
            </a:extLst>
          </p:cNvPr>
          <p:cNvSpPr txBox="1"/>
          <p:nvPr/>
        </p:nvSpPr>
        <p:spPr>
          <a:xfrm>
            <a:off x="359229" y="13453"/>
            <a:ext cx="6049508" cy="743986"/>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三、实验结果与分析</a:t>
            </a:r>
            <a:endParaRPr lang="en-US" altLang="zh-CN" dirty="0"/>
          </a:p>
        </p:txBody>
      </p:sp>
      <p:sp>
        <p:nvSpPr>
          <p:cNvPr id="3" name="Rectangle 1">
            <a:extLst>
              <a:ext uri="{FF2B5EF4-FFF2-40B4-BE49-F238E27FC236}">
                <a16:creationId xmlns:a16="http://schemas.microsoft.com/office/drawing/2014/main" id="{6ABC2E3E-DAAF-5A7D-D830-F119B423D025}"/>
              </a:ext>
            </a:extLst>
          </p:cNvPr>
          <p:cNvSpPr>
            <a:spLocks noChangeArrowheads="1"/>
          </p:cNvSpPr>
          <p:nvPr/>
        </p:nvSpPr>
        <p:spPr bwMode="auto">
          <a:xfrm>
            <a:off x="200025" y="988271"/>
            <a:ext cx="11376224" cy="461665"/>
          </a:xfrm>
          <a:prstGeom prst="rect">
            <a:avLst/>
          </a:prstGeom>
        </p:spPr>
        <p:txBody>
          <a:bodyPr wrap="square">
            <a:spAutoFit/>
          </a:bodyPr>
          <a:lstStyle/>
          <a:p>
            <a:pPr marL="522900" indent="-342900" fontAlgn="base">
              <a:spcAft>
                <a:spcPct val="0"/>
              </a:spcAft>
              <a:buClr>
                <a:srgbClr val="002060"/>
              </a:buClr>
              <a:buFont typeface="Wingdings" panose="05000000000000000000" pitchFamily="2" charset="2"/>
              <a:buChar char="Ø"/>
            </a:pP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实验相关设置</a:t>
            </a:r>
            <a:endParaRPr lang="zh-CN" altLang="zh-CN" sz="2400" b="1" dirty="0">
              <a:solidFill>
                <a:srgbClr val="006282"/>
              </a:solidFill>
              <a:latin typeface="微软雅黑" panose="020B0503020204020204" pitchFamily="34" charset="-122"/>
              <a:ea typeface="微软雅黑" panose="020B0503020204020204" pitchFamily="34" charset="-122"/>
              <a:cs typeface="Times New Roman" pitchFamily="18" charset="0"/>
            </a:endParaRPr>
          </a:p>
        </p:txBody>
      </p:sp>
      <p:sp>
        <p:nvSpPr>
          <p:cNvPr id="12" name="文本框 11">
            <a:extLst>
              <a:ext uri="{FF2B5EF4-FFF2-40B4-BE49-F238E27FC236}">
                <a16:creationId xmlns:a16="http://schemas.microsoft.com/office/drawing/2014/main" id="{B38F33ED-F04F-FDE9-44DC-C1B35F59E0AA}"/>
              </a:ext>
            </a:extLst>
          </p:cNvPr>
          <p:cNvSpPr txBox="1"/>
          <p:nvPr/>
        </p:nvSpPr>
        <p:spPr>
          <a:xfrm>
            <a:off x="6033510" y="1482148"/>
            <a:ext cx="5603761" cy="2290400"/>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zh-CN" altLang="en-US" sz="1600" b="1" kern="100" dirty="0">
                <a:latin typeface="+mn-ea"/>
                <a:ea typeface="微软雅黑" panose="020B0503020204020204" pitchFamily="34" charset="-122"/>
                <a:cs typeface="Times New Roman" panose="02020603050405020304" pitchFamily="18" charset="0"/>
                <a:sym typeface="+mn-ea"/>
              </a:rPr>
              <a:t>在</a:t>
            </a:r>
            <a:r>
              <a:rPr lang="en-US" altLang="zh-CN" sz="1600" b="1" kern="100" dirty="0" err="1">
                <a:latin typeface="+mn-ea"/>
                <a:ea typeface="微软雅黑" panose="020B0503020204020204" pitchFamily="34" charset="-122"/>
                <a:cs typeface="Times New Roman" panose="02020603050405020304" pitchFamily="18" charset="0"/>
                <a:sym typeface="+mn-ea"/>
              </a:rPr>
              <a:t>AirSim</a:t>
            </a:r>
            <a:r>
              <a:rPr lang="zh-CN" altLang="en-US" sz="1600" b="1" kern="100" dirty="0">
                <a:latin typeface="+mn-ea"/>
                <a:ea typeface="微软雅黑" panose="020B0503020204020204" pitchFamily="34" charset="-122"/>
                <a:cs typeface="Times New Roman" panose="02020603050405020304" pitchFamily="18" charset="0"/>
                <a:sym typeface="+mn-ea"/>
              </a:rPr>
              <a:t>仿真平台中构建了一套覆盖</a:t>
            </a:r>
            <a:r>
              <a:rPr lang="en-US" altLang="zh-CN" sz="1600" b="1" kern="100" dirty="0">
                <a:latin typeface="+mn-ea"/>
                <a:ea typeface="微软雅黑" panose="020B0503020204020204" pitchFamily="34" charset="-122"/>
                <a:cs typeface="Times New Roman" panose="02020603050405020304" pitchFamily="18" charset="0"/>
                <a:sym typeface="+mn-ea"/>
              </a:rPr>
              <a:t>14</a:t>
            </a:r>
            <a:r>
              <a:rPr lang="zh-CN" altLang="en-US" sz="1600" b="1" kern="100" dirty="0">
                <a:latin typeface="+mn-ea"/>
                <a:ea typeface="微软雅黑" panose="020B0503020204020204" pitchFamily="34" charset="-122"/>
                <a:cs typeface="Times New Roman" panose="02020603050405020304" pitchFamily="18" charset="0"/>
                <a:sym typeface="+mn-ea"/>
              </a:rPr>
              <a:t>条典型低空城市航路的标准化评测基准，环境复杂度从简单到高难度梯度分布，起步距离</a:t>
            </a:r>
            <a:r>
              <a:rPr lang="en-US" altLang="zh-CN" sz="1600" b="1" kern="100" dirty="0">
                <a:latin typeface="+mn-ea"/>
                <a:ea typeface="微软雅黑" panose="020B0503020204020204" pitchFamily="34" charset="-122"/>
                <a:cs typeface="Times New Roman" panose="02020603050405020304" pitchFamily="18" charset="0"/>
                <a:sym typeface="+mn-ea"/>
              </a:rPr>
              <a:t>15m</a:t>
            </a:r>
            <a:r>
              <a:rPr lang="zh-CN" altLang="en-US" sz="1600" b="1" kern="100" dirty="0">
                <a:latin typeface="+mn-ea"/>
                <a:ea typeface="微软雅黑" panose="020B0503020204020204" pitchFamily="34" charset="-122"/>
                <a:cs typeface="Times New Roman" panose="02020603050405020304" pitchFamily="18" charset="0"/>
                <a:sym typeface="+mn-ea"/>
              </a:rPr>
              <a:t>至</a:t>
            </a:r>
            <a:r>
              <a:rPr lang="en-US" altLang="zh-CN" sz="1600" b="1" kern="100" dirty="0">
                <a:latin typeface="+mn-ea"/>
                <a:ea typeface="微软雅黑" panose="020B0503020204020204" pitchFamily="34" charset="-122"/>
                <a:cs typeface="Times New Roman" panose="02020603050405020304" pitchFamily="18" charset="0"/>
                <a:sym typeface="+mn-ea"/>
              </a:rPr>
              <a:t>60m</a:t>
            </a:r>
            <a:r>
              <a:rPr lang="zh-CN" altLang="en-US" sz="1600" b="1" kern="100" dirty="0">
                <a:latin typeface="+mn-ea"/>
                <a:ea typeface="微软雅黑" panose="020B0503020204020204" pitchFamily="34" charset="-122"/>
                <a:cs typeface="Times New Roman" panose="02020603050405020304" pitchFamily="18" charset="0"/>
                <a:sym typeface="+mn-ea"/>
              </a:rPr>
              <a:t>，起飞高度</a:t>
            </a:r>
            <a:r>
              <a:rPr lang="en-US" altLang="zh-CN" sz="1600" b="1" kern="100" dirty="0">
                <a:latin typeface="+mn-ea"/>
                <a:ea typeface="微软雅黑" panose="020B0503020204020204" pitchFamily="34" charset="-122"/>
                <a:cs typeface="Times New Roman" panose="02020603050405020304" pitchFamily="18" charset="0"/>
                <a:sym typeface="+mn-ea"/>
              </a:rPr>
              <a:t>1m</a:t>
            </a:r>
            <a:r>
              <a:rPr lang="zh-CN" altLang="en-US" sz="1600" b="1" kern="100" dirty="0">
                <a:latin typeface="+mn-ea"/>
                <a:ea typeface="微软雅黑" panose="020B0503020204020204" pitchFamily="34" charset="-122"/>
                <a:cs typeface="Times New Roman" panose="02020603050405020304" pitchFamily="18" charset="0"/>
                <a:sym typeface="+mn-ea"/>
              </a:rPr>
              <a:t>至</a:t>
            </a:r>
            <a:r>
              <a:rPr lang="en-US" altLang="zh-CN" sz="1600" b="1" kern="100" dirty="0">
                <a:latin typeface="+mn-ea"/>
                <a:ea typeface="微软雅黑" panose="020B0503020204020204" pitchFamily="34" charset="-122"/>
                <a:cs typeface="Times New Roman" panose="02020603050405020304" pitchFamily="18" charset="0"/>
                <a:sym typeface="+mn-ea"/>
              </a:rPr>
              <a:t>18m</a:t>
            </a:r>
            <a:r>
              <a:rPr lang="zh-CN" altLang="en-US" sz="1600" b="1" kern="100" dirty="0">
                <a:latin typeface="+mn-ea"/>
                <a:ea typeface="微软雅黑" panose="020B0503020204020204" pitchFamily="34" charset="-122"/>
                <a:cs typeface="Times New Roman" panose="02020603050405020304" pitchFamily="18" charset="0"/>
                <a:sym typeface="+mn-ea"/>
              </a:rPr>
              <a:t>。评测采用</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SR</a:t>
            </a:r>
            <a:r>
              <a:rPr lang="zh-CN" altLang="en-US" sz="1600" b="1" kern="100" dirty="0">
                <a:latin typeface="+mn-ea"/>
                <a:ea typeface="微软雅黑" panose="020B0503020204020204" pitchFamily="34" charset="-122"/>
                <a:cs typeface="Times New Roman" panose="02020603050405020304" pitchFamily="18" charset="0"/>
                <a:sym typeface="+mn-ea"/>
              </a:rPr>
              <a:t>（成功率）、</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NE</a:t>
            </a:r>
            <a:r>
              <a:rPr lang="zh-CN" altLang="en-US" sz="1600" b="1" kern="100" dirty="0">
                <a:latin typeface="+mn-ea"/>
                <a:ea typeface="微软雅黑" panose="020B0503020204020204" pitchFamily="34" charset="-122"/>
                <a:cs typeface="Times New Roman" panose="02020603050405020304" pitchFamily="18" charset="0"/>
                <a:sym typeface="+mn-ea"/>
              </a:rPr>
              <a:t>（导航误差）、</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SPL</a:t>
            </a:r>
            <a:r>
              <a:rPr lang="zh-CN" altLang="en-US" sz="1600" b="1" kern="100" dirty="0">
                <a:latin typeface="+mn-ea"/>
                <a:ea typeface="微软雅黑" panose="020B0503020204020204" pitchFamily="34" charset="-122"/>
                <a:cs typeface="Times New Roman" panose="02020603050405020304" pitchFamily="18" charset="0"/>
                <a:sym typeface="+mn-ea"/>
              </a:rPr>
              <a:t>（路径加权成功率）、</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OR</a:t>
            </a:r>
            <a:r>
              <a:rPr lang="zh-CN" altLang="en-US" sz="1600" b="1" kern="100" dirty="0">
                <a:latin typeface="+mn-ea"/>
                <a:ea typeface="微软雅黑" panose="020B0503020204020204" pitchFamily="34" charset="-122"/>
                <a:cs typeface="Times New Roman" panose="02020603050405020304" pitchFamily="18" charset="0"/>
                <a:sym typeface="+mn-ea"/>
              </a:rPr>
              <a:t>（</a:t>
            </a:r>
            <a:r>
              <a:rPr lang="en-US" altLang="zh-CN" sz="1600" b="1" kern="100" dirty="0">
                <a:latin typeface="+mn-ea"/>
                <a:ea typeface="微软雅黑" panose="020B0503020204020204" pitchFamily="34" charset="-122"/>
                <a:cs typeface="Times New Roman" panose="02020603050405020304" pitchFamily="18" charset="0"/>
                <a:sym typeface="+mn-ea"/>
              </a:rPr>
              <a:t>Oracle</a:t>
            </a:r>
            <a:r>
              <a:rPr lang="zh-CN" altLang="en-US" sz="1600" b="1" kern="100" dirty="0">
                <a:latin typeface="+mn-ea"/>
                <a:ea typeface="微软雅黑" panose="020B0503020204020204" pitchFamily="34" charset="-122"/>
                <a:cs typeface="Times New Roman" panose="02020603050405020304" pitchFamily="18" charset="0"/>
                <a:sym typeface="+mn-ea"/>
              </a:rPr>
              <a:t>成功率）、</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TL</a:t>
            </a:r>
            <a:r>
              <a:rPr lang="zh-CN" altLang="en-US" sz="1600" b="1" kern="100" dirty="0">
                <a:latin typeface="+mn-ea"/>
                <a:ea typeface="微软雅黑" panose="020B0503020204020204" pitchFamily="34" charset="-122"/>
                <a:cs typeface="Times New Roman" panose="02020603050405020304" pitchFamily="18" charset="0"/>
                <a:sym typeface="+mn-ea"/>
              </a:rPr>
              <a:t>（轨迹长度）五项互补指标进行多维度诊断分析。通过</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有</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无</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CLIP”</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配对消融实验</a:t>
            </a:r>
            <a:r>
              <a:rPr lang="zh-CN" altLang="en-US" sz="1600" b="1" kern="100" dirty="0">
                <a:latin typeface="+mn-ea"/>
                <a:ea typeface="微软雅黑" panose="020B0503020204020204" pitchFamily="34" charset="-122"/>
                <a:cs typeface="Times New Roman" panose="02020603050405020304" pitchFamily="18" charset="0"/>
                <a:sym typeface="+mn-ea"/>
              </a:rPr>
              <a:t>，可精确量化</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CLIP</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语义区域提示</a:t>
            </a:r>
            <a:r>
              <a:rPr lang="zh-CN" altLang="en-US" sz="1600" b="1" kern="100" dirty="0">
                <a:latin typeface="+mn-ea"/>
                <a:ea typeface="微软雅黑" panose="020B0503020204020204" pitchFamily="34" charset="-122"/>
                <a:cs typeface="Times New Roman" panose="02020603050405020304" pitchFamily="18" charset="0"/>
                <a:sym typeface="+mn-ea"/>
              </a:rPr>
              <a:t>对各多模态大模型的</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幻觉抑制</a:t>
            </a:r>
            <a:r>
              <a:rPr lang="zh-CN" altLang="en-US" sz="1600" b="1" kern="100" dirty="0">
                <a:latin typeface="+mn-ea"/>
                <a:ea typeface="微软雅黑" panose="020B0503020204020204" pitchFamily="34" charset="-122"/>
                <a:cs typeface="Times New Roman" panose="02020603050405020304" pitchFamily="18" charset="0"/>
                <a:sym typeface="+mn-ea"/>
              </a:rPr>
              <a:t>贡献。</a:t>
            </a:r>
          </a:p>
        </p:txBody>
      </p:sp>
      <p:sp>
        <p:nvSpPr>
          <p:cNvPr id="14" name="文本框 13">
            <a:extLst>
              <a:ext uri="{FF2B5EF4-FFF2-40B4-BE49-F238E27FC236}">
                <a16:creationId xmlns:a16="http://schemas.microsoft.com/office/drawing/2014/main" id="{185EB151-632A-5BC2-4867-3CA05C6FC44F}"/>
              </a:ext>
            </a:extLst>
          </p:cNvPr>
          <p:cNvSpPr txBox="1"/>
          <p:nvPr/>
        </p:nvSpPr>
        <p:spPr>
          <a:xfrm>
            <a:off x="6395240" y="5375852"/>
            <a:ext cx="5071401" cy="338554"/>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在仿真环境中构建了一个基于</a:t>
            </a:r>
            <a:r>
              <a:rPr lang="en-US" altLang="zh-CN" sz="1600" b="1" dirty="0">
                <a:latin typeface="微软雅黑" panose="020B0503020204020204" pitchFamily="34" charset="-122"/>
                <a:ea typeface="微软雅黑" panose="020B0503020204020204" pitchFamily="34" charset="-122"/>
              </a:rPr>
              <a:t>14</a:t>
            </a:r>
            <a:r>
              <a:rPr lang="zh-CN" altLang="en-US" sz="1600" b="1" dirty="0">
                <a:latin typeface="微软雅黑" panose="020B0503020204020204" pitchFamily="34" charset="-122"/>
                <a:ea typeface="微软雅黑" panose="020B0503020204020204" pitchFamily="34" charset="-122"/>
              </a:rPr>
              <a:t>条航路的评测基准</a:t>
            </a:r>
          </a:p>
        </p:txBody>
      </p:sp>
      <p:pic>
        <p:nvPicPr>
          <p:cNvPr id="7" name="图片 6">
            <a:extLst>
              <a:ext uri="{FF2B5EF4-FFF2-40B4-BE49-F238E27FC236}">
                <a16:creationId xmlns:a16="http://schemas.microsoft.com/office/drawing/2014/main" id="{D7D197EB-0664-445D-A65B-3B68DDD3A3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9758" y="1600748"/>
            <a:ext cx="2796242" cy="2097181"/>
          </a:xfrm>
          <a:prstGeom prst="rect">
            <a:avLst/>
          </a:prstGeom>
        </p:spPr>
      </p:pic>
      <p:pic>
        <p:nvPicPr>
          <p:cNvPr id="13" name="图片 12">
            <a:extLst>
              <a:ext uri="{FF2B5EF4-FFF2-40B4-BE49-F238E27FC236}">
                <a16:creationId xmlns:a16="http://schemas.microsoft.com/office/drawing/2014/main" id="{A0C72C8F-5527-46DD-BC4A-8BC09D5278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19" y="1600748"/>
            <a:ext cx="2796241" cy="2097181"/>
          </a:xfrm>
          <a:prstGeom prst="rect">
            <a:avLst/>
          </a:prstGeom>
        </p:spPr>
      </p:pic>
      <p:pic>
        <p:nvPicPr>
          <p:cNvPr id="17" name="图片 16">
            <a:extLst>
              <a:ext uri="{FF2B5EF4-FFF2-40B4-BE49-F238E27FC236}">
                <a16:creationId xmlns:a16="http://schemas.microsoft.com/office/drawing/2014/main" id="{9E477262-4F7E-43DF-A3F8-E4A006DDF4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819" y="3772548"/>
            <a:ext cx="2796242" cy="2097181"/>
          </a:xfrm>
          <a:prstGeom prst="rect">
            <a:avLst/>
          </a:prstGeom>
        </p:spPr>
      </p:pic>
      <p:sp>
        <p:nvSpPr>
          <p:cNvPr id="19" name="文本框 18">
            <a:extLst>
              <a:ext uri="{FF2B5EF4-FFF2-40B4-BE49-F238E27FC236}">
                <a16:creationId xmlns:a16="http://schemas.microsoft.com/office/drawing/2014/main" id="{4B77913E-D14B-47B1-91DD-379C7705BBC8}"/>
              </a:ext>
            </a:extLst>
          </p:cNvPr>
          <p:cNvSpPr txBox="1"/>
          <p:nvPr/>
        </p:nvSpPr>
        <p:spPr>
          <a:xfrm>
            <a:off x="3480698" y="4497972"/>
            <a:ext cx="2434361" cy="646331"/>
          </a:xfrm>
          <a:prstGeom prst="rect">
            <a:avLst/>
          </a:prstGeom>
          <a:noFill/>
        </p:spPr>
        <p:txBody>
          <a:bodyPr wrap="square" rtlCol="0">
            <a:spAutoFit/>
          </a:bodyPr>
          <a:lstStyle/>
          <a:p>
            <a:r>
              <a:rPr lang="zh-CN" altLang="en-US" dirty="0"/>
              <a:t>共三个视图：前视图、前视深度图、俯视图</a:t>
            </a:r>
          </a:p>
        </p:txBody>
      </p:sp>
    </p:spTree>
    <p:extLst>
      <p:ext uri="{BB962C8B-B14F-4D97-AF65-F5344CB8AC3E}">
        <p14:creationId xmlns:p14="http://schemas.microsoft.com/office/powerpoint/2010/main" val="2855615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05E33B6-39E0-F1D3-4A2C-5FC300325884}"/>
              </a:ext>
            </a:extLst>
          </p:cNvPr>
          <p:cNvSpPr txBox="1"/>
          <p:nvPr/>
        </p:nvSpPr>
        <p:spPr>
          <a:xfrm>
            <a:off x="359229" y="13453"/>
            <a:ext cx="6049508" cy="743986"/>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三、实验结果与分析</a:t>
            </a:r>
            <a:endParaRPr lang="en-US" altLang="zh-CN" dirty="0"/>
          </a:p>
        </p:txBody>
      </p:sp>
      <p:sp>
        <p:nvSpPr>
          <p:cNvPr id="3" name="Rectangle 1">
            <a:extLst>
              <a:ext uri="{FF2B5EF4-FFF2-40B4-BE49-F238E27FC236}">
                <a16:creationId xmlns:a16="http://schemas.microsoft.com/office/drawing/2014/main" id="{6ABC2E3E-DAAF-5A7D-D830-F119B423D025}"/>
              </a:ext>
            </a:extLst>
          </p:cNvPr>
          <p:cNvSpPr>
            <a:spLocks noChangeArrowheads="1"/>
          </p:cNvSpPr>
          <p:nvPr/>
        </p:nvSpPr>
        <p:spPr bwMode="auto">
          <a:xfrm>
            <a:off x="200025" y="988271"/>
            <a:ext cx="11376224" cy="461665"/>
          </a:xfrm>
          <a:prstGeom prst="rect">
            <a:avLst/>
          </a:prstGeom>
        </p:spPr>
        <p:txBody>
          <a:bodyPr wrap="square">
            <a:spAutoFit/>
          </a:bodyPr>
          <a:lstStyle/>
          <a:p>
            <a:pPr marL="522900" indent="-342900" fontAlgn="base">
              <a:spcAft>
                <a:spcPct val="0"/>
              </a:spcAft>
              <a:buClr>
                <a:srgbClr val="002060"/>
              </a:buClr>
              <a:buFont typeface="Wingdings" panose="05000000000000000000" pitchFamily="2" charset="2"/>
              <a:buChar char="Ø"/>
            </a:pP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实验相关设置</a:t>
            </a:r>
            <a:endParaRPr lang="zh-CN" altLang="zh-CN" sz="2400" b="1" dirty="0">
              <a:solidFill>
                <a:srgbClr val="006282"/>
              </a:solidFill>
              <a:latin typeface="微软雅黑" panose="020B0503020204020204" pitchFamily="34" charset="-122"/>
              <a:ea typeface="微软雅黑" panose="020B0503020204020204" pitchFamily="34" charset="-122"/>
              <a:cs typeface="Times New Roman" pitchFamily="18" charset="0"/>
            </a:endParaRPr>
          </a:p>
        </p:txBody>
      </p:sp>
      <p:sp>
        <p:nvSpPr>
          <p:cNvPr id="12" name="文本框 11">
            <a:extLst>
              <a:ext uri="{FF2B5EF4-FFF2-40B4-BE49-F238E27FC236}">
                <a16:creationId xmlns:a16="http://schemas.microsoft.com/office/drawing/2014/main" id="{B38F33ED-F04F-FDE9-44DC-C1B35F59E0AA}"/>
              </a:ext>
            </a:extLst>
          </p:cNvPr>
          <p:cNvSpPr txBox="1"/>
          <p:nvPr/>
        </p:nvSpPr>
        <p:spPr>
          <a:xfrm>
            <a:off x="6033510" y="1482148"/>
            <a:ext cx="5603761" cy="2290400"/>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zh-CN" altLang="en-US" sz="1600" b="1" kern="100" dirty="0">
                <a:latin typeface="+mn-ea"/>
                <a:ea typeface="微软雅黑" panose="020B0503020204020204" pitchFamily="34" charset="-122"/>
                <a:cs typeface="Times New Roman" panose="02020603050405020304" pitchFamily="18" charset="0"/>
                <a:sym typeface="+mn-ea"/>
              </a:rPr>
              <a:t>在</a:t>
            </a:r>
            <a:r>
              <a:rPr lang="en-US" altLang="zh-CN" sz="1600" b="1" kern="100" dirty="0" err="1">
                <a:latin typeface="+mn-ea"/>
                <a:ea typeface="微软雅黑" panose="020B0503020204020204" pitchFamily="34" charset="-122"/>
                <a:cs typeface="Times New Roman" panose="02020603050405020304" pitchFamily="18" charset="0"/>
                <a:sym typeface="+mn-ea"/>
              </a:rPr>
              <a:t>AirSim</a:t>
            </a:r>
            <a:r>
              <a:rPr lang="zh-CN" altLang="en-US" sz="1600" b="1" kern="100" dirty="0">
                <a:latin typeface="+mn-ea"/>
                <a:ea typeface="微软雅黑" panose="020B0503020204020204" pitchFamily="34" charset="-122"/>
                <a:cs typeface="Times New Roman" panose="02020603050405020304" pitchFamily="18" charset="0"/>
                <a:sym typeface="+mn-ea"/>
              </a:rPr>
              <a:t>仿真平台中构建了一套覆盖</a:t>
            </a:r>
            <a:r>
              <a:rPr lang="en-US" altLang="zh-CN" sz="1600" b="1" kern="100" dirty="0">
                <a:latin typeface="+mn-ea"/>
                <a:ea typeface="微软雅黑" panose="020B0503020204020204" pitchFamily="34" charset="-122"/>
                <a:cs typeface="Times New Roman" panose="02020603050405020304" pitchFamily="18" charset="0"/>
                <a:sym typeface="+mn-ea"/>
              </a:rPr>
              <a:t>14</a:t>
            </a:r>
            <a:r>
              <a:rPr lang="zh-CN" altLang="en-US" sz="1600" b="1" kern="100" dirty="0">
                <a:latin typeface="+mn-ea"/>
                <a:ea typeface="微软雅黑" panose="020B0503020204020204" pitchFamily="34" charset="-122"/>
                <a:cs typeface="Times New Roman" panose="02020603050405020304" pitchFamily="18" charset="0"/>
                <a:sym typeface="+mn-ea"/>
              </a:rPr>
              <a:t>条典型低空城市航路的标准化评测基准，环境复杂度从简单到高难度梯度分布，起步距离</a:t>
            </a:r>
            <a:r>
              <a:rPr lang="en-US" altLang="zh-CN" sz="1600" b="1" kern="100" dirty="0">
                <a:latin typeface="+mn-ea"/>
                <a:ea typeface="微软雅黑" panose="020B0503020204020204" pitchFamily="34" charset="-122"/>
                <a:cs typeface="Times New Roman" panose="02020603050405020304" pitchFamily="18" charset="0"/>
                <a:sym typeface="+mn-ea"/>
              </a:rPr>
              <a:t>15m</a:t>
            </a:r>
            <a:r>
              <a:rPr lang="zh-CN" altLang="en-US" sz="1600" b="1" kern="100" dirty="0">
                <a:latin typeface="+mn-ea"/>
                <a:ea typeface="微软雅黑" panose="020B0503020204020204" pitchFamily="34" charset="-122"/>
                <a:cs typeface="Times New Roman" panose="02020603050405020304" pitchFamily="18" charset="0"/>
                <a:sym typeface="+mn-ea"/>
              </a:rPr>
              <a:t>至</a:t>
            </a:r>
            <a:r>
              <a:rPr lang="en-US" altLang="zh-CN" sz="1600" b="1" kern="100" dirty="0">
                <a:latin typeface="+mn-ea"/>
                <a:ea typeface="微软雅黑" panose="020B0503020204020204" pitchFamily="34" charset="-122"/>
                <a:cs typeface="Times New Roman" panose="02020603050405020304" pitchFamily="18" charset="0"/>
                <a:sym typeface="+mn-ea"/>
              </a:rPr>
              <a:t>60m</a:t>
            </a:r>
            <a:r>
              <a:rPr lang="zh-CN" altLang="en-US" sz="1600" b="1" kern="100" dirty="0">
                <a:latin typeface="+mn-ea"/>
                <a:ea typeface="微软雅黑" panose="020B0503020204020204" pitchFamily="34" charset="-122"/>
                <a:cs typeface="Times New Roman" panose="02020603050405020304" pitchFamily="18" charset="0"/>
                <a:sym typeface="+mn-ea"/>
              </a:rPr>
              <a:t>，起飞高度</a:t>
            </a:r>
            <a:r>
              <a:rPr lang="en-US" altLang="zh-CN" sz="1600" b="1" kern="100" dirty="0">
                <a:latin typeface="+mn-ea"/>
                <a:ea typeface="微软雅黑" panose="020B0503020204020204" pitchFamily="34" charset="-122"/>
                <a:cs typeface="Times New Roman" panose="02020603050405020304" pitchFamily="18" charset="0"/>
                <a:sym typeface="+mn-ea"/>
              </a:rPr>
              <a:t>1m</a:t>
            </a:r>
            <a:r>
              <a:rPr lang="zh-CN" altLang="en-US" sz="1600" b="1" kern="100" dirty="0">
                <a:latin typeface="+mn-ea"/>
                <a:ea typeface="微软雅黑" panose="020B0503020204020204" pitchFamily="34" charset="-122"/>
                <a:cs typeface="Times New Roman" panose="02020603050405020304" pitchFamily="18" charset="0"/>
                <a:sym typeface="+mn-ea"/>
              </a:rPr>
              <a:t>至</a:t>
            </a:r>
            <a:r>
              <a:rPr lang="en-US" altLang="zh-CN" sz="1600" b="1" kern="100" dirty="0">
                <a:latin typeface="+mn-ea"/>
                <a:ea typeface="微软雅黑" panose="020B0503020204020204" pitchFamily="34" charset="-122"/>
                <a:cs typeface="Times New Roman" panose="02020603050405020304" pitchFamily="18" charset="0"/>
                <a:sym typeface="+mn-ea"/>
              </a:rPr>
              <a:t>18m</a:t>
            </a:r>
            <a:r>
              <a:rPr lang="zh-CN" altLang="en-US" sz="1600" b="1" kern="100" dirty="0">
                <a:latin typeface="+mn-ea"/>
                <a:ea typeface="微软雅黑" panose="020B0503020204020204" pitchFamily="34" charset="-122"/>
                <a:cs typeface="Times New Roman" panose="02020603050405020304" pitchFamily="18" charset="0"/>
                <a:sym typeface="+mn-ea"/>
              </a:rPr>
              <a:t>。评测采用</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SR</a:t>
            </a:r>
            <a:r>
              <a:rPr lang="zh-CN" altLang="en-US" sz="1600" b="1" kern="100" dirty="0">
                <a:latin typeface="+mn-ea"/>
                <a:ea typeface="微软雅黑" panose="020B0503020204020204" pitchFamily="34" charset="-122"/>
                <a:cs typeface="Times New Roman" panose="02020603050405020304" pitchFamily="18" charset="0"/>
                <a:sym typeface="+mn-ea"/>
              </a:rPr>
              <a:t>（成功率）、</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NE</a:t>
            </a:r>
            <a:r>
              <a:rPr lang="zh-CN" altLang="en-US" sz="1600" b="1" kern="100" dirty="0">
                <a:latin typeface="+mn-ea"/>
                <a:ea typeface="微软雅黑" panose="020B0503020204020204" pitchFamily="34" charset="-122"/>
                <a:cs typeface="Times New Roman" panose="02020603050405020304" pitchFamily="18" charset="0"/>
                <a:sym typeface="+mn-ea"/>
              </a:rPr>
              <a:t>（导航误差）、</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SPL</a:t>
            </a:r>
            <a:r>
              <a:rPr lang="zh-CN" altLang="en-US" sz="1600" b="1" kern="100" dirty="0">
                <a:latin typeface="+mn-ea"/>
                <a:ea typeface="微软雅黑" panose="020B0503020204020204" pitchFamily="34" charset="-122"/>
                <a:cs typeface="Times New Roman" panose="02020603050405020304" pitchFamily="18" charset="0"/>
                <a:sym typeface="+mn-ea"/>
              </a:rPr>
              <a:t>（路径加权成功率）、</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OR</a:t>
            </a:r>
            <a:r>
              <a:rPr lang="zh-CN" altLang="en-US" sz="1600" b="1" kern="100" dirty="0">
                <a:latin typeface="+mn-ea"/>
                <a:ea typeface="微软雅黑" panose="020B0503020204020204" pitchFamily="34" charset="-122"/>
                <a:cs typeface="Times New Roman" panose="02020603050405020304" pitchFamily="18" charset="0"/>
                <a:sym typeface="+mn-ea"/>
              </a:rPr>
              <a:t>（</a:t>
            </a:r>
            <a:r>
              <a:rPr lang="en-US" altLang="zh-CN" sz="1600" b="1" kern="100" dirty="0">
                <a:latin typeface="+mn-ea"/>
                <a:ea typeface="微软雅黑" panose="020B0503020204020204" pitchFamily="34" charset="-122"/>
                <a:cs typeface="Times New Roman" panose="02020603050405020304" pitchFamily="18" charset="0"/>
                <a:sym typeface="+mn-ea"/>
              </a:rPr>
              <a:t>Oracle</a:t>
            </a:r>
            <a:r>
              <a:rPr lang="zh-CN" altLang="en-US" sz="1600" b="1" kern="100" dirty="0">
                <a:latin typeface="+mn-ea"/>
                <a:ea typeface="微软雅黑" panose="020B0503020204020204" pitchFamily="34" charset="-122"/>
                <a:cs typeface="Times New Roman" panose="02020603050405020304" pitchFamily="18" charset="0"/>
                <a:sym typeface="+mn-ea"/>
              </a:rPr>
              <a:t>成功率）、</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TL</a:t>
            </a:r>
            <a:r>
              <a:rPr lang="zh-CN" altLang="en-US" sz="1600" b="1" kern="100" dirty="0">
                <a:latin typeface="+mn-ea"/>
                <a:ea typeface="微软雅黑" panose="020B0503020204020204" pitchFamily="34" charset="-122"/>
                <a:cs typeface="Times New Roman" panose="02020603050405020304" pitchFamily="18" charset="0"/>
                <a:sym typeface="+mn-ea"/>
              </a:rPr>
              <a:t>（轨迹长度）五项互补指标进行多维度诊断分析。通过</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有</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无</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CLIP”</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配对消融实验</a:t>
            </a:r>
            <a:r>
              <a:rPr lang="zh-CN" altLang="en-US" sz="1600" b="1" kern="100" dirty="0">
                <a:latin typeface="+mn-ea"/>
                <a:ea typeface="微软雅黑" panose="020B0503020204020204" pitchFamily="34" charset="-122"/>
                <a:cs typeface="Times New Roman" panose="02020603050405020304" pitchFamily="18" charset="0"/>
                <a:sym typeface="+mn-ea"/>
              </a:rPr>
              <a:t>，可精确量化</a:t>
            </a:r>
            <a:r>
              <a:rPr lang="en-US" altLang="zh-CN" sz="1600" b="1" kern="100" dirty="0">
                <a:solidFill>
                  <a:srgbClr val="FF0000"/>
                </a:solidFill>
                <a:latin typeface="+mn-ea"/>
                <a:ea typeface="微软雅黑" panose="020B0503020204020204" pitchFamily="34" charset="-122"/>
                <a:cs typeface="Times New Roman" panose="02020603050405020304" pitchFamily="18" charset="0"/>
                <a:sym typeface="+mn-ea"/>
              </a:rPr>
              <a:t>CLIP</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语义区域提示</a:t>
            </a:r>
            <a:r>
              <a:rPr lang="zh-CN" altLang="en-US" sz="1600" b="1" kern="100" dirty="0">
                <a:latin typeface="+mn-ea"/>
                <a:ea typeface="微软雅黑" panose="020B0503020204020204" pitchFamily="34" charset="-122"/>
                <a:cs typeface="Times New Roman" panose="02020603050405020304" pitchFamily="18" charset="0"/>
                <a:sym typeface="+mn-ea"/>
              </a:rPr>
              <a:t>对各多模态大模型的</a:t>
            </a:r>
            <a:r>
              <a:rPr lang="zh-CN" altLang="en-US" sz="1600" b="1" kern="100" dirty="0">
                <a:solidFill>
                  <a:srgbClr val="FF0000"/>
                </a:solidFill>
                <a:latin typeface="+mn-ea"/>
                <a:ea typeface="微软雅黑" panose="020B0503020204020204" pitchFamily="34" charset="-122"/>
                <a:cs typeface="Times New Roman" panose="02020603050405020304" pitchFamily="18" charset="0"/>
                <a:sym typeface="+mn-ea"/>
              </a:rPr>
              <a:t>幻觉抑制</a:t>
            </a:r>
            <a:r>
              <a:rPr lang="zh-CN" altLang="en-US" sz="1600" b="1" kern="100" dirty="0">
                <a:latin typeface="+mn-ea"/>
                <a:ea typeface="微软雅黑" panose="020B0503020204020204" pitchFamily="34" charset="-122"/>
                <a:cs typeface="Times New Roman" panose="02020603050405020304" pitchFamily="18" charset="0"/>
                <a:sym typeface="+mn-ea"/>
              </a:rPr>
              <a:t>贡献。</a:t>
            </a:r>
          </a:p>
        </p:txBody>
      </p:sp>
      <p:sp>
        <p:nvSpPr>
          <p:cNvPr id="14" name="文本框 13">
            <a:extLst>
              <a:ext uri="{FF2B5EF4-FFF2-40B4-BE49-F238E27FC236}">
                <a16:creationId xmlns:a16="http://schemas.microsoft.com/office/drawing/2014/main" id="{185EB151-632A-5BC2-4867-3CA05C6FC44F}"/>
              </a:ext>
            </a:extLst>
          </p:cNvPr>
          <p:cNvSpPr txBox="1"/>
          <p:nvPr/>
        </p:nvSpPr>
        <p:spPr>
          <a:xfrm>
            <a:off x="3560299" y="5700452"/>
            <a:ext cx="5071401" cy="338554"/>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在仿真环境中构建了一个基于</a:t>
            </a:r>
            <a:r>
              <a:rPr lang="en-US" altLang="zh-CN" sz="1600" b="1" dirty="0">
                <a:latin typeface="微软雅黑" panose="020B0503020204020204" pitchFamily="34" charset="-122"/>
                <a:ea typeface="微软雅黑" panose="020B0503020204020204" pitchFamily="34" charset="-122"/>
              </a:rPr>
              <a:t>14</a:t>
            </a:r>
            <a:r>
              <a:rPr lang="zh-CN" altLang="en-US" sz="1600" b="1" dirty="0">
                <a:latin typeface="微软雅黑" panose="020B0503020204020204" pitchFamily="34" charset="-122"/>
                <a:ea typeface="微软雅黑" panose="020B0503020204020204" pitchFamily="34" charset="-122"/>
              </a:rPr>
              <a:t>条航路的评测基准</a:t>
            </a:r>
          </a:p>
        </p:txBody>
      </p:sp>
      <p:pic>
        <p:nvPicPr>
          <p:cNvPr id="5" name="图片 4">
            <a:extLst>
              <a:ext uri="{FF2B5EF4-FFF2-40B4-BE49-F238E27FC236}">
                <a16:creationId xmlns:a16="http://schemas.microsoft.com/office/drawing/2014/main" id="{B272150D-ABC0-430F-82E6-43AD5F1B2C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2148"/>
            <a:ext cx="12192000" cy="3771438"/>
          </a:xfrm>
          <a:prstGeom prst="rect">
            <a:avLst/>
          </a:prstGeom>
        </p:spPr>
      </p:pic>
    </p:spTree>
    <p:extLst>
      <p:ext uri="{BB962C8B-B14F-4D97-AF65-F5344CB8AC3E}">
        <p14:creationId xmlns:p14="http://schemas.microsoft.com/office/powerpoint/2010/main" val="2359192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05E33B6-39E0-F1D3-4A2C-5FC300325884}"/>
              </a:ext>
            </a:extLst>
          </p:cNvPr>
          <p:cNvSpPr txBox="1"/>
          <p:nvPr/>
        </p:nvSpPr>
        <p:spPr>
          <a:xfrm>
            <a:off x="359229" y="13453"/>
            <a:ext cx="6049508" cy="743986"/>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三、实验结果与分析</a:t>
            </a:r>
            <a:endParaRPr lang="en-US" altLang="zh-CN" dirty="0"/>
          </a:p>
        </p:txBody>
      </p:sp>
      <p:sp>
        <p:nvSpPr>
          <p:cNvPr id="3" name="Rectangle 1">
            <a:extLst>
              <a:ext uri="{FF2B5EF4-FFF2-40B4-BE49-F238E27FC236}">
                <a16:creationId xmlns:a16="http://schemas.microsoft.com/office/drawing/2014/main" id="{6ABC2E3E-DAAF-5A7D-D830-F119B423D025}"/>
              </a:ext>
            </a:extLst>
          </p:cNvPr>
          <p:cNvSpPr>
            <a:spLocks noChangeArrowheads="1"/>
          </p:cNvSpPr>
          <p:nvPr/>
        </p:nvSpPr>
        <p:spPr bwMode="auto">
          <a:xfrm>
            <a:off x="145934" y="877170"/>
            <a:ext cx="11376224" cy="461665"/>
          </a:xfrm>
          <a:prstGeom prst="rect">
            <a:avLst/>
          </a:prstGeom>
        </p:spPr>
        <p:txBody>
          <a:bodyPr wrap="square">
            <a:spAutoFit/>
          </a:bodyPr>
          <a:lstStyle/>
          <a:p>
            <a:pPr marL="522900" indent="-342900" fontAlgn="base">
              <a:spcAft>
                <a:spcPct val="0"/>
              </a:spcAft>
              <a:buClr>
                <a:srgbClr val="002060"/>
              </a:buClr>
              <a:buFont typeface="Wingdings" panose="05000000000000000000" pitchFamily="2" charset="2"/>
              <a:buChar char="Ø"/>
            </a:pP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各组别实验</a:t>
            </a:r>
            <a:endParaRPr lang="zh-CN" altLang="zh-CN" sz="2400" b="1" dirty="0">
              <a:solidFill>
                <a:srgbClr val="006282"/>
              </a:solidFill>
              <a:latin typeface="微软雅黑" panose="020B0503020204020204" pitchFamily="34" charset="-122"/>
              <a:ea typeface="微软雅黑" panose="020B0503020204020204" pitchFamily="34" charset="-122"/>
              <a:cs typeface="Times New Roman" pitchFamily="18" charset="0"/>
            </a:endParaRPr>
          </a:p>
        </p:txBody>
      </p:sp>
      <p:sp>
        <p:nvSpPr>
          <p:cNvPr id="23" name="文本框 22">
            <a:extLst>
              <a:ext uri="{FF2B5EF4-FFF2-40B4-BE49-F238E27FC236}">
                <a16:creationId xmlns:a16="http://schemas.microsoft.com/office/drawing/2014/main" id="{E3750E08-3908-4A8B-A649-A1F4CC7DEFA4}"/>
              </a:ext>
            </a:extLst>
          </p:cNvPr>
          <p:cNvSpPr txBox="1"/>
          <p:nvPr/>
        </p:nvSpPr>
        <p:spPr>
          <a:xfrm>
            <a:off x="2229228" y="6229292"/>
            <a:ext cx="7209635" cy="338554"/>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实验证明各配置中效果最好的为</a:t>
            </a:r>
            <a:r>
              <a:rPr lang="en-US" altLang="zh-CN" sz="1600" b="1" kern="100" dirty="0">
                <a:solidFill>
                  <a:schemeClr val="bg1"/>
                </a:solidFill>
                <a:latin typeface="+mn-ea"/>
                <a:ea typeface="微软雅黑" panose="020B0503020204020204" pitchFamily="34" charset="-122"/>
                <a:cs typeface="Times New Roman" panose="02020603050405020304" pitchFamily="18" charset="0"/>
                <a:sym typeface="+mn-ea"/>
              </a:rPr>
              <a:t>qwen3.5-35b+clip</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D283FBB7-BCDC-4D4F-A8B4-2464ABAE7C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5934" y="1338835"/>
            <a:ext cx="8813800" cy="4605173"/>
          </a:xfrm>
          <a:prstGeom prst="rect">
            <a:avLst/>
          </a:prstGeom>
        </p:spPr>
      </p:pic>
      <p:sp>
        <p:nvSpPr>
          <p:cNvPr id="20" name="文本框 19">
            <a:extLst>
              <a:ext uri="{FF2B5EF4-FFF2-40B4-BE49-F238E27FC236}">
                <a16:creationId xmlns:a16="http://schemas.microsoft.com/office/drawing/2014/main" id="{8523D907-6DA9-45F0-8BCB-9B58493904B2}"/>
              </a:ext>
            </a:extLst>
          </p:cNvPr>
          <p:cNvSpPr txBox="1"/>
          <p:nvPr/>
        </p:nvSpPr>
        <p:spPr>
          <a:xfrm>
            <a:off x="8959734" y="1458566"/>
            <a:ext cx="2921960" cy="1325547"/>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zh-CN" altLang="en-US" sz="1400" b="1" kern="100" dirty="0">
                <a:latin typeface="+mn-ea"/>
                <a:ea typeface="微软雅黑" panose="020B0503020204020204" pitchFamily="34" charset="-122"/>
                <a:cs typeface="Times New Roman" panose="02020603050405020304" pitchFamily="18" charset="0"/>
                <a:sym typeface="+mn-ea"/>
              </a:rPr>
              <a:t>为了确定最适合我们导航任务的</a:t>
            </a:r>
            <a:r>
              <a:rPr lang="en-US" altLang="zh-CN" sz="1400" b="1" kern="100" dirty="0" err="1">
                <a:latin typeface="+mn-ea"/>
                <a:ea typeface="微软雅黑" panose="020B0503020204020204" pitchFamily="34" charset="-122"/>
                <a:cs typeface="Times New Roman" panose="02020603050405020304" pitchFamily="18" charset="0"/>
                <a:sym typeface="+mn-ea"/>
              </a:rPr>
              <a:t>Qwen</a:t>
            </a:r>
            <a:r>
              <a:rPr lang="zh-CN" altLang="en-US" sz="1400" b="1" kern="100" dirty="0">
                <a:latin typeface="+mn-ea"/>
                <a:ea typeface="微软雅黑" panose="020B0503020204020204" pitchFamily="34" charset="-122"/>
                <a:cs typeface="Times New Roman" panose="02020603050405020304" pitchFamily="18" charset="0"/>
                <a:sym typeface="+mn-ea"/>
              </a:rPr>
              <a:t>配置，我们评估了</a:t>
            </a:r>
            <a:r>
              <a:rPr lang="zh-CN" altLang="en-US" sz="1400" b="1" kern="100" dirty="0">
                <a:solidFill>
                  <a:srgbClr val="FF0000"/>
                </a:solidFill>
                <a:latin typeface="+mn-ea"/>
                <a:ea typeface="微软雅黑" panose="020B0503020204020204" pitchFamily="34" charset="-122"/>
                <a:cs typeface="Times New Roman" panose="02020603050405020304" pitchFamily="18" charset="0"/>
                <a:sym typeface="+mn-ea"/>
              </a:rPr>
              <a:t>七种配置</a:t>
            </a:r>
            <a:r>
              <a:rPr lang="zh-CN" altLang="en-US" sz="1400" b="1" kern="100" dirty="0">
                <a:latin typeface="+mn-ea"/>
                <a:ea typeface="微软雅黑" panose="020B0503020204020204" pitchFamily="34" charset="-122"/>
                <a:cs typeface="Times New Roman" panose="02020603050405020304" pitchFamily="18" charset="0"/>
                <a:sym typeface="+mn-ea"/>
              </a:rPr>
              <a:t>，涵盖三个模型代际和两种</a:t>
            </a:r>
            <a:r>
              <a:rPr lang="en-US" altLang="zh-CN" sz="1400" b="1" kern="100" dirty="0">
                <a:latin typeface="+mn-ea"/>
                <a:ea typeface="微软雅黑" panose="020B0503020204020204" pitchFamily="34" charset="-122"/>
                <a:cs typeface="Times New Roman" panose="02020603050405020304" pitchFamily="18" charset="0"/>
                <a:sym typeface="+mn-ea"/>
              </a:rPr>
              <a:t>CLIP</a:t>
            </a:r>
            <a:r>
              <a:rPr lang="zh-CN" altLang="en-US" sz="1400" b="1" kern="100" dirty="0">
                <a:latin typeface="+mn-ea"/>
                <a:ea typeface="微软雅黑" panose="020B0503020204020204" pitchFamily="34" charset="-122"/>
                <a:cs typeface="Times New Roman" panose="02020603050405020304" pitchFamily="18" charset="0"/>
                <a:sym typeface="+mn-ea"/>
              </a:rPr>
              <a:t>空间锚定条件。</a:t>
            </a:r>
            <a:endParaRPr lang="en-US" altLang="zh-CN" sz="1400" b="1" kern="100" dirty="0">
              <a:latin typeface="+mn-ea"/>
              <a:ea typeface="微软雅黑" panose="020B0503020204020204" pitchFamily="34" charset="-122"/>
              <a:cs typeface="Times New Roman" panose="02020603050405020304" pitchFamily="18" charset="0"/>
              <a:sym typeface="+mn-ea"/>
            </a:endParaRPr>
          </a:p>
          <a:p>
            <a:pPr marL="285750" indent="-285750" algn="just">
              <a:lnSpc>
                <a:spcPct val="150000"/>
              </a:lnSpc>
              <a:buFont typeface="Wingdings" panose="05000000000000000000" charset="0"/>
              <a:buChar char="p"/>
            </a:pPr>
            <a:r>
              <a:rPr lang="zh-CN" altLang="en-US" sz="1400" b="1" kern="100" dirty="0">
                <a:latin typeface="+mn-ea"/>
                <a:ea typeface="微软雅黑" panose="020B0503020204020204" pitchFamily="34" charset="-122"/>
                <a:cs typeface="Times New Roman" panose="02020603050405020304" pitchFamily="18" charset="0"/>
                <a:sym typeface="+mn-ea"/>
              </a:rPr>
              <a:t>在两种模型规模下，加入</a:t>
            </a:r>
            <a:r>
              <a:rPr lang="en-US" altLang="zh-CN" sz="1400" b="1" kern="100" dirty="0">
                <a:latin typeface="+mn-ea"/>
                <a:ea typeface="微软雅黑" panose="020B0503020204020204" pitchFamily="34" charset="-122"/>
                <a:cs typeface="Times New Roman" panose="02020603050405020304" pitchFamily="18" charset="0"/>
                <a:sym typeface="+mn-ea"/>
              </a:rPr>
              <a:t>CLIP</a:t>
            </a:r>
            <a:r>
              <a:rPr lang="zh-CN" altLang="en-US" sz="1400" b="1" kern="100" dirty="0">
                <a:latin typeface="+mn-ea"/>
                <a:ea typeface="微软雅黑" panose="020B0503020204020204" pitchFamily="34" charset="-122"/>
                <a:cs typeface="Times New Roman" panose="02020603050405020304" pitchFamily="18" charset="0"/>
                <a:sym typeface="+mn-ea"/>
              </a:rPr>
              <a:t>的配置均</a:t>
            </a:r>
            <a:r>
              <a:rPr lang="zh-CN" altLang="en-US" sz="1400" b="1" kern="100" dirty="0">
                <a:solidFill>
                  <a:srgbClr val="FF0000"/>
                </a:solidFill>
                <a:latin typeface="+mn-ea"/>
                <a:ea typeface="微软雅黑" panose="020B0503020204020204" pitchFamily="34" charset="-122"/>
                <a:cs typeface="Times New Roman" panose="02020603050405020304" pitchFamily="18" charset="0"/>
                <a:sym typeface="+mn-ea"/>
              </a:rPr>
              <a:t>显著优于</a:t>
            </a:r>
            <a:r>
              <a:rPr lang="zh-CN" altLang="en-US" sz="1400" b="1" kern="100" dirty="0">
                <a:latin typeface="+mn-ea"/>
                <a:ea typeface="微软雅黑" panose="020B0503020204020204" pitchFamily="34" charset="-122"/>
                <a:cs typeface="Times New Roman" panose="02020603050405020304" pitchFamily="18" charset="0"/>
                <a:sym typeface="+mn-ea"/>
              </a:rPr>
              <a:t>未加入</a:t>
            </a:r>
            <a:r>
              <a:rPr lang="en-US" altLang="zh-CN" sz="1400" b="1" kern="100" dirty="0">
                <a:latin typeface="+mn-ea"/>
                <a:ea typeface="微软雅黑" panose="020B0503020204020204" pitchFamily="34" charset="-122"/>
                <a:cs typeface="Times New Roman" panose="02020603050405020304" pitchFamily="18" charset="0"/>
                <a:sym typeface="+mn-ea"/>
              </a:rPr>
              <a:t>CLIP</a:t>
            </a:r>
            <a:r>
              <a:rPr lang="zh-CN" altLang="en-US" sz="1400" b="1" kern="100" dirty="0">
                <a:latin typeface="+mn-ea"/>
                <a:ea typeface="微软雅黑" panose="020B0503020204020204" pitchFamily="34" charset="-122"/>
                <a:cs typeface="Times New Roman" panose="02020603050405020304" pitchFamily="18" charset="0"/>
                <a:sym typeface="+mn-ea"/>
              </a:rPr>
              <a:t>的对应版本。</a:t>
            </a:r>
            <a:endParaRPr lang="en-US" altLang="zh-CN" sz="1400" b="1" kern="100" dirty="0">
              <a:latin typeface="+mn-ea"/>
              <a:ea typeface="微软雅黑" panose="020B0503020204020204" pitchFamily="34" charset="-122"/>
              <a:cs typeface="Times New Roman" panose="02020603050405020304" pitchFamily="18" charset="0"/>
              <a:sym typeface="+mn-ea"/>
            </a:endParaRPr>
          </a:p>
          <a:p>
            <a:pPr marL="285750" indent="-285750" algn="just">
              <a:lnSpc>
                <a:spcPct val="150000"/>
              </a:lnSpc>
              <a:buFont typeface="Wingdings" panose="05000000000000000000" charset="0"/>
              <a:buChar char="p"/>
            </a:pPr>
            <a:r>
              <a:rPr lang="zh-CN" altLang="en-US" sz="1400" b="1" kern="100" dirty="0">
                <a:latin typeface="+mn-ea"/>
                <a:ea typeface="微软雅黑" panose="020B0503020204020204" pitchFamily="34" charset="-122"/>
                <a:cs typeface="Times New Roman" panose="02020603050405020304" pitchFamily="18" charset="0"/>
                <a:sym typeface="+mn-ea"/>
              </a:rPr>
              <a:t>能力越强的</a:t>
            </a:r>
            <a:r>
              <a:rPr lang="en-US" altLang="zh-CN" sz="1400" b="1" kern="100" dirty="0">
                <a:latin typeface="+mn-ea"/>
                <a:ea typeface="微软雅黑" panose="020B0503020204020204" pitchFamily="34" charset="-122"/>
                <a:cs typeface="Times New Roman" panose="02020603050405020304" pitchFamily="18" charset="0"/>
                <a:sym typeface="+mn-ea"/>
              </a:rPr>
              <a:t>MLLM</a:t>
            </a:r>
            <a:r>
              <a:rPr lang="zh-CN" altLang="en-US" sz="1400" b="1" kern="100" dirty="0">
                <a:latin typeface="+mn-ea"/>
                <a:ea typeface="微软雅黑" panose="020B0503020204020204" pitchFamily="34" charset="-122"/>
                <a:cs typeface="Times New Roman" panose="02020603050405020304" pitchFamily="18" charset="0"/>
                <a:sym typeface="+mn-ea"/>
              </a:rPr>
              <a:t>虽然具有更丰富的视觉理解能力，但在处理无约束广域图像时也更容易出现注意力分散。因此越大的模型通过</a:t>
            </a:r>
            <a:r>
              <a:rPr lang="en-US" altLang="zh-CN" sz="1400" b="1" kern="100" dirty="0">
                <a:latin typeface="+mn-ea"/>
                <a:ea typeface="微软雅黑" panose="020B0503020204020204" pitchFamily="34" charset="-122"/>
                <a:cs typeface="Times New Roman" panose="02020603050405020304" pitchFamily="18" charset="0"/>
                <a:sym typeface="+mn-ea"/>
              </a:rPr>
              <a:t>clip</a:t>
            </a:r>
            <a:r>
              <a:rPr lang="zh-CN" altLang="en-US" sz="1400" b="1" kern="100" dirty="0">
                <a:latin typeface="+mn-ea"/>
                <a:ea typeface="微软雅黑" panose="020B0503020204020204" pitchFamily="34" charset="-122"/>
                <a:cs typeface="Times New Roman" panose="02020603050405020304" pitchFamily="18" charset="0"/>
                <a:sym typeface="+mn-ea"/>
              </a:rPr>
              <a:t>空间锚定获得的收益就越大。</a:t>
            </a:r>
            <a:r>
              <a:rPr lang="en-US" altLang="zh-CN" sz="1400" b="1" kern="100" dirty="0">
                <a:latin typeface="+mn-ea"/>
                <a:ea typeface="微软雅黑" panose="020B0503020204020204" pitchFamily="34" charset="-122"/>
                <a:cs typeface="Times New Roman" panose="02020603050405020304" pitchFamily="18" charset="0"/>
                <a:sym typeface="+mn-ea"/>
              </a:rPr>
              <a:t>(</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CLIQ-NAV : qwen3.5-35b+clip</a:t>
            </a:r>
            <a:r>
              <a:rPr lang="en-US" altLang="zh-CN" sz="1400" b="1" kern="100" dirty="0">
                <a:latin typeface="+mn-ea"/>
                <a:ea typeface="微软雅黑" panose="020B0503020204020204" pitchFamily="34" charset="-122"/>
                <a:cs typeface="Times New Roman" panose="02020603050405020304" pitchFamily="18" charset="0"/>
                <a:sym typeface="+mn-ea"/>
              </a:rPr>
              <a:t>)</a:t>
            </a:r>
          </a:p>
          <a:p>
            <a:pPr marL="285750" indent="-285750" algn="just">
              <a:lnSpc>
                <a:spcPct val="150000"/>
              </a:lnSpc>
              <a:buFont typeface="Wingdings" panose="05000000000000000000" charset="0"/>
              <a:buChar char="p"/>
            </a:pPr>
            <a:endParaRPr lang="zh-CN" altLang="en-US" sz="1400" b="1" kern="100" dirty="0">
              <a:latin typeface="+mn-ea"/>
              <a:ea typeface="微软雅黑" panose="020B0503020204020204" pitchFamily="34" charset="-122"/>
              <a:cs typeface="Times New Roman" panose="02020603050405020304" pitchFamily="18" charset="0"/>
              <a:sym typeface="+mn-ea"/>
            </a:endParaRPr>
          </a:p>
        </p:txBody>
      </p:sp>
    </p:spTree>
    <p:extLst>
      <p:ext uri="{BB962C8B-B14F-4D97-AF65-F5344CB8AC3E}">
        <p14:creationId xmlns:p14="http://schemas.microsoft.com/office/powerpoint/2010/main" val="1406798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05E33B6-39E0-F1D3-4A2C-5FC300325884}"/>
              </a:ext>
            </a:extLst>
          </p:cNvPr>
          <p:cNvSpPr txBox="1"/>
          <p:nvPr/>
        </p:nvSpPr>
        <p:spPr>
          <a:xfrm>
            <a:off x="359229" y="13453"/>
            <a:ext cx="6049508" cy="743986"/>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三、实验结果与分析</a:t>
            </a:r>
            <a:endParaRPr lang="en-US" altLang="zh-CN" dirty="0"/>
          </a:p>
        </p:txBody>
      </p:sp>
      <p:sp>
        <p:nvSpPr>
          <p:cNvPr id="3" name="Rectangle 1">
            <a:extLst>
              <a:ext uri="{FF2B5EF4-FFF2-40B4-BE49-F238E27FC236}">
                <a16:creationId xmlns:a16="http://schemas.microsoft.com/office/drawing/2014/main" id="{6ABC2E3E-DAAF-5A7D-D830-F119B423D025}"/>
              </a:ext>
            </a:extLst>
          </p:cNvPr>
          <p:cNvSpPr>
            <a:spLocks noChangeArrowheads="1"/>
          </p:cNvSpPr>
          <p:nvPr/>
        </p:nvSpPr>
        <p:spPr bwMode="auto">
          <a:xfrm>
            <a:off x="145934" y="877170"/>
            <a:ext cx="11376224" cy="461665"/>
          </a:xfrm>
          <a:prstGeom prst="rect">
            <a:avLst/>
          </a:prstGeom>
        </p:spPr>
        <p:txBody>
          <a:bodyPr wrap="square">
            <a:spAutoFit/>
          </a:bodyPr>
          <a:lstStyle/>
          <a:p>
            <a:pPr marL="522900" indent="-342900" fontAlgn="base">
              <a:spcAft>
                <a:spcPct val="0"/>
              </a:spcAft>
              <a:buClr>
                <a:srgbClr val="002060"/>
              </a:buClr>
              <a:buFont typeface="Wingdings" panose="05000000000000000000" pitchFamily="2" charset="2"/>
              <a:buChar char="Ø"/>
            </a:pP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各组别实验</a:t>
            </a:r>
            <a:endParaRPr lang="zh-CN" altLang="zh-CN" sz="2400" b="1" dirty="0">
              <a:solidFill>
                <a:srgbClr val="006282"/>
              </a:solidFill>
              <a:latin typeface="微软雅黑" panose="020B0503020204020204" pitchFamily="34" charset="-122"/>
              <a:ea typeface="微软雅黑" panose="020B0503020204020204" pitchFamily="34" charset="-122"/>
              <a:cs typeface="Times New Roman" pitchFamily="18" charset="0"/>
            </a:endParaRPr>
          </a:p>
        </p:txBody>
      </p:sp>
      <p:sp>
        <p:nvSpPr>
          <p:cNvPr id="23" name="文本框 22">
            <a:extLst>
              <a:ext uri="{FF2B5EF4-FFF2-40B4-BE49-F238E27FC236}">
                <a16:creationId xmlns:a16="http://schemas.microsoft.com/office/drawing/2014/main" id="{E3750E08-3908-4A8B-A649-A1F4CC7DEFA4}"/>
              </a:ext>
            </a:extLst>
          </p:cNvPr>
          <p:cNvSpPr txBox="1"/>
          <p:nvPr/>
        </p:nvSpPr>
        <p:spPr>
          <a:xfrm>
            <a:off x="2229228" y="6229292"/>
            <a:ext cx="7209635" cy="338554"/>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消融实验证明</a:t>
            </a:r>
            <a:r>
              <a:rPr lang="en-US" altLang="zh-CN" sz="1600" b="1" dirty="0">
                <a:latin typeface="微软雅黑" panose="020B0503020204020204" pitchFamily="34" charset="-122"/>
                <a:ea typeface="微软雅黑" panose="020B0503020204020204" pitchFamily="34" charset="-122"/>
              </a:rPr>
              <a:t>CLIP</a:t>
            </a:r>
            <a:r>
              <a:rPr lang="zh-CN" altLang="en-US" sz="1600" b="1" dirty="0">
                <a:latin typeface="微软雅黑" panose="020B0503020204020204" pitchFamily="34" charset="-122"/>
                <a:ea typeface="微软雅黑" panose="020B0503020204020204" pitchFamily="34" charset="-122"/>
              </a:rPr>
              <a:t>的引入有效地抑制了模型的幻觉，提高了导航的效率</a:t>
            </a:r>
          </a:p>
        </p:txBody>
      </p:sp>
      <p:sp>
        <p:nvSpPr>
          <p:cNvPr id="20" name="文本框 19">
            <a:extLst>
              <a:ext uri="{FF2B5EF4-FFF2-40B4-BE49-F238E27FC236}">
                <a16:creationId xmlns:a16="http://schemas.microsoft.com/office/drawing/2014/main" id="{8523D907-6DA9-45F0-8BCB-9B58493904B2}"/>
              </a:ext>
            </a:extLst>
          </p:cNvPr>
          <p:cNvSpPr txBox="1"/>
          <p:nvPr/>
        </p:nvSpPr>
        <p:spPr>
          <a:xfrm>
            <a:off x="8959734" y="1458566"/>
            <a:ext cx="2921960" cy="1325547"/>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zh-CN" altLang="en-US" sz="1400" b="1" kern="100" dirty="0">
                <a:latin typeface="+mn-ea"/>
                <a:ea typeface="微软雅黑" panose="020B0503020204020204" pitchFamily="34" charset="-122"/>
                <a:cs typeface="Times New Roman" panose="02020603050405020304" pitchFamily="18" charset="0"/>
                <a:sym typeface="+mn-ea"/>
              </a:rPr>
              <a:t>实验数据表明，</a:t>
            </a:r>
            <a:r>
              <a:rPr lang="en-US" altLang="zh-CN" sz="1400" b="1" kern="100" dirty="0">
                <a:latin typeface="+mn-ea"/>
                <a:ea typeface="微软雅黑" panose="020B0503020204020204" pitchFamily="34" charset="-122"/>
                <a:cs typeface="Times New Roman" panose="02020603050405020304" pitchFamily="18" charset="0"/>
                <a:sym typeface="+mn-ea"/>
              </a:rPr>
              <a:t>CLIP</a:t>
            </a:r>
            <a:r>
              <a:rPr lang="zh-CN" altLang="en-US" sz="1400" b="1" kern="100" dirty="0">
                <a:latin typeface="+mn-ea"/>
                <a:ea typeface="微软雅黑" panose="020B0503020204020204" pitchFamily="34" charset="-122"/>
                <a:cs typeface="Times New Roman" panose="02020603050405020304" pitchFamily="18" charset="0"/>
                <a:sym typeface="+mn-ea"/>
              </a:rPr>
              <a:t>语义提示的引入使</a:t>
            </a:r>
            <a:r>
              <a:rPr lang="en-US" altLang="zh-CN" sz="1400" b="1" kern="100" dirty="0">
                <a:latin typeface="+mn-ea"/>
                <a:ea typeface="微软雅黑" panose="020B0503020204020204" pitchFamily="34" charset="-122"/>
                <a:cs typeface="Times New Roman" panose="02020603050405020304" pitchFamily="18" charset="0"/>
                <a:sym typeface="+mn-ea"/>
              </a:rPr>
              <a:t>35B</a:t>
            </a:r>
            <a:r>
              <a:rPr lang="zh-CN" altLang="en-US" sz="1400" b="1" kern="100" dirty="0">
                <a:latin typeface="+mn-ea"/>
                <a:ea typeface="微软雅黑" panose="020B0503020204020204" pitchFamily="34" charset="-122"/>
                <a:cs typeface="Times New Roman" panose="02020603050405020304" pitchFamily="18" charset="0"/>
                <a:sym typeface="+mn-ea"/>
              </a:rPr>
              <a:t>模型的成功率从</a:t>
            </a:r>
            <a:r>
              <a:rPr lang="en-US" altLang="zh-CN" sz="1400" b="1" kern="100" dirty="0">
                <a:latin typeface="+mn-ea"/>
                <a:ea typeface="微软雅黑" panose="020B0503020204020204" pitchFamily="34" charset="-122"/>
                <a:cs typeface="Times New Roman" panose="02020603050405020304" pitchFamily="18" charset="0"/>
                <a:sym typeface="+mn-ea"/>
              </a:rPr>
              <a:t>42.9%</a:t>
            </a:r>
            <a:r>
              <a:rPr lang="zh-CN" altLang="en-US" sz="1400" b="1" kern="100" dirty="0">
                <a:latin typeface="+mn-ea"/>
                <a:ea typeface="微软雅黑" panose="020B0503020204020204" pitchFamily="34" charset="-122"/>
                <a:cs typeface="Times New Roman" panose="02020603050405020304" pitchFamily="18" charset="0"/>
                <a:sym typeface="+mn-ea"/>
              </a:rPr>
              <a:t>提升至</a:t>
            </a:r>
            <a:r>
              <a:rPr lang="en-US" altLang="zh-CN" sz="1400" b="1" kern="100" dirty="0">
                <a:latin typeface="+mn-ea"/>
                <a:ea typeface="微软雅黑" panose="020B0503020204020204" pitchFamily="34" charset="-122"/>
                <a:cs typeface="Times New Roman" panose="02020603050405020304" pitchFamily="18" charset="0"/>
                <a:sym typeface="+mn-ea"/>
              </a:rPr>
              <a:t>80.7%</a:t>
            </a:r>
            <a:r>
              <a:rPr lang="zh-CN" altLang="en-US" sz="1400" b="1" kern="100" dirty="0">
                <a:latin typeface="+mn-ea"/>
                <a:ea typeface="微软雅黑" panose="020B0503020204020204" pitchFamily="34" charset="-122"/>
                <a:cs typeface="Times New Roman" panose="02020603050405020304" pitchFamily="18" charset="0"/>
                <a:sym typeface="+mn-ea"/>
              </a:rPr>
              <a:t>（</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+88%</a:t>
            </a:r>
            <a:r>
              <a:rPr lang="zh-CN" altLang="en-US" sz="1400" b="1" kern="100" dirty="0">
                <a:latin typeface="+mn-ea"/>
                <a:ea typeface="微软雅黑" panose="020B0503020204020204" pitchFamily="34" charset="-122"/>
                <a:cs typeface="Times New Roman" panose="02020603050405020304" pitchFamily="18" charset="0"/>
                <a:sym typeface="+mn-ea"/>
              </a:rPr>
              <a:t>），路径效率</a:t>
            </a:r>
            <a:r>
              <a:rPr lang="en-US" altLang="zh-CN" sz="1400" b="1" kern="100" dirty="0">
                <a:latin typeface="+mn-ea"/>
                <a:ea typeface="微软雅黑" panose="020B0503020204020204" pitchFamily="34" charset="-122"/>
                <a:cs typeface="Times New Roman" panose="02020603050405020304" pitchFamily="18" charset="0"/>
                <a:sym typeface="+mn-ea"/>
              </a:rPr>
              <a:t>SPL</a:t>
            </a:r>
            <a:r>
              <a:rPr lang="zh-CN" altLang="en-US" sz="1400" b="1" kern="100" dirty="0">
                <a:latin typeface="+mn-ea"/>
                <a:ea typeface="微软雅黑" panose="020B0503020204020204" pitchFamily="34" charset="-122"/>
                <a:cs typeface="Times New Roman" panose="02020603050405020304" pitchFamily="18" charset="0"/>
                <a:sym typeface="+mn-ea"/>
              </a:rPr>
              <a:t>从</a:t>
            </a:r>
            <a:r>
              <a:rPr lang="en-US" altLang="zh-CN" sz="1400" b="1" kern="100" dirty="0">
                <a:latin typeface="+mn-ea"/>
                <a:ea typeface="微软雅黑" panose="020B0503020204020204" pitchFamily="34" charset="-122"/>
                <a:cs typeface="Times New Roman" panose="02020603050405020304" pitchFamily="18" charset="0"/>
                <a:sym typeface="+mn-ea"/>
              </a:rPr>
              <a:t>37.3%</a:t>
            </a:r>
            <a:r>
              <a:rPr lang="zh-CN" altLang="en-US" sz="1400" b="1" kern="100" dirty="0">
                <a:latin typeface="+mn-ea"/>
                <a:ea typeface="微软雅黑" panose="020B0503020204020204" pitchFamily="34" charset="-122"/>
                <a:cs typeface="Times New Roman" panose="02020603050405020304" pitchFamily="18" charset="0"/>
                <a:sym typeface="+mn-ea"/>
              </a:rPr>
              <a:t>提升至</a:t>
            </a:r>
            <a:r>
              <a:rPr lang="en-US" altLang="zh-CN" sz="1400" b="1" kern="100" dirty="0">
                <a:latin typeface="+mn-ea"/>
                <a:ea typeface="微软雅黑" panose="020B0503020204020204" pitchFamily="34" charset="-122"/>
                <a:cs typeface="Times New Roman" panose="02020603050405020304" pitchFamily="18" charset="0"/>
                <a:sym typeface="+mn-ea"/>
              </a:rPr>
              <a:t>68.7%</a:t>
            </a:r>
            <a:r>
              <a:rPr lang="zh-CN" altLang="en-US" sz="1400" b="1" kern="100" dirty="0">
                <a:latin typeface="+mn-ea"/>
                <a:ea typeface="微软雅黑" panose="020B0503020204020204" pitchFamily="34" charset="-122"/>
                <a:cs typeface="Times New Roman" panose="02020603050405020304" pitchFamily="18" charset="0"/>
                <a:sym typeface="+mn-ea"/>
              </a:rPr>
              <a:t>（</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+84%</a:t>
            </a:r>
            <a:r>
              <a:rPr lang="zh-CN" altLang="en-US" sz="1400" b="1" kern="100" dirty="0">
                <a:latin typeface="+mn-ea"/>
                <a:ea typeface="微软雅黑" panose="020B0503020204020204" pitchFamily="34" charset="-122"/>
                <a:cs typeface="Times New Roman" panose="02020603050405020304" pitchFamily="18" charset="0"/>
                <a:sym typeface="+mn-ea"/>
              </a:rPr>
              <a:t>），导航误差从</a:t>
            </a:r>
            <a:r>
              <a:rPr lang="en-US" altLang="zh-CN" sz="1400" b="1" kern="100" dirty="0">
                <a:latin typeface="+mn-ea"/>
                <a:ea typeface="微软雅黑" panose="020B0503020204020204" pitchFamily="34" charset="-122"/>
                <a:cs typeface="Times New Roman" panose="02020603050405020304" pitchFamily="18" charset="0"/>
                <a:sym typeface="+mn-ea"/>
              </a:rPr>
              <a:t>15.94m</a:t>
            </a:r>
            <a:r>
              <a:rPr lang="zh-CN" altLang="en-US" sz="1400" b="1" kern="100" dirty="0">
                <a:latin typeface="+mn-ea"/>
                <a:ea typeface="微软雅黑" panose="020B0503020204020204" pitchFamily="34" charset="-122"/>
                <a:cs typeface="Times New Roman" panose="02020603050405020304" pitchFamily="18" charset="0"/>
                <a:sym typeface="+mn-ea"/>
              </a:rPr>
              <a:t>降至</a:t>
            </a:r>
            <a:r>
              <a:rPr lang="en-US" altLang="zh-CN" sz="1400" b="1" kern="100" dirty="0">
                <a:latin typeface="+mn-ea"/>
                <a:ea typeface="微软雅黑" panose="020B0503020204020204" pitchFamily="34" charset="-122"/>
                <a:cs typeface="Times New Roman" panose="02020603050405020304" pitchFamily="18" charset="0"/>
                <a:sym typeface="+mn-ea"/>
              </a:rPr>
              <a:t>9.81m</a:t>
            </a:r>
            <a:r>
              <a:rPr lang="zh-CN" altLang="en-US" sz="1400" b="1" kern="100" dirty="0">
                <a:latin typeface="+mn-ea"/>
                <a:ea typeface="微软雅黑" panose="020B0503020204020204" pitchFamily="34" charset="-122"/>
                <a:cs typeface="Times New Roman" panose="02020603050405020304" pitchFamily="18" charset="0"/>
                <a:sym typeface="+mn-ea"/>
              </a:rPr>
              <a:t>（</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-38.5%</a:t>
            </a:r>
            <a:r>
              <a:rPr lang="zh-CN" altLang="en-US" sz="1400" b="1" kern="100" dirty="0">
                <a:latin typeface="+mn-ea"/>
                <a:ea typeface="微软雅黑" panose="020B0503020204020204" pitchFamily="34" charset="-122"/>
                <a:cs typeface="Times New Roman" panose="02020603050405020304" pitchFamily="18" charset="0"/>
                <a:sym typeface="+mn-ea"/>
              </a:rPr>
              <a:t>），而轨迹长度反而更短（</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41.75m vs 44.01m</a:t>
            </a:r>
            <a:r>
              <a:rPr lang="zh-CN" altLang="en-US" sz="1400" b="1" kern="100" dirty="0">
                <a:latin typeface="+mn-ea"/>
                <a:ea typeface="微软雅黑" panose="020B0503020204020204" pitchFamily="34" charset="-122"/>
                <a:cs typeface="Times New Roman" panose="02020603050405020304" pitchFamily="18" charset="0"/>
                <a:sym typeface="+mn-ea"/>
              </a:rPr>
              <a:t>），充分证明</a:t>
            </a:r>
            <a:r>
              <a:rPr lang="en-US" altLang="zh-CN" sz="1400" b="1" kern="100" dirty="0">
                <a:latin typeface="+mn-ea"/>
                <a:ea typeface="微软雅黑" panose="020B0503020204020204" pitchFamily="34" charset="-122"/>
                <a:cs typeface="Times New Roman" panose="02020603050405020304" pitchFamily="18" charset="0"/>
                <a:sym typeface="+mn-ea"/>
              </a:rPr>
              <a:t>CLIP</a:t>
            </a:r>
            <a:r>
              <a:rPr lang="zh-CN" altLang="en-US" sz="1400" b="1" kern="100" dirty="0">
                <a:latin typeface="+mn-ea"/>
                <a:ea typeface="微软雅黑" panose="020B0503020204020204" pitchFamily="34" charset="-122"/>
                <a:cs typeface="Times New Roman" panose="02020603050405020304" pitchFamily="18" charset="0"/>
                <a:sym typeface="+mn-ea"/>
              </a:rPr>
              <a:t>的空间提示使模型决策更精准、更高效，</a:t>
            </a:r>
            <a:r>
              <a:rPr lang="zh-CN" altLang="en-US" sz="1400" b="1" kern="100" dirty="0">
                <a:solidFill>
                  <a:srgbClr val="FF0000"/>
                </a:solidFill>
                <a:latin typeface="+mn-ea"/>
                <a:ea typeface="微软雅黑" panose="020B0503020204020204" pitchFamily="34" charset="-122"/>
                <a:cs typeface="Times New Roman" panose="02020603050405020304" pitchFamily="18" charset="0"/>
                <a:sym typeface="+mn-ea"/>
              </a:rPr>
              <a:t>有效的抑制了模型的幻觉</a:t>
            </a:r>
            <a:r>
              <a:rPr lang="zh-CN" altLang="en-US" sz="1400" b="1" kern="100" dirty="0">
                <a:latin typeface="+mn-ea"/>
                <a:ea typeface="微软雅黑" panose="020B0503020204020204" pitchFamily="34" charset="-122"/>
                <a:cs typeface="Times New Roman" panose="02020603050405020304" pitchFamily="18" charset="0"/>
                <a:sym typeface="+mn-ea"/>
              </a:rPr>
              <a:t>。</a:t>
            </a:r>
          </a:p>
        </p:txBody>
      </p:sp>
      <p:pic>
        <p:nvPicPr>
          <p:cNvPr id="6" name="图片 5">
            <a:extLst>
              <a:ext uri="{FF2B5EF4-FFF2-40B4-BE49-F238E27FC236}">
                <a16:creationId xmlns:a16="http://schemas.microsoft.com/office/drawing/2014/main" id="{DFEB7A3B-5B43-4CBA-BA5B-BD88A3AD5E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806" y="1338835"/>
            <a:ext cx="8210456" cy="4813300"/>
          </a:xfrm>
          <a:prstGeom prst="rect">
            <a:avLst/>
          </a:prstGeom>
        </p:spPr>
      </p:pic>
    </p:spTree>
    <p:extLst>
      <p:ext uri="{BB962C8B-B14F-4D97-AF65-F5344CB8AC3E}">
        <p14:creationId xmlns:p14="http://schemas.microsoft.com/office/powerpoint/2010/main" val="3543490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05E33B6-39E0-F1D3-4A2C-5FC300325884}"/>
              </a:ext>
            </a:extLst>
          </p:cNvPr>
          <p:cNvSpPr txBox="1"/>
          <p:nvPr/>
        </p:nvSpPr>
        <p:spPr>
          <a:xfrm>
            <a:off x="359229" y="13453"/>
            <a:ext cx="6049508" cy="743986"/>
          </a:xfrm>
          <a:prstGeom prst="rect">
            <a:avLst/>
          </a:prstGeom>
          <a:noFill/>
        </p:spPr>
        <p:txBody>
          <a:bodyPr wrap="square">
            <a:spAutoFit/>
          </a:bodyPr>
          <a:lstStyle>
            <a:defPPr>
              <a:defRPr lang="zh-CN"/>
            </a:defPPr>
            <a:lvl1pPr>
              <a:lnSpc>
                <a:spcPct val="150000"/>
              </a:lnSpc>
              <a:defRPr sz="3200" b="1">
                <a:latin typeface="微软雅黑" panose="020B0503020204020204" pitchFamily="34" charset="-122"/>
                <a:ea typeface="微软雅黑" panose="020B0503020204020204" pitchFamily="34" charset="-122"/>
              </a:defRPr>
            </a:lvl1pPr>
          </a:lstStyle>
          <a:p>
            <a:r>
              <a:rPr lang="zh-CN" altLang="en-US" dirty="0"/>
              <a:t>三、实验结果与分析</a:t>
            </a:r>
            <a:endParaRPr lang="en-US" altLang="zh-CN" dirty="0"/>
          </a:p>
        </p:txBody>
      </p:sp>
      <p:sp>
        <p:nvSpPr>
          <p:cNvPr id="3" name="Rectangle 1">
            <a:extLst>
              <a:ext uri="{FF2B5EF4-FFF2-40B4-BE49-F238E27FC236}">
                <a16:creationId xmlns:a16="http://schemas.microsoft.com/office/drawing/2014/main" id="{6ABC2E3E-DAAF-5A7D-D830-F119B423D025}"/>
              </a:ext>
            </a:extLst>
          </p:cNvPr>
          <p:cNvSpPr>
            <a:spLocks noChangeArrowheads="1"/>
          </p:cNvSpPr>
          <p:nvPr/>
        </p:nvSpPr>
        <p:spPr bwMode="auto">
          <a:xfrm>
            <a:off x="145934" y="877170"/>
            <a:ext cx="11376224" cy="461665"/>
          </a:xfrm>
          <a:prstGeom prst="rect">
            <a:avLst/>
          </a:prstGeom>
        </p:spPr>
        <p:txBody>
          <a:bodyPr wrap="square">
            <a:spAutoFit/>
          </a:bodyPr>
          <a:lstStyle/>
          <a:p>
            <a:pPr marL="522900" indent="-342900" fontAlgn="base">
              <a:spcAft>
                <a:spcPct val="0"/>
              </a:spcAft>
              <a:buClr>
                <a:srgbClr val="002060"/>
              </a:buClr>
              <a:buFont typeface="Wingdings" panose="05000000000000000000" pitchFamily="2" charset="2"/>
              <a:buChar char="Ø"/>
            </a:pPr>
            <a:r>
              <a:rPr lang="zh-CN" altLang="en-US" sz="2400" b="1" dirty="0">
                <a:solidFill>
                  <a:srgbClr val="006282"/>
                </a:solidFill>
                <a:latin typeface="微软雅黑" panose="020B0503020204020204" pitchFamily="34" charset="-122"/>
                <a:ea typeface="微软雅黑" panose="020B0503020204020204" pitchFamily="34" charset="-122"/>
                <a:cs typeface="Times New Roman" pitchFamily="18" charset="0"/>
              </a:rPr>
              <a:t>各组别实验</a:t>
            </a:r>
            <a:endParaRPr lang="zh-CN" altLang="zh-CN" sz="2400" b="1" dirty="0">
              <a:solidFill>
                <a:srgbClr val="006282"/>
              </a:solidFill>
              <a:latin typeface="微软雅黑" panose="020B0503020204020204" pitchFamily="34" charset="-122"/>
              <a:ea typeface="微软雅黑" panose="020B0503020204020204" pitchFamily="34" charset="-122"/>
              <a:cs typeface="Times New Roman" pitchFamily="18" charset="0"/>
            </a:endParaRPr>
          </a:p>
        </p:txBody>
      </p:sp>
      <p:sp>
        <p:nvSpPr>
          <p:cNvPr id="23" name="文本框 22">
            <a:extLst>
              <a:ext uri="{FF2B5EF4-FFF2-40B4-BE49-F238E27FC236}">
                <a16:creationId xmlns:a16="http://schemas.microsoft.com/office/drawing/2014/main" id="{E3750E08-3908-4A8B-A649-A1F4CC7DEFA4}"/>
              </a:ext>
            </a:extLst>
          </p:cNvPr>
          <p:cNvSpPr txBox="1"/>
          <p:nvPr/>
        </p:nvSpPr>
        <p:spPr>
          <a:xfrm>
            <a:off x="2229228" y="6229292"/>
            <a:ext cx="7209635" cy="338554"/>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n-US" altLang="zh-CN" sz="1600" b="1" kern="100" dirty="0">
                <a:latin typeface="+mn-ea"/>
                <a:ea typeface="微软雅黑" panose="020B0503020204020204" pitchFamily="34" charset="-122"/>
                <a:cs typeface="Times New Roman" panose="02020603050405020304" pitchFamily="18" charset="0"/>
                <a:sym typeface="+mn-ea"/>
              </a:rPr>
              <a:t>CLIQ-NAV</a:t>
            </a:r>
            <a:r>
              <a:rPr lang="zh-CN" altLang="en-US" sz="1600" b="1" kern="100" dirty="0">
                <a:latin typeface="+mn-ea"/>
                <a:ea typeface="微软雅黑" panose="020B0503020204020204" pitchFamily="34" charset="-122"/>
                <a:cs typeface="Times New Roman" panose="02020603050405020304" pitchFamily="18" charset="0"/>
                <a:sym typeface="+mn-ea"/>
              </a:rPr>
              <a:t>在本任务上的表现超过了现有的方法</a:t>
            </a:r>
            <a:endParaRPr lang="zh-CN" altLang="en-US" sz="16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8523D907-6DA9-45F0-8BCB-9B58493904B2}"/>
              </a:ext>
            </a:extLst>
          </p:cNvPr>
          <p:cNvSpPr txBox="1"/>
          <p:nvPr/>
        </p:nvSpPr>
        <p:spPr>
          <a:xfrm>
            <a:off x="8959734" y="1458566"/>
            <a:ext cx="2921960" cy="1325547"/>
          </a:xfrm>
          <a:prstGeom prst="rect">
            <a:avLst/>
          </a:prstGeom>
          <a:noFill/>
        </p:spPr>
        <p:txBody>
          <a:bodyPr wrap="square" rtlCol="0" anchor="t">
            <a:noAutofit/>
          </a:bodyPr>
          <a:lstStyle/>
          <a:p>
            <a:pPr marL="285750" indent="-285750" algn="just">
              <a:lnSpc>
                <a:spcPct val="150000"/>
              </a:lnSpc>
              <a:buFont typeface="Wingdings" panose="05000000000000000000" charset="0"/>
              <a:buChar char="p"/>
            </a:pPr>
            <a:r>
              <a:rPr lang="zh-CN" altLang="en-US" sz="1400" b="1" kern="100" dirty="0">
                <a:latin typeface="+mn-ea"/>
                <a:ea typeface="微软雅黑" panose="020B0503020204020204" pitchFamily="34" charset="-122"/>
                <a:cs typeface="Times New Roman" panose="02020603050405020304" pitchFamily="18" charset="0"/>
                <a:sym typeface="+mn-ea"/>
              </a:rPr>
              <a:t>我们将</a:t>
            </a:r>
            <a:r>
              <a:rPr lang="en-US" altLang="zh-CN" sz="1400" b="1" kern="100" dirty="0">
                <a:latin typeface="+mn-ea"/>
                <a:ea typeface="微软雅黑" panose="020B0503020204020204" pitchFamily="34" charset="-122"/>
                <a:cs typeface="Times New Roman" panose="02020603050405020304" pitchFamily="18" charset="0"/>
                <a:sym typeface="+mn-ea"/>
              </a:rPr>
              <a:t>CLIQ-NAV</a:t>
            </a:r>
            <a:r>
              <a:rPr lang="zh-CN" altLang="en-US" sz="1400" b="1" kern="100" dirty="0">
                <a:latin typeface="+mn-ea"/>
                <a:ea typeface="微软雅黑" panose="020B0503020204020204" pitchFamily="34" charset="-122"/>
                <a:cs typeface="Times New Roman" panose="02020603050405020304" pitchFamily="18" charset="0"/>
                <a:sym typeface="+mn-ea"/>
              </a:rPr>
              <a:t>与三种近期提出的、代表不同导航范式的方法进行了对比。</a:t>
            </a:r>
            <a:r>
              <a:rPr lang="en-US" altLang="zh-CN" sz="1400" b="1" kern="100" dirty="0">
                <a:latin typeface="+mn-ea"/>
                <a:ea typeface="微软雅黑" panose="020B0503020204020204" pitchFamily="34" charset="-122"/>
                <a:cs typeface="Times New Roman" panose="02020603050405020304" pitchFamily="18" charset="0"/>
                <a:sym typeface="+mn-ea"/>
              </a:rPr>
              <a:t>CLIQ-NAV</a:t>
            </a:r>
            <a:r>
              <a:rPr lang="zh-CN" altLang="en-US" sz="1400" b="1" kern="100" dirty="0">
                <a:latin typeface="+mn-ea"/>
                <a:ea typeface="微软雅黑" panose="020B0503020204020204" pitchFamily="34" charset="-122"/>
                <a:cs typeface="Times New Roman" panose="02020603050405020304" pitchFamily="18" charset="0"/>
                <a:sym typeface="+mn-ea"/>
              </a:rPr>
              <a:t>取得了</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80.7</a:t>
            </a:r>
            <a:r>
              <a:rPr lang="en-US" altLang="zh-CN" sz="1400" b="1" kern="100" dirty="0">
                <a:latin typeface="+mn-ea"/>
                <a:ea typeface="微软雅黑" panose="020B0503020204020204" pitchFamily="34" charset="-122"/>
                <a:cs typeface="Times New Roman" panose="02020603050405020304" pitchFamily="18" charset="0"/>
                <a:sym typeface="+mn-ea"/>
              </a:rPr>
              <a:t>%</a:t>
            </a:r>
            <a:r>
              <a:rPr lang="zh-CN" altLang="en-US" sz="1400" b="1" kern="100" dirty="0">
                <a:latin typeface="+mn-ea"/>
                <a:ea typeface="微软雅黑" panose="020B0503020204020204" pitchFamily="34" charset="-122"/>
                <a:cs typeface="Times New Roman" panose="02020603050405020304" pitchFamily="18" charset="0"/>
                <a:sym typeface="+mn-ea"/>
              </a:rPr>
              <a:t>的</a:t>
            </a:r>
            <a:r>
              <a:rPr lang="en-US" altLang="zh-CN" sz="1400" b="1" kern="100" dirty="0">
                <a:latin typeface="+mn-ea"/>
                <a:ea typeface="微软雅黑" panose="020B0503020204020204" pitchFamily="34" charset="-122"/>
                <a:cs typeface="Times New Roman" panose="02020603050405020304" pitchFamily="18" charset="0"/>
                <a:sym typeface="+mn-ea"/>
              </a:rPr>
              <a:t>SR</a:t>
            </a:r>
            <a:r>
              <a:rPr lang="zh-CN" altLang="en-US" sz="1400" b="1" kern="100" dirty="0">
                <a:latin typeface="+mn-ea"/>
                <a:ea typeface="微软雅黑" panose="020B0503020204020204" pitchFamily="34" charset="-122"/>
                <a:cs typeface="Times New Roman" panose="02020603050405020304" pitchFamily="18" charset="0"/>
                <a:sym typeface="+mn-ea"/>
              </a:rPr>
              <a:t>，分别以超过</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48</a:t>
            </a:r>
            <a:r>
              <a:rPr lang="zh-CN" altLang="en-US" sz="1400" b="1" kern="100" dirty="0">
                <a:solidFill>
                  <a:srgbClr val="FF0000"/>
                </a:solidFill>
                <a:latin typeface="+mn-ea"/>
                <a:ea typeface="微软雅黑" panose="020B0503020204020204" pitchFamily="34" charset="-122"/>
                <a:cs typeface="Times New Roman" panose="02020603050405020304" pitchFamily="18" charset="0"/>
                <a:sym typeface="+mn-ea"/>
              </a:rPr>
              <a:t>个百分点</a:t>
            </a:r>
            <a:r>
              <a:rPr lang="zh-CN" altLang="en-US" sz="1400" b="1" kern="100" dirty="0">
                <a:latin typeface="+mn-ea"/>
                <a:ea typeface="微软雅黑" panose="020B0503020204020204" pitchFamily="34" charset="-122"/>
                <a:cs typeface="Times New Roman" panose="02020603050405020304" pitchFamily="18" charset="0"/>
                <a:sym typeface="+mn-ea"/>
              </a:rPr>
              <a:t>的优势优于</a:t>
            </a:r>
            <a:r>
              <a:rPr lang="en-US" altLang="zh-CN" sz="1400" b="1" kern="100" dirty="0" err="1">
                <a:latin typeface="+mn-ea"/>
                <a:ea typeface="微软雅黑" panose="020B0503020204020204" pitchFamily="34" charset="-122"/>
                <a:cs typeface="Times New Roman" panose="02020603050405020304" pitchFamily="18" charset="0"/>
                <a:sym typeface="+mn-ea"/>
              </a:rPr>
              <a:t>CityNavAgent</a:t>
            </a:r>
            <a:r>
              <a:rPr lang="zh-CN" altLang="en-US" sz="1400" b="1" kern="100" dirty="0">
                <a:latin typeface="+mn-ea"/>
                <a:ea typeface="微软雅黑" panose="020B0503020204020204" pitchFamily="34" charset="-122"/>
                <a:cs typeface="Times New Roman" panose="02020603050405020304" pitchFamily="18" charset="0"/>
                <a:sym typeface="+mn-ea"/>
              </a:rPr>
              <a:t>（</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32.1%</a:t>
            </a:r>
            <a:r>
              <a:rPr lang="zh-CN" altLang="en-US" sz="1400" b="1" kern="100" dirty="0">
                <a:latin typeface="+mn-ea"/>
                <a:ea typeface="微软雅黑" panose="020B0503020204020204" pitchFamily="34" charset="-122"/>
                <a:cs typeface="Times New Roman" panose="02020603050405020304" pitchFamily="18" charset="0"/>
                <a:sym typeface="+mn-ea"/>
              </a:rPr>
              <a:t>，基于拓扑记忆的层次化规划）、</a:t>
            </a:r>
            <a:r>
              <a:rPr lang="en-US" altLang="zh-CN" sz="1400" b="1" kern="100" dirty="0" err="1">
                <a:latin typeface="+mn-ea"/>
                <a:ea typeface="微软雅黑" panose="020B0503020204020204" pitchFamily="34" charset="-122"/>
                <a:cs typeface="Times New Roman" panose="02020603050405020304" pitchFamily="18" charset="0"/>
                <a:sym typeface="+mn-ea"/>
              </a:rPr>
              <a:t>AerialVLA</a:t>
            </a:r>
            <a:r>
              <a:rPr lang="zh-CN" altLang="en-US" sz="1400" b="1" kern="100" dirty="0">
                <a:latin typeface="+mn-ea"/>
                <a:ea typeface="微软雅黑" panose="020B0503020204020204" pitchFamily="34" charset="-122"/>
                <a:cs typeface="Times New Roman" panose="02020603050405020304" pitchFamily="18" charset="0"/>
                <a:sym typeface="+mn-ea"/>
              </a:rPr>
              <a:t>（</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17.9%</a:t>
            </a:r>
            <a:r>
              <a:rPr lang="zh-CN" altLang="en-US" sz="1400" b="1" kern="100" dirty="0">
                <a:latin typeface="+mn-ea"/>
                <a:ea typeface="微软雅黑" panose="020B0503020204020204" pitchFamily="34" charset="-122"/>
                <a:cs typeface="Times New Roman" panose="02020603050405020304" pitchFamily="18" charset="0"/>
                <a:sym typeface="+mn-ea"/>
              </a:rPr>
              <a:t>，端到端</a:t>
            </a:r>
            <a:r>
              <a:rPr lang="en-US" altLang="zh-CN" sz="1400" b="1" kern="100" dirty="0">
                <a:latin typeface="+mn-ea"/>
                <a:ea typeface="微软雅黑" panose="020B0503020204020204" pitchFamily="34" charset="-122"/>
                <a:cs typeface="Times New Roman" panose="02020603050405020304" pitchFamily="18" charset="0"/>
                <a:sym typeface="+mn-ea"/>
              </a:rPr>
              <a:t>VLA</a:t>
            </a:r>
            <a:r>
              <a:rPr lang="zh-CN" altLang="en-US" sz="1400" b="1" kern="100" dirty="0">
                <a:latin typeface="+mn-ea"/>
                <a:ea typeface="微软雅黑" panose="020B0503020204020204" pitchFamily="34" charset="-122"/>
                <a:cs typeface="Times New Roman" panose="02020603050405020304" pitchFamily="18" charset="0"/>
                <a:sym typeface="+mn-ea"/>
              </a:rPr>
              <a:t>）和</a:t>
            </a:r>
            <a:r>
              <a:rPr lang="en-US" altLang="zh-CN" sz="1400" b="1" kern="100" dirty="0" err="1">
                <a:latin typeface="+mn-ea"/>
                <a:ea typeface="微软雅黑" panose="020B0503020204020204" pitchFamily="34" charset="-122"/>
                <a:cs typeface="Times New Roman" panose="02020603050405020304" pitchFamily="18" charset="0"/>
                <a:sym typeface="+mn-ea"/>
              </a:rPr>
              <a:t>FineCog</a:t>
            </a:r>
            <a:r>
              <a:rPr lang="en-US" altLang="zh-CN" sz="1400" b="1" kern="100" dirty="0">
                <a:latin typeface="+mn-ea"/>
                <a:ea typeface="微软雅黑" panose="020B0503020204020204" pitchFamily="34" charset="-122"/>
                <a:cs typeface="Times New Roman" panose="02020603050405020304" pitchFamily="18" charset="0"/>
                <a:sym typeface="+mn-ea"/>
              </a:rPr>
              <a:t>-Nav</a:t>
            </a:r>
            <a:r>
              <a:rPr lang="zh-CN" altLang="en-US" sz="1400" b="1" kern="100" dirty="0">
                <a:latin typeface="+mn-ea"/>
                <a:ea typeface="微软雅黑" panose="020B0503020204020204" pitchFamily="34" charset="-122"/>
                <a:cs typeface="Times New Roman" panose="02020603050405020304" pitchFamily="18" charset="0"/>
                <a:sym typeface="+mn-ea"/>
              </a:rPr>
              <a:t>（</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2.9%</a:t>
            </a:r>
            <a:r>
              <a:rPr lang="zh-CN" altLang="en-US" sz="1400" b="1" kern="100" dirty="0">
                <a:latin typeface="+mn-ea"/>
                <a:ea typeface="微软雅黑" panose="020B0503020204020204" pitchFamily="34" charset="-122"/>
                <a:cs typeface="Times New Roman" panose="02020603050405020304" pitchFamily="18" charset="0"/>
                <a:sym typeface="+mn-ea"/>
              </a:rPr>
              <a:t>，模块化认知推理）。</a:t>
            </a:r>
            <a:r>
              <a:rPr lang="en-US" altLang="zh-CN" sz="1400" b="1" kern="100" dirty="0">
                <a:latin typeface="+mn-ea"/>
                <a:ea typeface="微软雅黑" panose="020B0503020204020204" pitchFamily="34" charset="-122"/>
                <a:cs typeface="Times New Roman" panose="02020603050405020304" pitchFamily="18" charset="0"/>
                <a:sym typeface="+mn-ea"/>
              </a:rPr>
              <a:t>SPL</a:t>
            </a:r>
            <a:r>
              <a:rPr lang="zh-CN" altLang="en-US" sz="1400" b="1" kern="100" dirty="0">
                <a:latin typeface="+mn-ea"/>
                <a:ea typeface="微软雅黑" panose="020B0503020204020204" pitchFamily="34" charset="-122"/>
                <a:cs typeface="Times New Roman" panose="02020603050405020304" pitchFamily="18" charset="0"/>
                <a:sym typeface="+mn-ea"/>
              </a:rPr>
              <a:t>优势同样显著（</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68.7%</a:t>
            </a:r>
            <a:r>
              <a:rPr lang="zh-CN" altLang="en-US" sz="1400" b="1" kern="100" dirty="0">
                <a:solidFill>
                  <a:srgbClr val="FF0000"/>
                </a:solidFill>
                <a:latin typeface="+mn-ea"/>
                <a:ea typeface="微软雅黑" panose="020B0503020204020204" pitchFamily="34" charset="-122"/>
                <a:cs typeface="Times New Roman" panose="02020603050405020304" pitchFamily="18" charset="0"/>
                <a:sym typeface="+mn-ea"/>
              </a:rPr>
              <a:t>对比</a:t>
            </a:r>
            <a:r>
              <a:rPr lang="en-US" altLang="zh-CN" sz="1400" b="1" kern="100" dirty="0">
                <a:solidFill>
                  <a:srgbClr val="FF0000"/>
                </a:solidFill>
                <a:latin typeface="+mn-ea"/>
                <a:ea typeface="微软雅黑" panose="020B0503020204020204" pitchFamily="34" charset="-122"/>
                <a:cs typeface="Times New Roman" panose="02020603050405020304" pitchFamily="18" charset="0"/>
                <a:sym typeface="+mn-ea"/>
              </a:rPr>
              <a:t>16.0%–31.4%</a:t>
            </a:r>
            <a:r>
              <a:rPr lang="zh-CN" altLang="en-US" sz="1400" b="1" kern="100" dirty="0">
                <a:latin typeface="+mn-ea"/>
                <a:ea typeface="微软雅黑" panose="020B0503020204020204" pitchFamily="34" charset="-122"/>
                <a:cs typeface="Times New Roman" panose="02020603050405020304" pitchFamily="18" charset="0"/>
                <a:sym typeface="+mn-ea"/>
              </a:rPr>
              <a:t>）。</a:t>
            </a:r>
          </a:p>
        </p:txBody>
      </p:sp>
      <p:pic>
        <p:nvPicPr>
          <p:cNvPr id="5" name="图片 4">
            <a:extLst>
              <a:ext uri="{FF2B5EF4-FFF2-40B4-BE49-F238E27FC236}">
                <a16:creationId xmlns:a16="http://schemas.microsoft.com/office/drawing/2014/main" id="{8B4BD141-AB8E-4E68-9AA5-35177AC937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0306" y="1338835"/>
            <a:ext cx="8638185" cy="4574303"/>
          </a:xfrm>
          <a:prstGeom prst="rect">
            <a:avLst/>
          </a:prstGeom>
        </p:spPr>
      </p:pic>
    </p:spTree>
    <p:extLst>
      <p:ext uri="{BB962C8B-B14F-4D97-AF65-F5344CB8AC3E}">
        <p14:creationId xmlns:p14="http://schemas.microsoft.com/office/powerpoint/2010/main" val="1936647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631950"/>
            <a:ext cx="12192000" cy="2566628"/>
          </a:xfrm>
          <a:prstGeom prst="rect">
            <a:avLst/>
          </a:prstGeom>
          <a:solidFill>
            <a:srgbClr val="083160">
              <a:alpha val="81000"/>
            </a:srgb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2">
            <a:alphaModFix amt="20000"/>
            <a:extLst>
              <a:ext uri="{BEBA8EAE-BF5A-486C-A8C5-ECC9F3942E4B}">
                <a14:imgProps xmlns:a14="http://schemas.microsoft.com/office/drawing/2010/main">
                  <a14:imgLayer r:embed="rId3">
                    <a14:imgEffect>
                      <a14:brightnessContrast bright="15000" contrast="15000"/>
                    </a14:imgEffect>
                    <a14:imgEffect>
                      <a14:colorTemperature colorTemp="6859"/>
                    </a14:imgEffect>
                    <a14:imgEffect>
                      <a14:saturation sat="195000"/>
                    </a14:imgEffect>
                    <a14:imgEffect>
                      <a14:sharpenSoften amount="4000"/>
                    </a14:imgEffect>
                  </a14:imgLayer>
                </a14:imgProps>
              </a:ext>
            </a:extLst>
          </a:blip>
          <a:srcRect l="712" r="763"/>
          <a:stretch>
            <a:fillRect/>
          </a:stretch>
        </p:blipFill>
        <p:spPr>
          <a:xfrm>
            <a:off x="0" y="1631950"/>
            <a:ext cx="12191999" cy="2554383"/>
          </a:xfrm>
          <a:prstGeom prst="rect">
            <a:avLst/>
          </a:prstGeom>
          <a:ln>
            <a:noFill/>
          </a:ln>
          <a:effectLst>
            <a:outerShdw dist="50800" dir="2520000" algn="ctr" rotWithShape="0">
              <a:srgbClr val="000000"/>
            </a:outerShdw>
            <a:softEdge rad="0"/>
          </a:effectLst>
        </p:spPr>
      </p:pic>
      <p:sp>
        <p:nvSpPr>
          <p:cNvPr id="5" name="文本框 14"/>
          <p:cNvSpPr txBox="1">
            <a:spLocks noChangeArrowheads="1"/>
          </p:cNvSpPr>
          <p:nvPr/>
        </p:nvSpPr>
        <p:spPr bwMode="auto">
          <a:xfrm>
            <a:off x="1730938" y="1946398"/>
            <a:ext cx="8730343"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defTabSz="45720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defTabSz="4572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4572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defTabSz="4572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lnSpc>
                <a:spcPct val="150000"/>
              </a:lnSpc>
              <a:spcBef>
                <a:spcPct val="0"/>
              </a:spcBef>
              <a:buFontTx/>
              <a:buNone/>
            </a:pPr>
            <a:r>
              <a:rPr lang="zh-CN" altLang="en-US" sz="4000" b="1" spc="200" dirty="0">
                <a:solidFill>
                  <a:schemeClr val="bg1"/>
                </a:solidFill>
                <a:latin typeface="黑体" panose="02010609060101010101" pitchFamily="49" charset="-122"/>
                <a:ea typeface="黑体" panose="02010609060101010101" pitchFamily="49" charset="-122"/>
              </a:rPr>
              <a:t>感谢各位聆听！</a:t>
            </a:r>
          </a:p>
          <a:p>
            <a:pPr algn="ctr">
              <a:lnSpc>
                <a:spcPct val="150000"/>
              </a:lnSpc>
              <a:spcBef>
                <a:spcPct val="0"/>
              </a:spcBef>
              <a:buFontTx/>
              <a:buNone/>
            </a:pPr>
            <a:r>
              <a:rPr lang="zh-CN" altLang="en-US" sz="4000" b="1" spc="200" dirty="0">
                <a:solidFill>
                  <a:schemeClr val="bg1"/>
                </a:solidFill>
                <a:latin typeface="黑体" panose="02010609060101010101" pitchFamily="49" charset="-122"/>
                <a:ea typeface="黑体" panose="02010609060101010101" pitchFamily="49" charset="-122"/>
              </a:rPr>
              <a:t>敬请批评指正！</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H" val="20161207175456"/>
  <p:tag name="MH_LIBRARY" val="GRAPHIC"/>
  <p:tag name="MH_ORDER" val="Freeform 13"/>
</p:tagLst>
</file>

<file path=ppt/tags/tag2.xml><?xml version="1.0" encoding="utf-8"?>
<p:tagLst xmlns:a="http://schemas.openxmlformats.org/drawingml/2006/main" xmlns:r="http://schemas.openxmlformats.org/officeDocument/2006/relationships" xmlns:p="http://schemas.openxmlformats.org/presentationml/2006/main">
  <p:tag name="MH" val="20161207175456"/>
  <p:tag name="MH_LIBRARY" val="GRAPHIC"/>
  <p:tag name="MH_ORDER" val="Freeform 14"/>
</p:tagLst>
</file>

<file path=ppt/tags/tag3.xml><?xml version="1.0" encoding="utf-8"?>
<p:tagLst xmlns:a="http://schemas.openxmlformats.org/drawingml/2006/main" xmlns:r="http://schemas.openxmlformats.org/officeDocument/2006/relationships" xmlns:p="http://schemas.openxmlformats.org/presentationml/2006/main">
  <p:tag name="MH" val="20161207175456"/>
  <p:tag name="MH_LIBRARY" val="GRAPHIC"/>
  <p:tag name="MH_ORDER" val="Freeform 17"/>
</p:tagLst>
</file>

<file path=ppt/tags/tag4.xml><?xml version="1.0" encoding="utf-8"?>
<p:tagLst xmlns:a="http://schemas.openxmlformats.org/drawingml/2006/main" xmlns:r="http://schemas.openxmlformats.org/officeDocument/2006/relationships" xmlns:p="http://schemas.openxmlformats.org/presentationml/2006/main">
  <p:tag name="MH" val="20161207175456"/>
  <p:tag name="MH_LIBRARY" val="GRAPHIC"/>
  <p:tag name="MH_ORDER" val="Freeform 18"/>
</p:tagLst>
</file>

<file path=ppt/tags/tag5.xml><?xml version="1.0" encoding="utf-8"?>
<p:tagLst xmlns:a="http://schemas.openxmlformats.org/drawingml/2006/main" xmlns:r="http://schemas.openxmlformats.org/officeDocument/2006/relationships" xmlns:p="http://schemas.openxmlformats.org/presentationml/2006/main">
  <p:tag name="MH" val="20161207175456"/>
  <p:tag name="MH_LIBRARY" val="GRAPHIC"/>
  <p:tag name="MH_ORDER" val="Freeform 19"/>
</p:tagLst>
</file>

<file path=ppt/tags/tag6.xml><?xml version="1.0" encoding="utf-8"?>
<p:tagLst xmlns:a="http://schemas.openxmlformats.org/drawingml/2006/main" xmlns:r="http://schemas.openxmlformats.org/officeDocument/2006/relationships" xmlns:p="http://schemas.openxmlformats.org/presentationml/2006/main">
  <p:tag name="MH" val="20161207175456"/>
  <p:tag name="MH_LIBRARY" val="GRAPHIC"/>
  <p:tag name="MH_ORDER" val="Freeform 2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跋涉">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纸张">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华丽">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20987</TotalTime>
  <Words>1186</Words>
  <Application>Microsoft Office PowerPoint</Application>
  <PresentationFormat>宽屏</PresentationFormat>
  <Paragraphs>59</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黑体</vt:lpstr>
      <vt:lpstr>华文新魏</vt:lpstr>
      <vt:lpstr>微软雅黑</vt:lpstr>
      <vt:lpstr>Calibri</vt:lpstr>
      <vt:lpstr>Cambria Math</vt:lpstr>
      <vt:lpstr>Constantia</vt:lpstr>
      <vt:lpstr>Times New Roman</vt:lpstr>
      <vt:lpstr>Wingdings</vt:lpstr>
      <vt:lpstr>Wingdings 2</vt:lpstr>
      <vt:lpstr>1_跋涉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watertek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yamin zhang</dc:creator>
  <cp:lastModifiedBy>BC Yang</cp:lastModifiedBy>
  <cp:revision>1896</cp:revision>
  <cp:lastPrinted>2016-08-04T11:16:07Z</cp:lastPrinted>
  <dcterms:created xsi:type="dcterms:W3CDTF">2016-06-20T10:40:55Z</dcterms:created>
  <dcterms:modified xsi:type="dcterms:W3CDTF">2026-07-05T07:22:40Z</dcterms:modified>
</cp:coreProperties>
</file>
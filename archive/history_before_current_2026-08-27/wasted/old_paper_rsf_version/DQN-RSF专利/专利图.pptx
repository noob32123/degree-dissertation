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F5BB2-056F-8AD0-7383-A46615920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85B988-EBFA-D5A7-8849-B24B9D1EF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567992-21B4-E8FD-1AC0-29365555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97DAE6-C95A-D7D2-23CD-E5E43E9C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2CDDC-F0C5-F572-A149-D33281C5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28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3F44A-5CA9-B07C-8D9B-BD6F0F2F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E2013C-E5CA-DC08-E915-DD86634ED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66D8A-D9C8-03B3-8C82-40A3064A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3693F-4792-9B83-E983-A5B94283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053C3-7C1A-DAB8-EBE3-963FEFB8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97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B771B-33E9-2223-F251-D72658C4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1460D8-A3AC-F60D-695E-AA34F6859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1E1E2-ABC1-69F8-7E4B-8242B65B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C7D3C-860E-BB97-EF22-B354C6FD4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095049-FE6A-7C08-030E-2BEE4A94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5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5BA47-CFB7-2584-A7E7-C3260A8C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F3819D-A0F8-14E6-CB87-6D6785DA1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0EC417-E6C3-B123-38CC-E89E37250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A3DB2F-ADCB-5DEE-8676-97A53651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7EC23A-EB68-DC7A-A623-FA0CC7DB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4907E-7293-DADD-91C2-5076D66F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4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F18B2-4157-7F70-DEFD-1F8D4C9A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7C5915-33A0-6CDE-7EA9-B09CB34C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A12C62-23AC-057C-0393-3E431078C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B904F4-B274-6686-E97A-FF5E90EE7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92A30B-D7FC-CD09-416E-E394B4CB9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29ED67-F3C6-4A01-30E9-C7246B55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FD7AF1-AF78-3879-3EC6-EC910B74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89950F-B520-3A8B-26C5-D73ABD3D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17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05214-1461-264C-DCC6-0BFBC33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DA1A8A-A243-7D72-A4BF-2CF4F114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E0F9B6-46DF-00AB-A6CE-A536F900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527858-55DD-DA4C-5F52-145B1CA7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3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B867E3-9390-969D-F345-B9DEFA4C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E1D93A-D0F4-7AF7-9A5C-166D2838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DBE0C-4E36-14B9-B43C-F230094E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44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99A36-59CA-F73F-1980-C345DCFA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E97CE-6C98-C61F-FE80-ADD8E0971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2A65C-4A48-7626-C684-DE1619005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C0ADA-3AF8-8A73-2155-868CA114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C92B97-1B13-5C44-2AAD-CEB7555DB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6D72FB-CEC7-5B6B-2C0A-7F469A02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12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89687-CD48-23D4-1502-0F4E52A5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F493FF-1E66-6375-EF56-415D6FE29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378258-61D4-DCF3-CB6E-217AFB5B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4FB1AB-4740-27E7-290E-A101660F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8BD559-FE6F-8693-1412-AFE94EA6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E9133-4659-5351-F839-70C26186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91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F6033-CE6D-1B34-8E4D-556D5645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BC0CF9-ABFA-3CA3-9D26-06176F9DE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D11075-C3BD-74AA-56A8-BF269C2F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4573D4-F25D-13B7-8127-C22D4DDA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D3191-639F-9EA7-014D-946EDE91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51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A9C3FC-F8D6-B382-C07B-173DB316F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F624D5-B1BB-7CCD-D988-2022D1511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984D1-A886-5259-EFDC-3FCE4535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67EB5-72D0-CD48-6FD8-62D6154A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BC786-CEB0-658A-61D1-F7293DBE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63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4EE3AF-E108-CE76-40D5-9CD421FA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26F78-A602-093B-4E58-35858A47B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60BDC-1559-7C0D-E393-4B605C690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15B79-EF31-481E-BAAB-9D7ADFC34E9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4E060-B894-D055-6053-2116282BF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513135-8B92-B2FA-1A44-4DA0CD8FB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70A6C-5A0B-41B2-A820-0B0E66371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4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E86081F-890A-47CF-5C39-C882CB959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10134" y="1200150"/>
            <a:ext cx="922211" cy="8953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7402C4-E7DD-C4E5-F6C0-71E70DF69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40" y="4352733"/>
            <a:ext cx="922211" cy="922211"/>
          </a:xfrm>
          <a:prstGeom prst="rect">
            <a:avLst/>
          </a:prstGeom>
        </p:spPr>
      </p:pic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8AF56E25-DFB4-9D9D-3933-C62256995EF7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rot="5400000" flipH="1" flipV="1">
            <a:off x="3671936" y="1614535"/>
            <a:ext cx="2704908" cy="277148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9B1666C1-FFCB-0A26-B5FA-F5CFE4397362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rot="5400000">
            <a:off x="4126326" y="2068925"/>
            <a:ext cx="2718339" cy="27714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ACF3981-8C72-8A43-7D8F-5AB761E4AEC5}"/>
              </a:ext>
            </a:extLst>
          </p:cNvPr>
          <p:cNvSpPr txBox="1"/>
          <p:nvPr/>
        </p:nvSpPr>
        <p:spPr>
          <a:xfrm rot="18894898">
            <a:off x="2402505" y="2178069"/>
            <a:ext cx="4098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Attitude Control and State Monitoring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C69435-E9D1-4B54-59D9-6F8B7717F770}"/>
              </a:ext>
            </a:extLst>
          </p:cNvPr>
          <p:cNvSpPr txBox="1"/>
          <p:nvPr/>
        </p:nvSpPr>
        <p:spPr>
          <a:xfrm rot="18894898">
            <a:off x="4188751" y="3737738"/>
            <a:ext cx="4098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from Earth Observation Imaging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5A61728-B7BB-66A9-8298-F44A84329939}"/>
              </a:ext>
            </a:extLst>
          </p:cNvPr>
          <p:cNvCxnSpPr>
            <a:cxnSpLocks/>
          </p:cNvCxnSpPr>
          <p:nvPr/>
        </p:nvCxnSpPr>
        <p:spPr>
          <a:xfrm>
            <a:off x="2716434" y="4446173"/>
            <a:ext cx="1125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264AB6C-E5AE-11B9-A398-8DE3143F565D}"/>
              </a:ext>
            </a:extLst>
          </p:cNvPr>
          <p:cNvCxnSpPr>
            <a:cxnSpLocks/>
          </p:cNvCxnSpPr>
          <p:nvPr/>
        </p:nvCxnSpPr>
        <p:spPr>
          <a:xfrm flipV="1">
            <a:off x="3841662" y="1647825"/>
            <a:ext cx="2626648" cy="2798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FBF803D-112A-DD05-0FA6-CEBAEFCD89B2}"/>
              </a:ext>
            </a:extLst>
          </p:cNvPr>
          <p:cNvCxnSpPr>
            <a:cxnSpLocks/>
          </p:cNvCxnSpPr>
          <p:nvPr/>
        </p:nvCxnSpPr>
        <p:spPr>
          <a:xfrm flipV="1">
            <a:off x="6468310" y="734308"/>
            <a:ext cx="0" cy="9135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9D5DC9F-5D82-B412-3B27-E9CF195EDBD1}"/>
              </a:ext>
            </a:extLst>
          </p:cNvPr>
          <p:cNvCxnSpPr>
            <a:cxnSpLocks/>
          </p:cNvCxnSpPr>
          <p:nvPr/>
        </p:nvCxnSpPr>
        <p:spPr>
          <a:xfrm flipV="1">
            <a:off x="2716434" y="772287"/>
            <a:ext cx="0" cy="36738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B99683C-06D9-2CAA-DD7C-A8153BD1B06D}"/>
              </a:ext>
            </a:extLst>
          </p:cNvPr>
          <p:cNvCxnSpPr>
            <a:cxnSpLocks/>
          </p:cNvCxnSpPr>
          <p:nvPr/>
        </p:nvCxnSpPr>
        <p:spPr>
          <a:xfrm flipV="1">
            <a:off x="2716433" y="734308"/>
            <a:ext cx="3751877" cy="379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E236EC9-6629-67AC-A14E-03015C9AB252}"/>
              </a:ext>
            </a:extLst>
          </p:cNvPr>
          <p:cNvCxnSpPr>
            <a:cxnSpLocks/>
          </p:cNvCxnSpPr>
          <p:nvPr/>
        </p:nvCxnSpPr>
        <p:spPr>
          <a:xfrm rot="5400000">
            <a:off x="3514020" y="5335556"/>
            <a:ext cx="1125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8BC2749-C966-9D4F-FC5D-A53968303379}"/>
              </a:ext>
            </a:extLst>
          </p:cNvPr>
          <p:cNvCxnSpPr>
            <a:cxnSpLocks/>
          </p:cNvCxnSpPr>
          <p:nvPr/>
        </p:nvCxnSpPr>
        <p:spPr>
          <a:xfrm flipV="1">
            <a:off x="4085285" y="1974595"/>
            <a:ext cx="2626648" cy="2798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8440868-E603-A430-BE64-FFA23BEDA369}"/>
              </a:ext>
            </a:extLst>
          </p:cNvPr>
          <p:cNvCxnSpPr>
            <a:cxnSpLocks/>
          </p:cNvCxnSpPr>
          <p:nvPr/>
        </p:nvCxnSpPr>
        <p:spPr>
          <a:xfrm rot="5400000" flipV="1">
            <a:off x="7168691" y="1517837"/>
            <a:ext cx="0" cy="9135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F07558ED-21AC-96AF-C2A5-5F70C780135E}"/>
              </a:ext>
            </a:extLst>
          </p:cNvPr>
          <p:cNvCxnSpPr>
            <a:cxnSpLocks/>
          </p:cNvCxnSpPr>
          <p:nvPr/>
        </p:nvCxnSpPr>
        <p:spPr>
          <a:xfrm flipV="1">
            <a:off x="4099751" y="5884800"/>
            <a:ext cx="3572373" cy="173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DBB27D5-4701-DD5F-CD11-30F9939A8FA9}"/>
              </a:ext>
            </a:extLst>
          </p:cNvPr>
          <p:cNvCxnSpPr>
            <a:cxnSpLocks/>
          </p:cNvCxnSpPr>
          <p:nvPr/>
        </p:nvCxnSpPr>
        <p:spPr>
          <a:xfrm>
            <a:off x="7634145" y="1974789"/>
            <a:ext cx="37979" cy="39186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8D889D8-891C-9474-5806-9D3A51B18ECA}"/>
              </a:ext>
            </a:extLst>
          </p:cNvPr>
          <p:cNvSpPr txBox="1"/>
          <p:nvPr/>
        </p:nvSpPr>
        <p:spPr>
          <a:xfrm>
            <a:off x="2716433" y="789206"/>
            <a:ext cx="1703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Uplink Channel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0724F28-F11A-B860-CEF1-1ACCC24A6895}"/>
              </a:ext>
            </a:extLst>
          </p:cNvPr>
          <p:cNvSpPr txBox="1"/>
          <p:nvPr/>
        </p:nvSpPr>
        <p:spPr>
          <a:xfrm>
            <a:off x="5638802" y="5524120"/>
            <a:ext cx="203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Downlink Channel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0873871-B8AE-5584-1CE7-120DD80A0959}"/>
              </a:ext>
            </a:extLst>
          </p:cNvPr>
          <p:cNvSpPr txBox="1"/>
          <p:nvPr/>
        </p:nvSpPr>
        <p:spPr>
          <a:xfrm>
            <a:off x="2141643" y="5104284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GS/Ground Station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097F42B-C2BE-AC21-C821-10988B14111A}"/>
              </a:ext>
            </a:extLst>
          </p:cNvPr>
          <p:cNvSpPr txBox="1"/>
          <p:nvPr/>
        </p:nvSpPr>
        <p:spPr>
          <a:xfrm>
            <a:off x="6888091" y="1131337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EA8A-14A3-3A53-3E3B-73F3B488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F955F0-7233-DA66-F526-FD7C3546D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50954" y="2952750"/>
            <a:ext cx="922211" cy="89535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B0AD6248-698F-2A0E-F682-03264FF68557}"/>
              </a:ext>
            </a:extLst>
          </p:cNvPr>
          <p:cNvSpPr txBox="1"/>
          <p:nvPr/>
        </p:nvSpPr>
        <p:spPr>
          <a:xfrm>
            <a:off x="5828911" y="2883937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23321C0C-3E8A-C0F3-DC26-5C9F2F02FB2D}"/>
              </a:ext>
            </a:extLst>
          </p:cNvPr>
          <p:cNvSpPr/>
          <p:nvPr/>
        </p:nvSpPr>
        <p:spPr>
          <a:xfrm>
            <a:off x="6027420" y="415291"/>
            <a:ext cx="4434840" cy="2218020"/>
          </a:xfrm>
          <a:prstGeom prst="wedgeRectCallout">
            <a:avLst>
              <a:gd name="adj1" fmla="val -39898"/>
              <a:gd name="adj2" fmla="val 8173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894EB9B-ECD6-84BF-77ED-B3722D56C120}"/>
              </a:ext>
            </a:extLst>
          </p:cNvPr>
          <p:cNvSpPr/>
          <p:nvPr/>
        </p:nvSpPr>
        <p:spPr>
          <a:xfrm>
            <a:off x="6186152" y="688809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5F6886F-CEA1-AEB7-2B5E-0DD90A39AE7A}"/>
              </a:ext>
            </a:extLst>
          </p:cNvPr>
          <p:cNvSpPr/>
          <p:nvPr/>
        </p:nvSpPr>
        <p:spPr>
          <a:xfrm>
            <a:off x="7920561" y="688809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Cost Modeling 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933C389-FB27-46A6-1D23-E2F06C6C3972}"/>
              </a:ext>
            </a:extLst>
          </p:cNvPr>
          <p:cNvSpPr/>
          <p:nvPr/>
        </p:nvSpPr>
        <p:spPr>
          <a:xfrm>
            <a:off x="7920560" y="1569220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DQN-RSF Algorithm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BB14CCC-29A6-509C-85A3-3FAC9F41EBD1}"/>
              </a:ext>
            </a:extLst>
          </p:cNvPr>
          <p:cNvSpPr/>
          <p:nvPr/>
        </p:nvSpPr>
        <p:spPr>
          <a:xfrm>
            <a:off x="6186151" y="1569220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Policy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8341220-AC1B-7251-5914-D9D62E948A22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7528131" y="968844"/>
            <a:ext cx="3924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FB4FDEE-67E5-1609-24D2-6C06B763B5D6}"/>
              </a:ext>
            </a:extLst>
          </p:cNvPr>
          <p:cNvCxnSpPr>
            <a:cxnSpLocks/>
            <a:stCxn id="17" idx="2"/>
            <a:endCxn id="18" idx="6"/>
          </p:cNvCxnSpPr>
          <p:nvPr/>
        </p:nvCxnSpPr>
        <p:spPr>
          <a:xfrm flipH="1">
            <a:off x="7528130" y="1849255"/>
            <a:ext cx="3924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80CFA14A-1719-035D-4C11-8854C94F616B}"/>
              </a:ext>
            </a:extLst>
          </p:cNvPr>
          <p:cNvSpPr/>
          <p:nvPr/>
        </p:nvSpPr>
        <p:spPr>
          <a:xfrm>
            <a:off x="9295590" y="1189324"/>
            <a:ext cx="1044705" cy="4402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FDDD847-0340-0BAA-FA60-91C16D753098}"/>
              </a:ext>
            </a:extLst>
          </p:cNvPr>
          <p:cNvCxnSpPr>
            <a:cxnSpLocks/>
            <a:stCxn id="13" idx="6"/>
            <a:endCxn id="31" idx="0"/>
          </p:cNvCxnSpPr>
          <p:nvPr/>
        </p:nvCxnSpPr>
        <p:spPr>
          <a:xfrm>
            <a:off x="9262540" y="968844"/>
            <a:ext cx="555403" cy="220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6D10849-CA0D-795E-6E4A-4036D03CCAAF}"/>
              </a:ext>
            </a:extLst>
          </p:cNvPr>
          <p:cNvCxnSpPr>
            <a:cxnSpLocks/>
            <a:stCxn id="31" idx="4"/>
            <a:endCxn id="17" idx="6"/>
          </p:cNvCxnSpPr>
          <p:nvPr/>
        </p:nvCxnSpPr>
        <p:spPr>
          <a:xfrm flipH="1">
            <a:off x="9262539" y="1629530"/>
            <a:ext cx="555404" cy="219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F8556165-4DE9-D964-E697-20ED55856537}"/>
              </a:ext>
            </a:extLst>
          </p:cNvPr>
          <p:cNvSpPr txBox="1"/>
          <p:nvPr/>
        </p:nvSpPr>
        <p:spPr>
          <a:xfrm>
            <a:off x="7483149" y="707234"/>
            <a:ext cx="48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119FA03-4307-9693-4EBF-FDAA57C36C9E}"/>
              </a:ext>
            </a:extLst>
          </p:cNvPr>
          <p:cNvSpPr txBox="1"/>
          <p:nvPr/>
        </p:nvSpPr>
        <p:spPr>
          <a:xfrm rot="1329489">
            <a:off x="9236371" y="828037"/>
            <a:ext cx="691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B5AA98E-C381-FC83-6317-00236BB39F5F}"/>
              </a:ext>
            </a:extLst>
          </p:cNvPr>
          <p:cNvSpPr txBox="1"/>
          <p:nvPr/>
        </p:nvSpPr>
        <p:spPr>
          <a:xfrm rot="20267559">
            <a:off x="9364984" y="1710990"/>
            <a:ext cx="48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A67C47D-0215-D27A-2983-248CADE45461}"/>
              </a:ext>
            </a:extLst>
          </p:cNvPr>
          <p:cNvSpPr txBox="1"/>
          <p:nvPr/>
        </p:nvSpPr>
        <p:spPr>
          <a:xfrm>
            <a:off x="7412908" y="1849254"/>
            <a:ext cx="691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E7B126A-613B-B214-C683-39044E1EAF3D}"/>
              </a:ext>
            </a:extLst>
          </p:cNvPr>
          <p:cNvSpPr txBox="1"/>
          <p:nvPr/>
        </p:nvSpPr>
        <p:spPr>
          <a:xfrm>
            <a:off x="5922245" y="136552"/>
            <a:ext cx="2981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 Decisioning and Execution Pipeline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06C11F6C-6598-1B0C-DF3A-6B6F9C4E1ECA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>
          <a:xfrm rot="10800000" flipV="1">
            <a:off x="5812059" y="1849254"/>
            <a:ext cx="374092" cy="11034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19748D87-ED97-1A51-B0FB-BDB2936EE3AF}"/>
              </a:ext>
            </a:extLst>
          </p:cNvPr>
          <p:cNvSpPr txBox="1"/>
          <p:nvPr/>
        </p:nvSpPr>
        <p:spPr>
          <a:xfrm rot="16200000">
            <a:off x="5316500" y="2133015"/>
            <a:ext cx="731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对话气泡: 矩形 51">
            <a:extLst>
              <a:ext uri="{FF2B5EF4-FFF2-40B4-BE49-F238E27FC236}">
                <a16:creationId xmlns:a16="http://schemas.microsoft.com/office/drawing/2014/main" id="{0735EAAC-19E6-06DC-F6E9-8EB675DC748A}"/>
              </a:ext>
            </a:extLst>
          </p:cNvPr>
          <p:cNvSpPr/>
          <p:nvPr/>
        </p:nvSpPr>
        <p:spPr>
          <a:xfrm>
            <a:off x="1729739" y="1047749"/>
            <a:ext cx="3454533" cy="1836187"/>
          </a:xfrm>
          <a:prstGeom prst="wedgeRectCallout">
            <a:avLst>
              <a:gd name="adj1" fmla="val 55033"/>
              <a:gd name="adj2" fmla="val 73576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CE02147-1A94-8BAA-52EE-BF49059836D2}"/>
              </a:ext>
            </a:extLst>
          </p:cNvPr>
          <p:cNvCxnSpPr>
            <a:cxnSpLocks/>
          </p:cNvCxnSpPr>
          <p:nvPr/>
        </p:nvCxnSpPr>
        <p:spPr>
          <a:xfrm flipH="1">
            <a:off x="2489344" y="1047749"/>
            <a:ext cx="540593" cy="18361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5970CCD-D772-5E60-4094-D5CDC5B0399C}"/>
              </a:ext>
            </a:extLst>
          </p:cNvPr>
          <p:cNvCxnSpPr>
            <a:cxnSpLocks/>
          </p:cNvCxnSpPr>
          <p:nvPr/>
        </p:nvCxnSpPr>
        <p:spPr>
          <a:xfrm flipH="1">
            <a:off x="3757798" y="1061965"/>
            <a:ext cx="540593" cy="18361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79BF5C01-B0B4-B6B2-FC55-4253506AA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6624" y="1285670"/>
            <a:ext cx="733355" cy="711995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BD9AF05E-706A-FA96-2F5C-AD312EB7A02F}"/>
              </a:ext>
            </a:extLst>
          </p:cNvPr>
          <p:cNvSpPr txBox="1"/>
          <p:nvPr/>
        </p:nvSpPr>
        <p:spPr>
          <a:xfrm>
            <a:off x="1761483" y="2185582"/>
            <a:ext cx="877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Onboard Computing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3AA02CBF-F1BF-5483-0916-85AAC7742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267" y="1277736"/>
            <a:ext cx="727862" cy="727862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E33B19F3-BF50-6C62-B56D-15A4EDA21C04}"/>
              </a:ext>
            </a:extLst>
          </p:cNvPr>
          <p:cNvSpPr txBox="1"/>
          <p:nvPr/>
        </p:nvSpPr>
        <p:spPr>
          <a:xfrm>
            <a:off x="4153034" y="2170167"/>
            <a:ext cx="877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</a:p>
          <a:p>
            <a:r>
              <a:rPr lang="en-US" altLang="zh-CN" sz="12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D74C6EB-439F-9797-7A04-9E58462E68BC}"/>
              </a:ext>
            </a:extLst>
          </p:cNvPr>
          <p:cNvSpPr txBox="1"/>
          <p:nvPr/>
        </p:nvSpPr>
        <p:spPr>
          <a:xfrm>
            <a:off x="2646742" y="2185582"/>
            <a:ext cx="1275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Onboard-Ground Computing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FB3410F5-B762-2660-CE3F-4435AFD5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35833" y="1155000"/>
            <a:ext cx="475515" cy="461665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149966D3-5D95-1A17-90F0-EF00DD15E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125" y="1709739"/>
            <a:ext cx="540638" cy="540638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8F57A505-47A5-F374-1ADF-C2574C340CFE}"/>
              </a:ext>
            </a:extLst>
          </p:cNvPr>
          <p:cNvSpPr txBox="1"/>
          <p:nvPr/>
        </p:nvSpPr>
        <p:spPr>
          <a:xfrm>
            <a:off x="1610814" y="784966"/>
            <a:ext cx="1397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Scheduling Policy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CB6F806A-CE6B-C629-C4B8-276526ED6CCB}"/>
              </a:ext>
            </a:extLst>
          </p:cNvPr>
          <p:cNvCxnSpPr>
            <a:cxnSpLocks/>
          </p:cNvCxnSpPr>
          <p:nvPr/>
        </p:nvCxnSpPr>
        <p:spPr>
          <a:xfrm flipV="1">
            <a:off x="3106005" y="1385833"/>
            <a:ext cx="562389" cy="323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421A38-74AF-BDA6-5FCA-FBA9E1EF98AB}"/>
              </a:ext>
            </a:extLst>
          </p:cNvPr>
          <p:cNvCxnSpPr>
            <a:cxnSpLocks/>
            <a:stCxn id="69" idx="2"/>
            <a:endCxn id="74" idx="3"/>
          </p:cNvCxnSpPr>
          <p:nvPr/>
        </p:nvCxnSpPr>
        <p:spPr>
          <a:xfrm flipH="1">
            <a:off x="3343763" y="1616665"/>
            <a:ext cx="529827" cy="363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BFF4D8E-ADDE-65FA-4FA8-BC19AF8E9ED6}"/>
              </a:ext>
            </a:extLst>
          </p:cNvPr>
          <p:cNvCxnSpPr>
            <a:cxnSpLocks/>
            <a:stCxn id="5" idx="3"/>
            <a:endCxn id="52" idx="2"/>
          </p:cNvCxnSpPr>
          <p:nvPr/>
        </p:nvCxnSpPr>
        <p:spPr>
          <a:xfrm rot="10800000">
            <a:off x="3457006" y="2883937"/>
            <a:ext cx="1893948" cy="5164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C48BC301-446D-4FB9-2E58-5429252950A3}"/>
              </a:ext>
            </a:extLst>
          </p:cNvPr>
          <p:cNvSpPr txBox="1"/>
          <p:nvPr/>
        </p:nvSpPr>
        <p:spPr>
          <a:xfrm>
            <a:off x="3954935" y="3400424"/>
            <a:ext cx="731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01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7CA7-519E-F52D-69D8-D70D6740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6CA484D-892C-2464-6E1D-B3631AEFB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10134" y="1200150"/>
            <a:ext cx="922211" cy="8953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6F06FE-F2C0-921F-3EAE-F0744BD0E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40" y="4352733"/>
            <a:ext cx="922211" cy="922211"/>
          </a:xfrm>
          <a:prstGeom prst="rect">
            <a:avLst/>
          </a:prstGeom>
        </p:spPr>
      </p:pic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298FB39D-BEC7-3BD4-2B9A-25C8E0A88EFD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rot="5400000" flipH="1" flipV="1">
            <a:off x="3671936" y="1614535"/>
            <a:ext cx="2704908" cy="277148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B9BA1879-5796-EBC2-9E3B-547628905362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rot="5400000">
            <a:off x="4126326" y="2068925"/>
            <a:ext cx="2718339" cy="27714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50F5920-C57F-3590-BF60-1887D101C43D}"/>
              </a:ext>
            </a:extLst>
          </p:cNvPr>
          <p:cNvSpPr txBox="1"/>
          <p:nvPr/>
        </p:nvSpPr>
        <p:spPr>
          <a:xfrm rot="18894898">
            <a:off x="3214040" y="2318658"/>
            <a:ext cx="219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卫星姿态控制和状态监控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BEC1A5-30E5-1907-DB0B-2BB20C2A6307}"/>
              </a:ext>
            </a:extLst>
          </p:cNvPr>
          <p:cNvSpPr txBox="1"/>
          <p:nvPr/>
        </p:nvSpPr>
        <p:spPr>
          <a:xfrm rot="18894898">
            <a:off x="5196290" y="3984577"/>
            <a:ext cx="1810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未经处理的成像数据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FB29E35-1A57-F3EB-2AE8-3091D965D1EF}"/>
              </a:ext>
            </a:extLst>
          </p:cNvPr>
          <p:cNvCxnSpPr>
            <a:cxnSpLocks/>
          </p:cNvCxnSpPr>
          <p:nvPr/>
        </p:nvCxnSpPr>
        <p:spPr>
          <a:xfrm>
            <a:off x="2716434" y="4446173"/>
            <a:ext cx="1125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9EF2844-4A4C-7D00-0E9F-B83E280828CC}"/>
              </a:ext>
            </a:extLst>
          </p:cNvPr>
          <p:cNvCxnSpPr>
            <a:cxnSpLocks/>
          </p:cNvCxnSpPr>
          <p:nvPr/>
        </p:nvCxnSpPr>
        <p:spPr>
          <a:xfrm flipV="1">
            <a:off x="3841662" y="1647825"/>
            <a:ext cx="2626648" cy="2798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997EEBE-DF42-7BDE-A117-F1C151E43A39}"/>
              </a:ext>
            </a:extLst>
          </p:cNvPr>
          <p:cNvCxnSpPr>
            <a:cxnSpLocks/>
          </p:cNvCxnSpPr>
          <p:nvPr/>
        </p:nvCxnSpPr>
        <p:spPr>
          <a:xfrm flipV="1">
            <a:off x="6468310" y="734308"/>
            <a:ext cx="0" cy="9135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52B747-6E45-3AA9-7884-47EC5C0E1C01}"/>
              </a:ext>
            </a:extLst>
          </p:cNvPr>
          <p:cNvCxnSpPr>
            <a:cxnSpLocks/>
          </p:cNvCxnSpPr>
          <p:nvPr/>
        </p:nvCxnSpPr>
        <p:spPr>
          <a:xfrm flipV="1">
            <a:off x="2716434" y="772287"/>
            <a:ext cx="0" cy="36738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FAB7633-9CAF-C62A-C1A3-BC904B4A3672}"/>
              </a:ext>
            </a:extLst>
          </p:cNvPr>
          <p:cNvCxnSpPr>
            <a:cxnSpLocks/>
          </p:cNvCxnSpPr>
          <p:nvPr/>
        </p:nvCxnSpPr>
        <p:spPr>
          <a:xfrm flipV="1">
            <a:off x="2716433" y="734308"/>
            <a:ext cx="3751877" cy="379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2FC802E8-AEDA-E230-93D5-874440F41909}"/>
              </a:ext>
            </a:extLst>
          </p:cNvPr>
          <p:cNvCxnSpPr>
            <a:cxnSpLocks/>
          </p:cNvCxnSpPr>
          <p:nvPr/>
        </p:nvCxnSpPr>
        <p:spPr>
          <a:xfrm rot="5400000">
            <a:off x="3514020" y="5335556"/>
            <a:ext cx="1125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FE600BE-82CB-1E89-2864-1D3607FF98DC}"/>
              </a:ext>
            </a:extLst>
          </p:cNvPr>
          <p:cNvCxnSpPr>
            <a:cxnSpLocks/>
          </p:cNvCxnSpPr>
          <p:nvPr/>
        </p:nvCxnSpPr>
        <p:spPr>
          <a:xfrm flipV="1">
            <a:off x="4085285" y="1974595"/>
            <a:ext cx="2626648" cy="2798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D34BF72-CC33-79C0-6AE8-EBC00CC1CC09}"/>
              </a:ext>
            </a:extLst>
          </p:cNvPr>
          <p:cNvCxnSpPr>
            <a:cxnSpLocks/>
          </p:cNvCxnSpPr>
          <p:nvPr/>
        </p:nvCxnSpPr>
        <p:spPr>
          <a:xfrm rot="5400000" flipV="1">
            <a:off x="7168691" y="1517837"/>
            <a:ext cx="0" cy="9135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9C83F6EF-B48B-2A65-A24E-F7DF4D244F01}"/>
              </a:ext>
            </a:extLst>
          </p:cNvPr>
          <p:cNvCxnSpPr>
            <a:cxnSpLocks/>
          </p:cNvCxnSpPr>
          <p:nvPr/>
        </p:nvCxnSpPr>
        <p:spPr>
          <a:xfrm flipV="1">
            <a:off x="4099751" y="5884800"/>
            <a:ext cx="3572373" cy="173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D33BF64-A149-86E0-B67E-032CC63FB1E2}"/>
              </a:ext>
            </a:extLst>
          </p:cNvPr>
          <p:cNvCxnSpPr>
            <a:cxnSpLocks/>
          </p:cNvCxnSpPr>
          <p:nvPr/>
        </p:nvCxnSpPr>
        <p:spPr>
          <a:xfrm>
            <a:off x="7634145" y="1974789"/>
            <a:ext cx="37979" cy="39186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1EC6C9A-A465-B5B6-4740-D3C1E648CEA2}"/>
              </a:ext>
            </a:extLst>
          </p:cNvPr>
          <p:cNvSpPr txBox="1"/>
          <p:nvPr/>
        </p:nvSpPr>
        <p:spPr>
          <a:xfrm>
            <a:off x="2716433" y="789206"/>
            <a:ext cx="1703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上行信道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1872755-5BA3-F88C-D40A-C126B70E2975}"/>
              </a:ext>
            </a:extLst>
          </p:cNvPr>
          <p:cNvSpPr txBox="1"/>
          <p:nvPr/>
        </p:nvSpPr>
        <p:spPr>
          <a:xfrm>
            <a:off x="6596499" y="5490587"/>
            <a:ext cx="1144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下行信道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AD63DBD-B535-9DC2-A38A-81592E1D5D29}"/>
              </a:ext>
            </a:extLst>
          </p:cNvPr>
          <p:cNvSpPr txBox="1"/>
          <p:nvPr/>
        </p:nvSpPr>
        <p:spPr>
          <a:xfrm>
            <a:off x="2733187" y="5117063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地面站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F453D7-DC59-8CF8-20ED-6779FAD7BE8A}"/>
              </a:ext>
            </a:extLst>
          </p:cNvPr>
          <p:cNvSpPr txBox="1"/>
          <p:nvPr/>
        </p:nvSpPr>
        <p:spPr>
          <a:xfrm>
            <a:off x="6888091" y="1131337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卫星</a:t>
            </a:r>
          </a:p>
        </p:txBody>
      </p:sp>
    </p:spTree>
    <p:extLst>
      <p:ext uri="{BB962C8B-B14F-4D97-AF65-F5344CB8AC3E}">
        <p14:creationId xmlns:p14="http://schemas.microsoft.com/office/powerpoint/2010/main" val="82552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7AD4-3441-64D2-9D89-AC07B9B0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169BF9-E2AE-D6FD-B4CB-AD4CFE8A0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50954" y="2952750"/>
            <a:ext cx="922211" cy="89535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2AE08460-F27C-259F-B6B1-AFF942C1BFBE}"/>
              </a:ext>
            </a:extLst>
          </p:cNvPr>
          <p:cNvSpPr txBox="1"/>
          <p:nvPr/>
        </p:nvSpPr>
        <p:spPr>
          <a:xfrm>
            <a:off x="5828911" y="2883937"/>
            <a:ext cx="1810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卫星</a:t>
            </a: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A0A0AAF7-F9D5-6E9E-C128-050EDA57997F}"/>
              </a:ext>
            </a:extLst>
          </p:cNvPr>
          <p:cNvSpPr/>
          <p:nvPr/>
        </p:nvSpPr>
        <p:spPr>
          <a:xfrm>
            <a:off x="6027420" y="415291"/>
            <a:ext cx="4434840" cy="2218020"/>
          </a:xfrm>
          <a:prstGeom prst="wedgeRectCallout">
            <a:avLst>
              <a:gd name="adj1" fmla="val -39898"/>
              <a:gd name="adj2" fmla="val 8173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3576977-8EE4-C106-1960-5F34823A65C9}"/>
              </a:ext>
            </a:extLst>
          </p:cNvPr>
          <p:cNvSpPr/>
          <p:nvPr/>
        </p:nvSpPr>
        <p:spPr>
          <a:xfrm>
            <a:off x="6186152" y="688809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计算任务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D5A7AB1-7146-1892-35A0-E24F82059DAF}"/>
              </a:ext>
            </a:extLst>
          </p:cNvPr>
          <p:cNvSpPr/>
          <p:nvPr/>
        </p:nvSpPr>
        <p:spPr>
          <a:xfrm>
            <a:off x="7920561" y="688809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量化成本数学模型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B4F416F-246E-5F0B-7CEB-218D5C6BF981}"/>
              </a:ext>
            </a:extLst>
          </p:cNvPr>
          <p:cNvSpPr/>
          <p:nvPr/>
        </p:nvSpPr>
        <p:spPr>
          <a:xfrm>
            <a:off x="7920560" y="1569220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DQN-RSF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0878F65-2F0F-2F8E-735E-FE774162F771}"/>
              </a:ext>
            </a:extLst>
          </p:cNvPr>
          <p:cNvSpPr/>
          <p:nvPr/>
        </p:nvSpPr>
        <p:spPr>
          <a:xfrm>
            <a:off x="6186151" y="1569220"/>
            <a:ext cx="1341979" cy="5600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调度策略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1330095-A85C-1B92-DECF-A26C416B8B90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7528131" y="968844"/>
            <a:ext cx="3924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0250A7D-4E34-E9F9-C5C5-143FD41FE91A}"/>
              </a:ext>
            </a:extLst>
          </p:cNvPr>
          <p:cNvCxnSpPr>
            <a:cxnSpLocks/>
            <a:stCxn id="17" idx="2"/>
            <a:endCxn id="18" idx="6"/>
          </p:cNvCxnSpPr>
          <p:nvPr/>
        </p:nvCxnSpPr>
        <p:spPr>
          <a:xfrm flipH="1">
            <a:off x="7528130" y="1849255"/>
            <a:ext cx="3924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B93ECDD5-0B5E-E312-C470-41DD294B8A97}"/>
              </a:ext>
            </a:extLst>
          </p:cNvPr>
          <p:cNvSpPr/>
          <p:nvPr/>
        </p:nvSpPr>
        <p:spPr>
          <a:xfrm>
            <a:off x="9295590" y="1189324"/>
            <a:ext cx="1044705" cy="4402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成本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B871287-2495-C153-027F-270A9E705CD6}"/>
              </a:ext>
            </a:extLst>
          </p:cNvPr>
          <p:cNvCxnSpPr>
            <a:cxnSpLocks/>
            <a:stCxn id="13" idx="6"/>
            <a:endCxn id="31" idx="0"/>
          </p:cNvCxnSpPr>
          <p:nvPr/>
        </p:nvCxnSpPr>
        <p:spPr>
          <a:xfrm>
            <a:off x="9262540" y="968844"/>
            <a:ext cx="555403" cy="220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D677229-B0BF-6644-C369-133B66B916CF}"/>
              </a:ext>
            </a:extLst>
          </p:cNvPr>
          <p:cNvCxnSpPr>
            <a:cxnSpLocks/>
            <a:stCxn id="31" idx="4"/>
            <a:endCxn id="17" idx="6"/>
          </p:cNvCxnSpPr>
          <p:nvPr/>
        </p:nvCxnSpPr>
        <p:spPr>
          <a:xfrm flipH="1">
            <a:off x="9262539" y="1629530"/>
            <a:ext cx="555404" cy="219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03B2122-E889-D8F6-497D-9032D25A0606}"/>
              </a:ext>
            </a:extLst>
          </p:cNvPr>
          <p:cNvSpPr txBox="1"/>
          <p:nvPr/>
        </p:nvSpPr>
        <p:spPr>
          <a:xfrm>
            <a:off x="7483149" y="707234"/>
            <a:ext cx="48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0D7365-7338-F87B-32AB-66A740E7ED85}"/>
              </a:ext>
            </a:extLst>
          </p:cNvPr>
          <p:cNvSpPr txBox="1"/>
          <p:nvPr/>
        </p:nvSpPr>
        <p:spPr>
          <a:xfrm rot="1329489">
            <a:off x="9342114" y="852266"/>
            <a:ext cx="691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71D863E-B4EB-A67B-F600-2852A9FE5948}"/>
              </a:ext>
            </a:extLst>
          </p:cNvPr>
          <p:cNvSpPr txBox="1"/>
          <p:nvPr/>
        </p:nvSpPr>
        <p:spPr>
          <a:xfrm rot="20267559">
            <a:off x="9364984" y="1710990"/>
            <a:ext cx="48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7F887A-511B-6EF1-45F1-9E5A368E3835}"/>
              </a:ext>
            </a:extLst>
          </p:cNvPr>
          <p:cNvSpPr txBox="1"/>
          <p:nvPr/>
        </p:nvSpPr>
        <p:spPr>
          <a:xfrm>
            <a:off x="7412908" y="1849254"/>
            <a:ext cx="691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A0C37FF-2109-E2B3-8EA8-A0424A43EE5A}"/>
              </a:ext>
            </a:extLst>
          </p:cNvPr>
          <p:cNvSpPr txBox="1"/>
          <p:nvPr/>
        </p:nvSpPr>
        <p:spPr>
          <a:xfrm>
            <a:off x="6106405" y="138292"/>
            <a:ext cx="19983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星上决策与执行流水线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53909844-B508-B15F-585F-A40F56B0FDEF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>
          <a:xfrm rot="10800000" flipV="1">
            <a:off x="5812059" y="1849254"/>
            <a:ext cx="374092" cy="11034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7176D86-BCED-630E-D718-885DD9B51453}"/>
              </a:ext>
            </a:extLst>
          </p:cNvPr>
          <p:cNvSpPr txBox="1"/>
          <p:nvPr/>
        </p:nvSpPr>
        <p:spPr>
          <a:xfrm rot="16200000">
            <a:off x="5234484" y="2051000"/>
            <a:ext cx="895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算法输出</a:t>
            </a:r>
          </a:p>
        </p:txBody>
      </p:sp>
      <p:sp>
        <p:nvSpPr>
          <p:cNvPr id="52" name="对话气泡: 矩形 51">
            <a:extLst>
              <a:ext uri="{FF2B5EF4-FFF2-40B4-BE49-F238E27FC236}">
                <a16:creationId xmlns:a16="http://schemas.microsoft.com/office/drawing/2014/main" id="{0CEE11E2-178A-D01C-63DE-A250102D751E}"/>
              </a:ext>
            </a:extLst>
          </p:cNvPr>
          <p:cNvSpPr/>
          <p:nvPr/>
        </p:nvSpPr>
        <p:spPr>
          <a:xfrm>
            <a:off x="1729739" y="1047749"/>
            <a:ext cx="3454533" cy="1836187"/>
          </a:xfrm>
          <a:prstGeom prst="wedgeRectCallout">
            <a:avLst>
              <a:gd name="adj1" fmla="val 55033"/>
              <a:gd name="adj2" fmla="val 73576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CAFBD66-A7B6-8520-AA3E-1AAF370958EA}"/>
              </a:ext>
            </a:extLst>
          </p:cNvPr>
          <p:cNvCxnSpPr>
            <a:cxnSpLocks/>
          </p:cNvCxnSpPr>
          <p:nvPr/>
        </p:nvCxnSpPr>
        <p:spPr>
          <a:xfrm flipH="1">
            <a:off x="2489344" y="1047749"/>
            <a:ext cx="540593" cy="18361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8082254-8CB3-FDFD-51F5-80A604292ED2}"/>
              </a:ext>
            </a:extLst>
          </p:cNvPr>
          <p:cNvCxnSpPr>
            <a:cxnSpLocks/>
          </p:cNvCxnSpPr>
          <p:nvPr/>
        </p:nvCxnSpPr>
        <p:spPr>
          <a:xfrm flipH="1">
            <a:off x="3757798" y="1061965"/>
            <a:ext cx="540593" cy="18361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CBF962FB-A530-79EC-D257-2FBFE696B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6624" y="1285670"/>
            <a:ext cx="733355" cy="711995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CCBB6AC4-8598-1428-423E-CD7A946B1832}"/>
              </a:ext>
            </a:extLst>
          </p:cNvPr>
          <p:cNvSpPr txBox="1"/>
          <p:nvPr/>
        </p:nvSpPr>
        <p:spPr>
          <a:xfrm>
            <a:off x="1784280" y="2185582"/>
            <a:ext cx="8778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星上计算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5667F9B-C058-6969-3F1C-72CD2332E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267" y="1277736"/>
            <a:ext cx="727862" cy="727862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79E62A4B-5076-E4B7-B321-DD54A07C9DF3}"/>
              </a:ext>
            </a:extLst>
          </p:cNvPr>
          <p:cNvSpPr txBox="1"/>
          <p:nvPr/>
        </p:nvSpPr>
        <p:spPr>
          <a:xfrm>
            <a:off x="4236263" y="2186217"/>
            <a:ext cx="8778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地面计算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A3C2405-7C22-DFB5-EAB5-FFE2BAD687F0}"/>
              </a:ext>
            </a:extLst>
          </p:cNvPr>
          <p:cNvSpPr txBox="1"/>
          <p:nvPr/>
        </p:nvSpPr>
        <p:spPr>
          <a:xfrm>
            <a:off x="2755436" y="2185582"/>
            <a:ext cx="1275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星地协同计算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CD839B33-BDCD-8798-31AC-3F2F26731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35833" y="1155000"/>
            <a:ext cx="475515" cy="461665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9247998F-9DDE-C605-F446-24B203A6E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125" y="1709739"/>
            <a:ext cx="540638" cy="540638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260B5B3B-A17E-3FD3-5762-2D387B00D060}"/>
              </a:ext>
            </a:extLst>
          </p:cNvPr>
          <p:cNvSpPr txBox="1"/>
          <p:nvPr/>
        </p:nvSpPr>
        <p:spPr>
          <a:xfrm>
            <a:off x="1610814" y="784966"/>
            <a:ext cx="1397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调度策略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59C37AC-5BAC-7BCC-2A6D-6714DEAD0053}"/>
              </a:ext>
            </a:extLst>
          </p:cNvPr>
          <p:cNvCxnSpPr>
            <a:cxnSpLocks/>
          </p:cNvCxnSpPr>
          <p:nvPr/>
        </p:nvCxnSpPr>
        <p:spPr>
          <a:xfrm flipV="1">
            <a:off x="3106005" y="1385833"/>
            <a:ext cx="562389" cy="323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BE115F9-5BC8-24D6-0236-C63BC5AF94EF}"/>
              </a:ext>
            </a:extLst>
          </p:cNvPr>
          <p:cNvCxnSpPr>
            <a:cxnSpLocks/>
            <a:stCxn id="69" idx="2"/>
            <a:endCxn id="74" idx="3"/>
          </p:cNvCxnSpPr>
          <p:nvPr/>
        </p:nvCxnSpPr>
        <p:spPr>
          <a:xfrm flipH="1">
            <a:off x="3343763" y="1616665"/>
            <a:ext cx="529827" cy="363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19CCF2E-7065-ACE2-8312-1853B6B722A8}"/>
              </a:ext>
            </a:extLst>
          </p:cNvPr>
          <p:cNvCxnSpPr>
            <a:cxnSpLocks/>
            <a:stCxn id="5" idx="3"/>
            <a:endCxn id="52" idx="2"/>
          </p:cNvCxnSpPr>
          <p:nvPr/>
        </p:nvCxnSpPr>
        <p:spPr>
          <a:xfrm rot="10800000">
            <a:off x="3457006" y="2883937"/>
            <a:ext cx="1893948" cy="5164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E722B847-CAC5-1CB3-E402-1FAC28E92F70}"/>
              </a:ext>
            </a:extLst>
          </p:cNvPr>
          <p:cNvSpPr txBox="1"/>
          <p:nvPr/>
        </p:nvSpPr>
        <p:spPr>
          <a:xfrm>
            <a:off x="3954935" y="3400424"/>
            <a:ext cx="918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动作决策</a:t>
            </a:r>
          </a:p>
        </p:txBody>
      </p:sp>
    </p:spTree>
    <p:extLst>
      <p:ext uri="{BB962C8B-B14F-4D97-AF65-F5344CB8AC3E}">
        <p14:creationId xmlns:p14="http://schemas.microsoft.com/office/powerpoint/2010/main" val="253708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104</Words>
  <Application>Microsoft Office PowerPoint</Application>
  <PresentationFormat>宽屏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BC Yang</dc:creator>
  <cp:lastModifiedBy>BC Yang</cp:lastModifiedBy>
  <cp:revision>4</cp:revision>
  <dcterms:created xsi:type="dcterms:W3CDTF">2025-10-15T07:18:25Z</dcterms:created>
  <dcterms:modified xsi:type="dcterms:W3CDTF">2025-11-17T07:08:57Z</dcterms:modified>
</cp:coreProperties>
</file>